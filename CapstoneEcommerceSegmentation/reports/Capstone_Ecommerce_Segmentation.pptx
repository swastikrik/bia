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9.xml" ContentType="application/vnd.openxmlformats-officedocument.presentationml.notesSlide+xml"/>
  <Override PartName="/ppt/charts/chart7.xml" ContentType="application/vnd.openxmlformats-officedocument.drawingml.chart+xml"/>
  <Override PartName="/ppt/notesSlides/notesSlide10.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0.xml" ContentType="application/vnd.openxmlformats-officedocument.drawingml.chart+xml"/>
  <Override PartName="/ppt/notesSlides/notesSlide20.xml" ContentType="application/vnd.openxmlformats-officedocument.presentationml.notesSlide+xml"/>
  <Override PartName="/ppt/charts/chart1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2.xml" ContentType="application/vnd.openxmlformats-officedocument.drawingml.chart+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9"/>
  </p:notesMasterIdLst>
  <p:sldIdLst>
    <p:sldId id="256" r:id="rId2"/>
    <p:sldId id="714" r:id="rId3"/>
    <p:sldId id="715" r:id="rId4"/>
    <p:sldId id="716" r:id="rId5"/>
    <p:sldId id="717" r:id="rId6"/>
    <p:sldId id="718" r:id="rId7"/>
    <p:sldId id="719" r:id="rId8"/>
    <p:sldId id="720" r:id="rId9"/>
    <p:sldId id="721" r:id="rId10"/>
    <p:sldId id="722" r:id="rId11"/>
    <p:sldId id="723" r:id="rId12"/>
    <p:sldId id="724" r:id="rId13"/>
    <p:sldId id="725" r:id="rId14"/>
    <p:sldId id="726" r:id="rId15"/>
    <p:sldId id="711" r:id="rId16"/>
    <p:sldId id="303" r:id="rId17"/>
    <p:sldId id="727" r:id="rId18"/>
    <p:sldId id="728" r:id="rId19"/>
    <p:sldId id="729" r:id="rId20"/>
    <p:sldId id="730" r:id="rId21"/>
    <p:sldId id="731" r:id="rId22"/>
    <p:sldId id="732" r:id="rId23"/>
    <p:sldId id="733" r:id="rId24"/>
    <p:sldId id="734" r:id="rId25"/>
    <p:sldId id="735" r:id="rId26"/>
    <p:sldId id="736" r:id="rId27"/>
    <p:sldId id="73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69" d="100"/>
          <a:sy n="69" d="100"/>
        </p:scale>
        <p:origin x="472" y="5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a:solidFill>
                  <a:srgbClr val="222433"/>
                </a:solidFill>
                <a:latin typeface="Calibri"/>
              </a:rPr>
              <a:t>Rows remaining after each cleaning step</a:t>
            </a:r>
          </a:p>
        </c:rich>
      </c:tx>
      <c:overlay val="0"/>
    </c:title>
    <c:autoTitleDeleted val="0"/>
    <c:plotArea>
      <c:layout/>
      <c:barChart>
        <c:barDir val="bar"/>
        <c:grouping val="clustered"/>
        <c:varyColors val="1"/>
        <c:ser>
          <c:idx val="0"/>
          <c:order val="0"/>
          <c:tx>
            <c:strRef>
              <c:f>Sheet1!$B$1</c:f>
              <c:strCache>
                <c:ptCount val="1"/>
                <c:pt idx="0">
                  <c:v>Rows remaining</c:v>
                </c:pt>
              </c:strCache>
            </c:strRef>
          </c:tx>
          <c:invertIfNegative val="1"/>
          <c:dPt>
            <c:idx val="0"/>
            <c:invertIfNegative val="1"/>
            <c:bubble3D val="0"/>
            <c:spPr>
              <a:solidFill>
                <a:srgbClr val="A9B1C6"/>
              </a:solidFill>
            </c:spPr>
            <c:extLst>
              <c:ext xmlns:c16="http://schemas.microsoft.com/office/drawing/2014/chart" uri="{C3380CC4-5D6E-409C-BE32-E72D297353CC}">
                <c16:uniqueId val="{00000001-D6CD-401D-A481-B3FC95323A76}"/>
              </c:ext>
            </c:extLst>
          </c:dPt>
          <c:dPt>
            <c:idx val="1"/>
            <c:invertIfNegative val="1"/>
            <c:bubble3D val="0"/>
            <c:spPr>
              <a:solidFill>
                <a:srgbClr val="7FB8EA"/>
              </a:solidFill>
            </c:spPr>
            <c:extLst>
              <c:ext xmlns:c16="http://schemas.microsoft.com/office/drawing/2014/chart" uri="{C3380CC4-5D6E-409C-BE32-E72D297353CC}">
                <c16:uniqueId val="{00000003-D6CD-401D-A481-B3FC95323A76}"/>
              </c:ext>
            </c:extLst>
          </c:dPt>
          <c:dPt>
            <c:idx val="2"/>
            <c:invertIfNegative val="1"/>
            <c:bubble3D val="0"/>
            <c:spPr>
              <a:solidFill>
                <a:srgbClr val="7FB8EA"/>
              </a:solidFill>
            </c:spPr>
            <c:extLst>
              <c:ext xmlns:c16="http://schemas.microsoft.com/office/drawing/2014/chart" uri="{C3380CC4-5D6E-409C-BE32-E72D297353CC}">
                <c16:uniqueId val="{00000005-D6CD-401D-A481-B3FC95323A76}"/>
              </c:ext>
            </c:extLst>
          </c:dPt>
          <c:dPt>
            <c:idx val="3"/>
            <c:invertIfNegative val="1"/>
            <c:bubble3D val="0"/>
            <c:spPr>
              <a:solidFill>
                <a:srgbClr val="7FB8EA"/>
              </a:solidFill>
            </c:spPr>
            <c:extLst>
              <c:ext xmlns:c16="http://schemas.microsoft.com/office/drawing/2014/chart" uri="{C3380CC4-5D6E-409C-BE32-E72D297353CC}">
                <c16:uniqueId val="{00000007-D6CD-401D-A481-B3FC95323A76}"/>
              </c:ext>
            </c:extLst>
          </c:dPt>
          <c:dPt>
            <c:idx val="4"/>
            <c:invertIfNegative val="1"/>
            <c:bubble3D val="0"/>
            <c:spPr>
              <a:solidFill>
                <a:srgbClr val="7FB8EA"/>
              </a:solidFill>
            </c:spPr>
            <c:extLst>
              <c:ext xmlns:c16="http://schemas.microsoft.com/office/drawing/2014/chart" uri="{C3380CC4-5D6E-409C-BE32-E72D297353CC}">
                <c16:uniqueId val="{00000009-D6CD-401D-A481-B3FC95323A76}"/>
              </c:ext>
            </c:extLst>
          </c:dPt>
          <c:dPt>
            <c:idx val="5"/>
            <c:invertIfNegative val="1"/>
            <c:bubble3D val="0"/>
            <c:spPr>
              <a:solidFill>
                <a:srgbClr val="1D1B58"/>
              </a:solidFill>
            </c:spPr>
            <c:extLst>
              <c:ext xmlns:c16="http://schemas.microsoft.com/office/drawing/2014/chart" uri="{C3380CC4-5D6E-409C-BE32-E72D297353CC}">
                <c16:uniqueId val="{0000000B-D6CD-401D-A481-B3FC95323A76}"/>
              </c:ext>
            </c:extLst>
          </c:dPt>
          <c:dLbls>
            <c:dLbl>
              <c:idx val="0"/>
              <c:tx>
                <c:rich>
                  <a:bodyPr/>
                  <a:lstStyle/>
                  <a:p>
                    <a:r>
                      <a:rPr lang="en-US" sz="1100">
                        <a:solidFill>
                          <a:srgbClr val="222433"/>
                        </a:solidFill>
                      </a:rPr>
                      <a:t>541,909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6CD-401D-A481-B3FC95323A76}"/>
                </c:ext>
              </c:extLst>
            </c:dLbl>
            <c:dLbl>
              <c:idx val="1"/>
              <c:tx>
                <c:rich>
                  <a:bodyPr/>
                  <a:lstStyle/>
                  <a:p>
                    <a:r>
                      <a:rPr lang="en-US" sz="1100">
                        <a:solidFill>
                          <a:srgbClr val="222433"/>
                        </a:solidFill>
                      </a:rPr>
                      <a:t>406,829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6CD-401D-A481-B3FC95323A76}"/>
                </c:ext>
              </c:extLst>
            </c:dLbl>
            <c:dLbl>
              <c:idx val="2"/>
              <c:tx>
                <c:rich>
                  <a:bodyPr/>
                  <a:lstStyle/>
                  <a:p>
                    <a:r>
                      <a:rPr lang="en-US" sz="1100">
                        <a:solidFill>
                          <a:srgbClr val="222433"/>
                        </a:solidFill>
                      </a:rPr>
                      <a:t>397,924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D6CD-401D-A481-B3FC95323A76}"/>
                </c:ext>
              </c:extLst>
            </c:dLbl>
            <c:dLbl>
              <c:idx val="3"/>
              <c:tx>
                <c:rich>
                  <a:bodyPr/>
                  <a:lstStyle/>
                  <a:p>
                    <a:r>
                      <a:rPr lang="en-US" sz="1100">
                        <a:solidFill>
                          <a:srgbClr val="222433"/>
                        </a:solidFill>
                      </a:rPr>
                      <a:t>397,880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D6CD-401D-A481-B3FC95323A76}"/>
                </c:ext>
              </c:extLst>
            </c:dLbl>
            <c:dLbl>
              <c:idx val="4"/>
              <c:tx>
                <c:rich>
                  <a:bodyPr/>
                  <a:lstStyle/>
                  <a:p>
                    <a:r>
                      <a:rPr lang="en-US" sz="1100">
                        <a:solidFill>
                          <a:srgbClr val="222433"/>
                        </a:solidFill>
                      </a:rPr>
                      <a:t>363,087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D6CD-401D-A481-B3FC95323A76}"/>
                </c:ext>
              </c:extLst>
            </c:dLbl>
            <c:dLbl>
              <c:idx val="5"/>
              <c:tx>
                <c:rich>
                  <a:bodyPr/>
                  <a:lstStyle/>
                  <a:p>
                    <a:r>
                      <a:rPr lang="en-US" sz="1100">
                        <a:solidFill>
                          <a:srgbClr val="222433"/>
                        </a:solidFill>
                      </a:rPr>
                      <a:t>358,277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D6CD-401D-A481-B3FC95323A7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Sheet1!$A$2:$A$7</c:f>
              <c:strCache>
                <c:ptCount val="6"/>
                <c:pt idx="0">
                  <c:v>Raw rows</c:v>
                </c:pt>
                <c:pt idx="1">
                  <c:v>Missing CustomerID</c:v>
                </c:pt>
                <c:pt idx="2">
                  <c:v>Cancellation invoices</c:v>
                </c:pt>
                <c:pt idx="3">
                  <c:v>Invalid unit price</c:v>
                </c:pt>
                <c:pt idx="4">
                  <c:v>Non-numeric stock codes</c:v>
                </c:pt>
                <c:pt idx="5">
                  <c:v>Exact duplicates</c:v>
                </c:pt>
              </c:strCache>
            </c:strRef>
          </c:cat>
          <c:val>
            <c:numRef>
              <c:f>Sheet1!$B$2:$B$7</c:f>
              <c:numCache>
                <c:formatCode>General</c:formatCode>
                <c:ptCount val="6"/>
                <c:pt idx="0">
                  <c:v>541909</c:v>
                </c:pt>
                <c:pt idx="1">
                  <c:v>406829</c:v>
                </c:pt>
                <c:pt idx="2">
                  <c:v>397924</c:v>
                </c:pt>
                <c:pt idx="3">
                  <c:v>397880</c:v>
                </c:pt>
                <c:pt idx="4">
                  <c:v>363087</c:v>
                </c:pt>
                <c:pt idx="5">
                  <c:v>358277</c:v>
                </c:pt>
              </c:numCache>
            </c:numRef>
          </c:val>
          <c:extLst>
            <c:ext xmlns:c16="http://schemas.microsoft.com/office/drawing/2014/chart" uri="{C3380CC4-5D6E-409C-BE32-E72D297353CC}">
              <c16:uniqueId val="{0000000C-D6CD-401D-A481-B3FC95323A76}"/>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5B6075"/>
            </a:solidFill>
          </a:ln>
        </c:spPr>
        <c:txPr>
          <a:bodyPr/>
          <a:lstStyle/>
          <a:p>
            <a:pPr>
              <a:defRPr sz="1100">
                <a:solidFill>
                  <a:srgbClr val="5B6075"/>
                </a:solidFill>
              </a:defRPr>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5B607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300" b="1">
                <a:solidFill>
                  <a:srgbClr val="222433"/>
                </a:solidFill>
                <a:latin typeface="Calibri"/>
              </a:rPr>
              <a:t>Monthly revenue (£)</a:t>
            </a:r>
          </a:p>
        </c:rich>
      </c:tx>
      <c:overlay val="0"/>
    </c:title>
    <c:autoTitleDeleted val="0"/>
    <c:plotArea>
      <c:layout/>
      <c:lineChart>
        <c:grouping val="standard"/>
        <c:varyColors val="0"/>
        <c:ser>
          <c:idx val="0"/>
          <c:order val="0"/>
          <c:tx>
            <c:strRef>
              <c:f>Sheet1!$B$1</c:f>
              <c:strCache>
                <c:ptCount val="1"/>
                <c:pt idx="0">
                  <c:v>Revenue</c:v>
                </c:pt>
              </c:strCache>
            </c:strRef>
          </c:tx>
          <c:spPr>
            <a:ln w="31750">
              <a:solidFill>
                <a:srgbClr val="1D1B58"/>
              </a:solidFill>
            </a:ln>
          </c:spPr>
          <c:marker>
            <c:symbol val="circle"/>
            <c:size val="7"/>
            <c:spPr>
              <a:solidFill>
                <a:srgbClr val="1D1B58"/>
              </a:solidFill>
              <a:ln>
                <a:solidFill>
                  <a:srgbClr val="1D1B58"/>
                </a:solidFill>
              </a:ln>
            </c:spPr>
          </c:marker>
          <c:dPt>
            <c:idx val="11"/>
            <c:marker>
              <c:symbol val="circle"/>
              <c:size val="11"/>
              <c:spPr>
                <a:solidFill>
                  <a:srgbClr val="1B8FE0"/>
                </a:solidFill>
                <a:ln>
                  <a:solidFill>
                    <a:srgbClr val="1B8FE0"/>
                  </a:solidFill>
                </a:ln>
              </c:spPr>
            </c:marker>
            <c:bubble3D val="0"/>
            <c:extLst>
              <c:ext xmlns:c16="http://schemas.microsoft.com/office/drawing/2014/chart" uri="{C3380CC4-5D6E-409C-BE32-E72D297353CC}">
                <c16:uniqueId val="{00000000-4041-47CD-A64D-21ACF42D8C97}"/>
              </c:ext>
            </c:extLst>
          </c:dPt>
          <c:dLbls>
            <c:dLbl>
              <c:idx val="11"/>
              <c:tx>
                <c:rich>
                  <a:bodyPr/>
                  <a:lstStyle/>
                  <a:p>
                    <a:r>
                      <a:rPr lang="en-US" sz="1100" b="1">
                        <a:solidFill>
                          <a:srgbClr val="1B8FE0"/>
                        </a:solidFill>
                      </a:rPr>
                      <a:t>Peak £1.05M</a:t>
                    </a:r>
                  </a:p>
                </c:rich>
              </c:tx>
              <c:dLblPos val="l"/>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041-47CD-A64D-21ACF42D8C9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Sheet1!$A$2:$A$14</c:f>
              <c:strCache>
                <c:ptCount val="13"/>
                <c:pt idx="0">
                  <c:v>Dec '10</c:v>
                </c:pt>
                <c:pt idx="1">
                  <c:v>Jan '11</c:v>
                </c:pt>
                <c:pt idx="2">
                  <c:v>Feb '11</c:v>
                </c:pt>
                <c:pt idx="3">
                  <c:v>Mar '11</c:v>
                </c:pt>
                <c:pt idx="4">
                  <c:v>Apr '11</c:v>
                </c:pt>
                <c:pt idx="5">
                  <c:v>May '11</c:v>
                </c:pt>
                <c:pt idx="6">
                  <c:v>Jun '11</c:v>
                </c:pt>
                <c:pt idx="7">
                  <c:v>Jul '11</c:v>
                </c:pt>
                <c:pt idx="8">
                  <c:v>Aug '11</c:v>
                </c:pt>
                <c:pt idx="9">
                  <c:v>Sep '11</c:v>
                </c:pt>
                <c:pt idx="10">
                  <c:v>Oct '11</c:v>
                </c:pt>
                <c:pt idx="11">
                  <c:v>Nov '11</c:v>
                </c:pt>
                <c:pt idx="12">
                  <c:v>Dec '11</c:v>
                </c:pt>
              </c:strCache>
            </c:strRef>
          </c:cat>
          <c:val>
            <c:numRef>
              <c:f>Sheet1!$B$2:$B$14</c:f>
              <c:numCache>
                <c:formatCode>General</c:formatCode>
                <c:ptCount val="13"/>
                <c:pt idx="0">
                  <c:v>502227.08</c:v>
                </c:pt>
                <c:pt idx="1">
                  <c:v>496215.92000000004</c:v>
                </c:pt>
                <c:pt idx="2">
                  <c:v>395363.89</c:v>
                </c:pt>
                <c:pt idx="3">
                  <c:v>524778.96</c:v>
                </c:pt>
                <c:pt idx="4">
                  <c:v>404429.91</c:v>
                </c:pt>
                <c:pt idx="5">
                  <c:v>598594.79</c:v>
                </c:pt>
                <c:pt idx="6">
                  <c:v>602319.69000000006</c:v>
                </c:pt>
                <c:pt idx="7">
                  <c:v>530628.77</c:v>
                </c:pt>
                <c:pt idx="8">
                  <c:v>579821.22</c:v>
                </c:pt>
                <c:pt idx="9">
                  <c:v>876787.47</c:v>
                </c:pt>
                <c:pt idx="10">
                  <c:v>936595.98</c:v>
                </c:pt>
                <c:pt idx="11">
                  <c:v>1052372.6000000001</c:v>
                </c:pt>
                <c:pt idx="12">
                  <c:v>493088.89</c:v>
                </c:pt>
              </c:numCache>
            </c:numRef>
          </c:val>
          <c:smooth val="0"/>
          <c:extLst>
            <c:ext xmlns:c16="http://schemas.microsoft.com/office/drawing/2014/chart" uri="{C3380CC4-5D6E-409C-BE32-E72D297353CC}">
              <c16:uniqueId val="{00000001-4041-47CD-A64D-21ACF42D8C97}"/>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D5DBE8"/>
            </a:solidFill>
          </a:ln>
        </c:spPr>
        <c:txPr>
          <a:bodyPr/>
          <a:lstStyle/>
          <a:p>
            <a:pPr>
              <a:defRPr sz="1100">
                <a:solidFill>
                  <a:srgbClr val="5B6075"/>
                </a:solidFill>
              </a:defRPr>
            </a:pPr>
            <a:endParaRPr lang="en-US"/>
          </a:p>
        </c:txPr>
        <c:crossAx val="2140495176"/>
        <c:crosses val="autoZero"/>
        <c:auto val="1"/>
        <c:lblAlgn val="ctr"/>
        <c:lblOffset val="100"/>
        <c:noMultiLvlLbl val="0"/>
      </c:catAx>
      <c:valAx>
        <c:axId val="2140495176"/>
        <c:scaling>
          <c:orientation val="minMax"/>
        </c:scaling>
        <c:delete val="0"/>
        <c:axPos val="l"/>
        <c:majorGridlines>
          <c:spPr>
            <a:ln w="9525">
              <a:solidFill>
                <a:srgbClr val="D5DBE8"/>
              </a:solidFill>
            </a:ln>
          </c:spPr>
        </c:majorGridlines>
        <c:numFmt formatCode="\£#,##0,&quot;k&quot;" sourceLinked="0"/>
        <c:majorTickMark val="out"/>
        <c:minorTickMark val="none"/>
        <c:tickLblPos val="nextTo"/>
        <c:spPr>
          <a:ln>
            <a:noFill/>
          </a:ln>
        </c:spPr>
        <c:txPr>
          <a:bodyPr/>
          <a:lstStyle/>
          <a:p>
            <a:pPr>
              <a:defRPr sz="1100">
                <a:solidFill>
                  <a:srgbClr val="5B6075"/>
                </a:solidFill>
              </a:defRPr>
            </a:pPr>
            <a:endParaRPr lang="en-US"/>
          </a:p>
        </c:txPr>
        <c:crossAx val="2118791784"/>
        <c:crosses val="autoZero"/>
        <c:crossBetween val="between"/>
      </c:valAx>
    </c:plotArea>
    <c:plotVisOnly val="1"/>
    <c:dispBlanksAs val="gap"/>
    <c:showDLblsOverMax val="0"/>
  </c:chart>
  <c:txPr>
    <a:bodyPr/>
    <a:lstStyle/>
    <a:p>
      <a:pPr>
        <a:defRPr sz="1100">
          <a:solidFill>
            <a:srgbClr val="5B6075"/>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a:solidFill>
                  <a:srgbClr val="222433"/>
                </a:solidFill>
                <a:latin typeface="Calibri"/>
              </a:rPr>
              <a:t>Silhouette score by k (higher is better)</a:t>
            </a:r>
          </a:p>
        </c:rich>
      </c:tx>
      <c:overlay val="0"/>
    </c:title>
    <c:autoTitleDeleted val="0"/>
    <c:plotArea>
      <c:layout/>
      <c:barChart>
        <c:barDir val="col"/>
        <c:grouping val="clustered"/>
        <c:varyColors val="1"/>
        <c:ser>
          <c:idx val="0"/>
          <c:order val="0"/>
          <c:tx>
            <c:strRef>
              <c:f>Sheet1!$B$1</c:f>
              <c:strCache>
                <c:ptCount val="1"/>
                <c:pt idx="0">
                  <c:v>Silhouette</c:v>
                </c:pt>
              </c:strCache>
            </c:strRef>
          </c:tx>
          <c:invertIfNegative val="1"/>
          <c:dPt>
            <c:idx val="0"/>
            <c:invertIfNegative val="1"/>
            <c:bubble3D val="0"/>
            <c:spPr>
              <a:solidFill>
                <a:srgbClr val="1B8FE0"/>
              </a:solidFill>
            </c:spPr>
            <c:extLst>
              <c:ext xmlns:c16="http://schemas.microsoft.com/office/drawing/2014/chart" uri="{C3380CC4-5D6E-409C-BE32-E72D297353CC}">
                <c16:uniqueId val="{00000001-5EC0-449B-8F13-FD4913EE2428}"/>
              </c:ext>
            </c:extLst>
          </c:dPt>
          <c:dPt>
            <c:idx val="1"/>
            <c:invertIfNegative val="1"/>
            <c:bubble3D val="0"/>
            <c:spPr>
              <a:solidFill>
                <a:srgbClr val="A9B1C6"/>
              </a:solidFill>
            </c:spPr>
            <c:extLst>
              <c:ext xmlns:c16="http://schemas.microsoft.com/office/drawing/2014/chart" uri="{C3380CC4-5D6E-409C-BE32-E72D297353CC}">
                <c16:uniqueId val="{00000003-5EC0-449B-8F13-FD4913EE2428}"/>
              </c:ext>
            </c:extLst>
          </c:dPt>
          <c:dPt>
            <c:idx val="2"/>
            <c:invertIfNegative val="1"/>
            <c:bubble3D val="0"/>
            <c:spPr>
              <a:solidFill>
                <a:srgbClr val="A9B1C6"/>
              </a:solidFill>
            </c:spPr>
            <c:extLst>
              <c:ext xmlns:c16="http://schemas.microsoft.com/office/drawing/2014/chart" uri="{C3380CC4-5D6E-409C-BE32-E72D297353CC}">
                <c16:uniqueId val="{00000005-5EC0-449B-8F13-FD4913EE2428}"/>
              </c:ext>
            </c:extLst>
          </c:dPt>
          <c:dPt>
            <c:idx val="3"/>
            <c:invertIfNegative val="1"/>
            <c:bubble3D val="0"/>
            <c:spPr>
              <a:solidFill>
                <a:srgbClr val="A9B1C6"/>
              </a:solidFill>
            </c:spPr>
            <c:extLst>
              <c:ext xmlns:c16="http://schemas.microsoft.com/office/drawing/2014/chart" uri="{C3380CC4-5D6E-409C-BE32-E72D297353CC}">
                <c16:uniqueId val="{00000007-5EC0-449B-8F13-FD4913EE2428}"/>
              </c:ext>
            </c:extLst>
          </c:dPt>
          <c:dPt>
            <c:idx val="4"/>
            <c:invertIfNegative val="1"/>
            <c:bubble3D val="0"/>
            <c:spPr>
              <a:solidFill>
                <a:srgbClr val="A9B1C6"/>
              </a:solidFill>
            </c:spPr>
            <c:extLst>
              <c:ext xmlns:c16="http://schemas.microsoft.com/office/drawing/2014/chart" uri="{C3380CC4-5D6E-409C-BE32-E72D297353CC}">
                <c16:uniqueId val="{00000009-5EC0-449B-8F13-FD4913EE2428}"/>
              </c:ext>
            </c:extLst>
          </c:dPt>
          <c:dPt>
            <c:idx val="5"/>
            <c:invertIfNegative val="1"/>
            <c:bubble3D val="0"/>
            <c:spPr>
              <a:solidFill>
                <a:srgbClr val="A9B1C6"/>
              </a:solidFill>
            </c:spPr>
            <c:extLst>
              <c:ext xmlns:c16="http://schemas.microsoft.com/office/drawing/2014/chart" uri="{C3380CC4-5D6E-409C-BE32-E72D297353CC}">
                <c16:uniqueId val="{0000000B-5EC0-449B-8F13-FD4913EE2428}"/>
              </c:ext>
            </c:extLst>
          </c:dPt>
          <c:dPt>
            <c:idx val="6"/>
            <c:invertIfNegative val="1"/>
            <c:bubble3D val="0"/>
            <c:spPr>
              <a:solidFill>
                <a:srgbClr val="A9B1C6"/>
              </a:solidFill>
            </c:spPr>
            <c:extLst>
              <c:ext xmlns:c16="http://schemas.microsoft.com/office/drawing/2014/chart" uri="{C3380CC4-5D6E-409C-BE32-E72D297353CC}">
                <c16:uniqueId val="{0000000D-5EC0-449B-8F13-FD4913EE2428}"/>
              </c:ext>
            </c:extLst>
          </c:dPt>
          <c:dPt>
            <c:idx val="7"/>
            <c:invertIfNegative val="1"/>
            <c:bubble3D val="0"/>
            <c:spPr>
              <a:solidFill>
                <a:srgbClr val="A9B1C6"/>
              </a:solidFill>
            </c:spPr>
            <c:extLst>
              <c:ext xmlns:c16="http://schemas.microsoft.com/office/drawing/2014/chart" uri="{C3380CC4-5D6E-409C-BE32-E72D297353CC}">
                <c16:uniqueId val="{0000000F-5EC0-449B-8F13-FD4913EE2428}"/>
              </c:ext>
            </c:extLst>
          </c:dPt>
          <c:dPt>
            <c:idx val="8"/>
            <c:invertIfNegative val="1"/>
            <c:bubble3D val="0"/>
            <c:spPr>
              <a:solidFill>
                <a:srgbClr val="A9B1C6"/>
              </a:solidFill>
            </c:spPr>
            <c:extLst>
              <c:ext xmlns:c16="http://schemas.microsoft.com/office/drawing/2014/chart" uri="{C3380CC4-5D6E-409C-BE32-E72D297353CC}">
                <c16:uniqueId val="{00000011-5EC0-449B-8F13-FD4913EE2428}"/>
              </c:ext>
            </c:extLst>
          </c:dPt>
          <c:dLbls>
            <c:numFmt formatCode="0.00" sourceLinked="0"/>
            <c:spPr>
              <a:noFill/>
              <a:ln>
                <a:noFill/>
              </a:ln>
              <a:effectLst/>
            </c:spPr>
            <c:txPr>
              <a:bodyPr/>
              <a:lstStyle/>
              <a:p>
                <a:pPr>
                  <a:defRPr sz="1000" b="0">
                    <a:solidFill>
                      <a:srgbClr val="2224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2</c:v>
                </c:pt>
                <c:pt idx="1">
                  <c:v>3</c:v>
                </c:pt>
                <c:pt idx="2">
                  <c:v>4</c:v>
                </c:pt>
                <c:pt idx="3">
                  <c:v>5</c:v>
                </c:pt>
                <c:pt idx="4">
                  <c:v>6</c:v>
                </c:pt>
                <c:pt idx="5">
                  <c:v>7</c:v>
                </c:pt>
                <c:pt idx="6">
                  <c:v>8</c:v>
                </c:pt>
                <c:pt idx="7">
                  <c:v>9</c:v>
                </c:pt>
                <c:pt idx="8">
                  <c:v>10</c:v>
                </c:pt>
              </c:strCache>
            </c:strRef>
          </c:cat>
          <c:val>
            <c:numRef>
              <c:f>Sheet1!$B$2:$B$10</c:f>
              <c:numCache>
                <c:formatCode>General</c:formatCode>
                <c:ptCount val="9"/>
                <c:pt idx="0">
                  <c:v>0.43115944964708519</c:v>
                </c:pt>
                <c:pt idx="1">
                  <c:v>0.33917260306037467</c:v>
                </c:pt>
                <c:pt idx="2">
                  <c:v>0.33335470935765449</c:v>
                </c:pt>
                <c:pt idx="3">
                  <c:v>0.31655096377951891</c:v>
                </c:pt>
                <c:pt idx="4">
                  <c:v>0.31142347443226764</c:v>
                </c:pt>
                <c:pt idx="5">
                  <c:v>0.30700576338914559</c:v>
                </c:pt>
                <c:pt idx="6">
                  <c:v>0.27766715574750711</c:v>
                </c:pt>
                <c:pt idx="7">
                  <c:v>0.27882199265446678</c:v>
                </c:pt>
                <c:pt idx="8">
                  <c:v>0.27805262201821501</c:v>
                </c:pt>
              </c:numCache>
            </c:numRef>
          </c:val>
          <c:extLst>
            <c:ext xmlns:c16="http://schemas.microsoft.com/office/drawing/2014/chart" uri="{C3380CC4-5D6E-409C-BE32-E72D297353CC}">
              <c16:uniqueId val="{00000012-5EC0-449B-8F13-FD4913EE2428}"/>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title>
          <c:tx>
            <c:rich>
              <a:bodyPr/>
              <a:lstStyle/>
              <a:p>
                <a:r>
                  <a:rPr lang="en-IN" sz="1100" b="0">
                    <a:solidFill>
                      <a:srgbClr val="5B6075"/>
                    </a:solidFill>
                    <a:latin typeface="Calibri"/>
                  </a:rPr>
                  <a:t>k (number of clusters)</a:t>
                </a:r>
              </a:p>
            </c:rich>
          </c:tx>
          <c:overlay val="0"/>
        </c:title>
        <c:numFmt formatCode="General" sourceLinked="0"/>
        <c:majorTickMark val="out"/>
        <c:minorTickMark val="none"/>
        <c:tickLblPos val="nextTo"/>
        <c:spPr>
          <a:ln>
            <a:solidFill>
              <a:srgbClr val="5B6075"/>
            </a:solidFill>
          </a:ln>
        </c:spPr>
        <c:txPr>
          <a:bodyPr/>
          <a:lstStyle/>
          <a:p>
            <a:pPr>
              <a:defRPr sz="1100">
                <a:solidFill>
                  <a:srgbClr val="5B6075"/>
                </a:solidFill>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5B6075"/>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300" b="1">
                <a:solidFill>
                  <a:srgbClr val="222433"/>
                </a:solidFill>
                <a:latin typeface="Calibri"/>
              </a:rPr>
              <a:t>Inertia by k (elbow method)</a:t>
            </a:r>
          </a:p>
        </c:rich>
      </c:tx>
      <c:overlay val="0"/>
    </c:title>
    <c:autoTitleDeleted val="0"/>
    <c:plotArea>
      <c:layout/>
      <c:lineChart>
        <c:grouping val="standard"/>
        <c:varyColors val="0"/>
        <c:ser>
          <c:idx val="0"/>
          <c:order val="0"/>
          <c:tx>
            <c:strRef>
              <c:f>Sheet1!$B$1</c:f>
              <c:strCache>
                <c:ptCount val="1"/>
                <c:pt idx="0">
                  <c:v>Inertia</c:v>
                </c:pt>
              </c:strCache>
            </c:strRef>
          </c:tx>
          <c:spPr>
            <a:ln w="28575">
              <a:solidFill>
                <a:srgbClr val="1D1B58"/>
              </a:solidFill>
            </a:ln>
          </c:spPr>
          <c:marker>
            <c:symbol val="circle"/>
            <c:size val="5"/>
            <c:spPr>
              <a:solidFill>
                <a:srgbClr val="1D1B58"/>
              </a:solidFill>
            </c:spPr>
          </c:marker>
          <c:cat>
            <c:strRef>
              <c:f>Sheet1!$A$2:$A$10</c:f>
              <c:strCache>
                <c:ptCount val="9"/>
                <c:pt idx="0">
                  <c:v>2</c:v>
                </c:pt>
                <c:pt idx="1">
                  <c:v>3</c:v>
                </c:pt>
                <c:pt idx="2">
                  <c:v>4</c:v>
                </c:pt>
                <c:pt idx="3">
                  <c:v>5</c:v>
                </c:pt>
                <c:pt idx="4">
                  <c:v>6</c:v>
                </c:pt>
                <c:pt idx="5">
                  <c:v>7</c:v>
                </c:pt>
                <c:pt idx="6">
                  <c:v>8</c:v>
                </c:pt>
                <c:pt idx="7">
                  <c:v>9</c:v>
                </c:pt>
                <c:pt idx="8">
                  <c:v>10</c:v>
                </c:pt>
              </c:strCache>
            </c:strRef>
          </c:cat>
          <c:val>
            <c:numRef>
              <c:f>Sheet1!$B$2:$B$10</c:f>
              <c:numCache>
                <c:formatCode>General</c:formatCode>
                <c:ptCount val="9"/>
                <c:pt idx="0">
                  <c:v>6455.0113551778068</c:v>
                </c:pt>
                <c:pt idx="1">
                  <c:v>4851.0939310446474</c:v>
                </c:pt>
                <c:pt idx="2">
                  <c:v>3934.4827833481008</c:v>
                </c:pt>
                <c:pt idx="3">
                  <c:v>3284.6565351875879</c:v>
                </c:pt>
                <c:pt idx="4">
                  <c:v>2850.0700297814046</c:v>
                </c:pt>
                <c:pt idx="5">
                  <c:v>2552.3714022102708</c:v>
                </c:pt>
                <c:pt idx="6">
                  <c:v>2338.0291471007886</c:v>
                </c:pt>
                <c:pt idx="7">
                  <c:v>2158.8974212483408</c:v>
                </c:pt>
                <c:pt idx="8">
                  <c:v>2002.4299213836471</c:v>
                </c:pt>
              </c:numCache>
            </c:numRef>
          </c:val>
          <c:smooth val="0"/>
          <c:extLst>
            <c:ext xmlns:c16="http://schemas.microsoft.com/office/drawing/2014/chart" uri="{C3380CC4-5D6E-409C-BE32-E72D297353CC}">
              <c16:uniqueId val="{00000000-DFE1-4C60-A0DE-4BB9A56D7BBF}"/>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r>
                  <a:rPr lang="en-IN" sz="1100" b="0">
                    <a:solidFill>
                      <a:srgbClr val="5B6075"/>
                    </a:solidFill>
                    <a:latin typeface="Calibri"/>
                  </a:rPr>
                  <a:t>k (number of clusters)</a:t>
                </a:r>
              </a:p>
            </c:rich>
          </c:tx>
          <c:overlay val="0"/>
        </c:title>
        <c:numFmt formatCode="General" sourceLinked="0"/>
        <c:majorTickMark val="out"/>
        <c:minorTickMark val="none"/>
        <c:tickLblPos val="nextTo"/>
        <c:spPr>
          <a:ln>
            <a:solidFill>
              <a:srgbClr val="D5DBE8"/>
            </a:solidFill>
          </a:ln>
        </c:spPr>
        <c:txPr>
          <a:bodyPr/>
          <a:lstStyle/>
          <a:p>
            <a:pPr>
              <a:defRPr sz="1100">
                <a:solidFill>
                  <a:srgbClr val="5B6075"/>
                </a:solidFill>
              </a:defRPr>
            </a:pPr>
            <a:endParaRPr lang="en-US"/>
          </a:p>
        </c:txPr>
        <c:crossAx val="2140495176"/>
        <c:crosses val="autoZero"/>
        <c:auto val="1"/>
        <c:lblAlgn val="ctr"/>
        <c:lblOffset val="100"/>
        <c:noMultiLvlLbl val="0"/>
      </c:catAx>
      <c:valAx>
        <c:axId val="2140495176"/>
        <c:scaling>
          <c:orientation val="minMax"/>
        </c:scaling>
        <c:delete val="0"/>
        <c:axPos val="l"/>
        <c:majorGridlines>
          <c:spPr>
            <a:ln w="9525">
              <a:solidFill>
                <a:srgbClr val="D5DBE8"/>
              </a:solidFill>
            </a:ln>
          </c:spPr>
        </c:majorGridlines>
        <c:numFmt formatCode="#,##0" sourceLinked="0"/>
        <c:majorTickMark val="out"/>
        <c:minorTickMark val="none"/>
        <c:tickLblPos val="nextTo"/>
        <c:spPr>
          <a:ln>
            <a:noFill/>
          </a:ln>
        </c:spPr>
        <c:txPr>
          <a:bodyPr/>
          <a:lstStyle/>
          <a:p>
            <a:pPr>
              <a:defRPr sz="1100">
                <a:solidFill>
                  <a:srgbClr val="5B6075"/>
                </a:solidFill>
              </a:defRPr>
            </a:pPr>
            <a:endParaRPr lang="en-US"/>
          </a:p>
        </c:txPr>
        <c:crossAx val="2118791784"/>
        <c:crosses val="autoZero"/>
        <c:crossBetween val="between"/>
      </c:valAx>
    </c:plotArea>
    <c:plotVisOnly val="1"/>
    <c:dispBlanksAs val="gap"/>
    <c:showDLblsOverMax val="0"/>
  </c:chart>
  <c:txPr>
    <a:bodyPr/>
    <a:lstStyle/>
    <a:p>
      <a:pPr>
        <a:defRPr sz="1100">
          <a:solidFill>
            <a:srgbClr val="5B6075"/>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300" b="1">
                <a:solidFill>
                  <a:srgbClr val="222433"/>
                </a:solidFill>
                <a:latin typeface="Calibri"/>
              </a:rPr>
              <a:t>Silhouette (higher is better)</a:t>
            </a:r>
          </a:p>
        </c:rich>
      </c:tx>
      <c:overlay val="0"/>
    </c:title>
    <c:autoTitleDeleted val="0"/>
    <c:plotArea>
      <c:layout/>
      <c:barChart>
        <c:barDir val="bar"/>
        <c:grouping val="clustered"/>
        <c:varyColors val="1"/>
        <c:ser>
          <c:idx val="0"/>
          <c:order val="0"/>
          <c:tx>
            <c:strRef>
              <c:f>Sheet1!$B$1</c:f>
              <c:strCache>
                <c:ptCount val="1"/>
                <c:pt idx="0">
                  <c:v>Silhouette</c:v>
                </c:pt>
              </c:strCache>
            </c:strRef>
          </c:tx>
          <c:invertIfNegative val="1"/>
          <c:dPt>
            <c:idx val="0"/>
            <c:invertIfNegative val="1"/>
            <c:bubble3D val="0"/>
            <c:spPr>
              <a:solidFill>
                <a:srgbClr val="1B8FE0"/>
              </a:solidFill>
            </c:spPr>
            <c:extLst>
              <c:ext xmlns:c16="http://schemas.microsoft.com/office/drawing/2014/chart" uri="{C3380CC4-5D6E-409C-BE32-E72D297353CC}">
                <c16:uniqueId val="{00000001-B472-4BE8-8960-5E643787FF41}"/>
              </c:ext>
            </c:extLst>
          </c:dPt>
          <c:dPt>
            <c:idx val="1"/>
            <c:invertIfNegative val="1"/>
            <c:bubble3D val="0"/>
            <c:spPr>
              <a:solidFill>
                <a:srgbClr val="A9B1C6"/>
              </a:solidFill>
            </c:spPr>
            <c:extLst>
              <c:ext xmlns:c16="http://schemas.microsoft.com/office/drawing/2014/chart" uri="{C3380CC4-5D6E-409C-BE32-E72D297353CC}">
                <c16:uniqueId val="{00000003-B472-4BE8-8960-5E643787FF41}"/>
              </c:ext>
            </c:extLst>
          </c:dPt>
          <c:dPt>
            <c:idx val="2"/>
            <c:invertIfNegative val="1"/>
            <c:bubble3D val="0"/>
            <c:spPr>
              <a:solidFill>
                <a:srgbClr val="A9B1C6"/>
              </a:solidFill>
            </c:spPr>
            <c:extLst>
              <c:ext xmlns:c16="http://schemas.microsoft.com/office/drawing/2014/chart" uri="{C3380CC4-5D6E-409C-BE32-E72D297353CC}">
                <c16:uniqueId val="{00000005-B472-4BE8-8960-5E643787FF41}"/>
              </c:ext>
            </c:extLst>
          </c:dPt>
          <c:dLbls>
            <c:numFmt formatCode="0.000" sourceLinked="0"/>
            <c:spPr>
              <a:noFill/>
              <a:ln>
                <a:noFill/>
              </a:ln>
              <a:effectLst/>
            </c:spPr>
            <c:txPr>
              <a:bodyPr/>
              <a:lstStyle/>
              <a:p>
                <a:pPr>
                  <a:defRPr sz="1100" b="0">
                    <a:solidFill>
                      <a:srgbClr val="2224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K-means</c:v>
                </c:pt>
                <c:pt idx="1">
                  <c:v>Hierarchical (Ward)</c:v>
                </c:pt>
                <c:pt idx="2">
                  <c:v>DBSCAN</c:v>
                </c:pt>
              </c:strCache>
            </c:strRef>
          </c:cat>
          <c:val>
            <c:numRef>
              <c:f>Sheet1!$B$2:$B$4</c:f>
              <c:numCache>
                <c:formatCode>General</c:formatCode>
                <c:ptCount val="3"/>
                <c:pt idx="0">
                  <c:v>0.43115944964708525</c:v>
                </c:pt>
                <c:pt idx="1">
                  <c:v>0.38430032096727912</c:v>
                </c:pt>
                <c:pt idx="2">
                  <c:v>0.29350911289511145</c:v>
                </c:pt>
              </c:numCache>
            </c:numRef>
          </c:val>
          <c:extLst>
            <c:ext xmlns:c16="http://schemas.microsoft.com/office/drawing/2014/chart" uri="{C3380CC4-5D6E-409C-BE32-E72D297353CC}">
              <c16:uniqueId val="{00000006-B472-4BE8-8960-5E643787FF41}"/>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5B6075"/>
            </a:solidFill>
          </a:ln>
        </c:spPr>
        <c:txPr>
          <a:bodyPr/>
          <a:lstStyle/>
          <a:p>
            <a:pPr>
              <a:defRPr sz="1100">
                <a:solidFill>
                  <a:srgbClr val="5B6075"/>
                </a:solidFill>
              </a:defRPr>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5B6075"/>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300" b="1">
                <a:solidFill>
                  <a:srgbClr val="222433"/>
                </a:solidFill>
                <a:latin typeface="Calibri"/>
              </a:rPr>
              <a:t>Davies-Bouldin (lower is better)</a:t>
            </a:r>
          </a:p>
        </c:rich>
      </c:tx>
      <c:overlay val="0"/>
    </c:title>
    <c:autoTitleDeleted val="0"/>
    <c:plotArea>
      <c:layout/>
      <c:barChart>
        <c:barDir val="bar"/>
        <c:grouping val="clustered"/>
        <c:varyColors val="1"/>
        <c:ser>
          <c:idx val="0"/>
          <c:order val="0"/>
          <c:tx>
            <c:strRef>
              <c:f>Sheet1!$B$1</c:f>
              <c:strCache>
                <c:ptCount val="1"/>
                <c:pt idx="0">
                  <c:v>Davies-Bouldin</c:v>
                </c:pt>
              </c:strCache>
            </c:strRef>
          </c:tx>
          <c:invertIfNegative val="1"/>
          <c:dPt>
            <c:idx val="0"/>
            <c:invertIfNegative val="1"/>
            <c:bubble3D val="0"/>
            <c:spPr>
              <a:solidFill>
                <a:srgbClr val="1B8FE0"/>
              </a:solidFill>
            </c:spPr>
            <c:extLst>
              <c:ext xmlns:c16="http://schemas.microsoft.com/office/drawing/2014/chart" uri="{C3380CC4-5D6E-409C-BE32-E72D297353CC}">
                <c16:uniqueId val="{00000001-5801-40C3-B23E-929585195C31}"/>
              </c:ext>
            </c:extLst>
          </c:dPt>
          <c:dPt>
            <c:idx val="1"/>
            <c:invertIfNegative val="1"/>
            <c:bubble3D val="0"/>
            <c:spPr>
              <a:solidFill>
                <a:srgbClr val="A9B1C6"/>
              </a:solidFill>
            </c:spPr>
            <c:extLst>
              <c:ext xmlns:c16="http://schemas.microsoft.com/office/drawing/2014/chart" uri="{C3380CC4-5D6E-409C-BE32-E72D297353CC}">
                <c16:uniqueId val="{00000003-5801-40C3-B23E-929585195C31}"/>
              </c:ext>
            </c:extLst>
          </c:dPt>
          <c:dPt>
            <c:idx val="2"/>
            <c:invertIfNegative val="1"/>
            <c:bubble3D val="0"/>
            <c:spPr>
              <a:solidFill>
                <a:srgbClr val="A9B1C6"/>
              </a:solidFill>
            </c:spPr>
            <c:extLst>
              <c:ext xmlns:c16="http://schemas.microsoft.com/office/drawing/2014/chart" uri="{C3380CC4-5D6E-409C-BE32-E72D297353CC}">
                <c16:uniqueId val="{00000005-5801-40C3-B23E-929585195C31}"/>
              </c:ext>
            </c:extLst>
          </c:dPt>
          <c:dLbls>
            <c:numFmt formatCode="0.00" sourceLinked="0"/>
            <c:spPr>
              <a:noFill/>
              <a:ln>
                <a:noFill/>
              </a:ln>
              <a:effectLst/>
            </c:spPr>
            <c:txPr>
              <a:bodyPr/>
              <a:lstStyle/>
              <a:p>
                <a:pPr>
                  <a:defRPr sz="1100" b="0">
                    <a:solidFill>
                      <a:srgbClr val="2224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K-means</c:v>
                </c:pt>
                <c:pt idx="1">
                  <c:v>Hierarchical (Ward)</c:v>
                </c:pt>
                <c:pt idx="2">
                  <c:v>DBSCAN</c:v>
                </c:pt>
              </c:strCache>
            </c:strRef>
          </c:cat>
          <c:val>
            <c:numRef>
              <c:f>Sheet1!$B$2:$B$4</c:f>
              <c:numCache>
                <c:formatCode>General</c:formatCode>
                <c:ptCount val="3"/>
                <c:pt idx="0">
                  <c:v>0.89395906073659936</c:v>
                </c:pt>
                <c:pt idx="1">
                  <c:v>0.95714184553307502</c:v>
                </c:pt>
                <c:pt idx="2">
                  <c:v>1.0689349935317694</c:v>
                </c:pt>
              </c:numCache>
            </c:numRef>
          </c:val>
          <c:extLst>
            <c:ext xmlns:c16="http://schemas.microsoft.com/office/drawing/2014/chart" uri="{C3380CC4-5D6E-409C-BE32-E72D297353CC}">
              <c16:uniqueId val="{00000006-5801-40C3-B23E-929585195C31}"/>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5B6075"/>
            </a:solidFill>
          </a:ln>
        </c:spPr>
        <c:txPr>
          <a:bodyPr/>
          <a:lstStyle/>
          <a:p>
            <a:pPr>
              <a:defRPr sz="1100">
                <a:solidFill>
                  <a:srgbClr val="5B6075"/>
                </a:solidFill>
              </a:defRPr>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5B6075"/>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percentStacked"/>
        <c:varyColors val="1"/>
        <c:ser>
          <c:idx val="0"/>
          <c:order val="0"/>
          <c:tx>
            <c:strRef>
              <c:f>Sheet1!$B$1</c:f>
              <c:strCache>
                <c:ptCount val="1"/>
                <c:pt idx="0">
                  <c:v>High-Value Active</c:v>
                </c:pt>
              </c:strCache>
            </c:strRef>
          </c:tx>
          <c:spPr>
            <a:solidFill>
              <a:srgbClr val="4FB3FF"/>
            </a:solidFill>
          </c:spPr>
          <c:invertIfNegative val="1"/>
          <c:dLbls>
            <c:numFmt formatCode="0%" sourceLinked="0"/>
            <c:spPr>
              <a:noFill/>
              <a:ln>
                <a:noFill/>
              </a:ln>
              <a:effectLst/>
            </c:spPr>
            <c:txPr>
              <a:bodyPr/>
              <a:lstStyle/>
              <a:p>
                <a:pPr>
                  <a:defRPr sz="1400" b="1">
                    <a:solidFill>
                      <a:srgbClr val="1D1B58"/>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Customers</c:v>
                </c:pt>
                <c:pt idx="1">
                  <c:v>Revenue</c:v>
                </c:pt>
              </c:strCache>
            </c:strRef>
          </c:cat>
          <c:val>
            <c:numRef>
              <c:f>Sheet1!$B$2:$B$3</c:f>
              <c:numCache>
                <c:formatCode>General</c:formatCode>
                <c:ptCount val="2"/>
                <c:pt idx="0">
                  <c:v>0.38595271210013915</c:v>
                </c:pt>
                <c:pt idx="1">
                  <c:v>0.85046623552079903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247-43DA-9729-A5DEF364E4A0}"/>
            </c:ext>
          </c:extLst>
        </c:ser>
        <c:ser>
          <c:idx val="1"/>
          <c:order val="1"/>
          <c:tx>
            <c:strRef>
              <c:f>Sheet1!$C$1</c:f>
              <c:strCache>
                <c:ptCount val="1"/>
                <c:pt idx="0">
                  <c:v>Low-Value Lapsing</c:v>
                </c:pt>
              </c:strCache>
            </c:strRef>
          </c:tx>
          <c:spPr>
            <a:solidFill>
              <a:srgbClr val="8C93B8"/>
            </a:solidFill>
          </c:spPr>
          <c:invertIfNegative val="1"/>
          <c:dLbls>
            <c:numFmt formatCode="0%" sourceLinked="0"/>
            <c:spPr>
              <a:noFill/>
              <a:ln>
                <a:noFill/>
              </a:ln>
              <a:effectLst/>
            </c:spPr>
            <c:txPr>
              <a:bodyPr/>
              <a:lstStyle/>
              <a:p>
                <a:pPr>
                  <a:defRPr sz="1400" b="1">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Customers</c:v>
                </c:pt>
                <c:pt idx="1">
                  <c:v>Revenue</c:v>
                </c:pt>
              </c:strCache>
            </c:strRef>
          </c:cat>
          <c:val>
            <c:numRef>
              <c:f>Sheet1!$C$2:$C$3</c:f>
              <c:numCache>
                <c:formatCode>General</c:formatCode>
                <c:ptCount val="2"/>
                <c:pt idx="0">
                  <c:v>0.61404728789986096</c:v>
                </c:pt>
                <c:pt idx="1">
                  <c:v>0.14953376447920083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247-43DA-9729-A5DEF364E4A0}"/>
            </c:ext>
          </c:extLst>
        </c:ser>
        <c:dLbls>
          <c:showLegendKey val="0"/>
          <c:showVal val="0"/>
          <c:showCatName val="0"/>
          <c:showSerName val="0"/>
          <c:showPercent val="0"/>
          <c:showBubbleSize val="0"/>
        </c:dLbls>
        <c:gapWidth val="4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9C2E6"/>
            </a:solidFill>
          </a:ln>
        </c:spPr>
        <c:txPr>
          <a:bodyPr/>
          <a:lstStyle/>
          <a:p>
            <a:pPr>
              <a:defRPr sz="1200">
                <a:solidFill>
                  <a:srgbClr val="FFFFFF"/>
                </a:solidFill>
              </a:defRPr>
            </a:pPr>
            <a:endParaRPr lang="en-US"/>
          </a:p>
        </c:txPr>
        <c:crossAx val="-2113994440"/>
        <c:crosses val="autoZero"/>
        <c:auto val="1"/>
        <c:lblAlgn val="ctr"/>
        <c:lblOffset val="100"/>
        <c:noMultiLvlLbl val="0"/>
      </c:catAx>
      <c:valAx>
        <c:axId val="-2113994440"/>
        <c:scaling>
          <c:orientation val="minMax"/>
        </c:scaling>
        <c:delete val="1"/>
        <c:axPos val="l"/>
        <c:numFmt formatCode="0%"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FFFFFF"/>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a:solidFill>
                  <a:srgbClr val="222433"/>
                </a:solidFill>
                <a:latin typeface="Calibri"/>
              </a:rPr>
              <a:t>Centroid gap between segments (std. units)</a:t>
            </a:r>
          </a:p>
        </c:rich>
      </c:tx>
      <c:overlay val="0"/>
    </c:title>
    <c:autoTitleDeleted val="0"/>
    <c:plotArea>
      <c:layout/>
      <c:barChart>
        <c:barDir val="bar"/>
        <c:grouping val="clustered"/>
        <c:varyColors val="1"/>
        <c:ser>
          <c:idx val="0"/>
          <c:order val="0"/>
          <c:tx>
            <c:strRef>
              <c:f>Sheet1!$B$1</c:f>
              <c:strCache>
                <c:ptCount val="1"/>
                <c:pt idx="0">
                  <c:v>Gap</c:v>
                </c:pt>
              </c:strCache>
            </c:strRef>
          </c:tx>
          <c:invertIfNegative val="1"/>
          <c:dPt>
            <c:idx val="0"/>
            <c:invertIfNegative val="1"/>
            <c:bubble3D val="0"/>
            <c:spPr>
              <a:solidFill>
                <a:srgbClr val="1B8FE0"/>
              </a:solidFill>
            </c:spPr>
            <c:extLst>
              <c:ext xmlns:c16="http://schemas.microsoft.com/office/drawing/2014/chart" uri="{C3380CC4-5D6E-409C-BE32-E72D297353CC}">
                <c16:uniqueId val="{00000001-7961-431D-BE7B-E12A5C61F242}"/>
              </c:ext>
            </c:extLst>
          </c:dPt>
          <c:dPt>
            <c:idx val="1"/>
            <c:invertIfNegative val="1"/>
            <c:bubble3D val="0"/>
            <c:spPr>
              <a:solidFill>
                <a:srgbClr val="7FB8EA"/>
              </a:solidFill>
            </c:spPr>
            <c:extLst>
              <c:ext xmlns:c16="http://schemas.microsoft.com/office/drawing/2014/chart" uri="{C3380CC4-5D6E-409C-BE32-E72D297353CC}">
                <c16:uniqueId val="{00000003-7961-431D-BE7B-E12A5C61F242}"/>
              </c:ext>
            </c:extLst>
          </c:dPt>
          <c:dPt>
            <c:idx val="2"/>
            <c:invertIfNegative val="1"/>
            <c:bubble3D val="0"/>
            <c:spPr>
              <a:solidFill>
                <a:srgbClr val="A9B1C6"/>
              </a:solidFill>
            </c:spPr>
            <c:extLst>
              <c:ext xmlns:c16="http://schemas.microsoft.com/office/drawing/2014/chart" uri="{C3380CC4-5D6E-409C-BE32-E72D297353CC}">
                <c16:uniqueId val="{00000005-7961-431D-BE7B-E12A5C61F242}"/>
              </c:ext>
            </c:extLst>
          </c:dPt>
          <c:dLbls>
            <c:numFmt formatCode="0.00" sourceLinked="0"/>
            <c:spPr>
              <a:noFill/>
              <a:ln>
                <a:noFill/>
              </a:ln>
              <a:effectLst/>
            </c:spPr>
            <c:txPr>
              <a:bodyPr/>
              <a:lstStyle/>
              <a:p>
                <a:pPr>
                  <a:defRPr sz="1100" b="0">
                    <a:solidFill>
                      <a:srgbClr val="2224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Frequency</c:v>
                </c:pt>
                <c:pt idx="1">
                  <c:v>Monetary</c:v>
                </c:pt>
                <c:pt idx="2">
                  <c:v>Recency</c:v>
                </c:pt>
              </c:strCache>
            </c:strRef>
          </c:cat>
          <c:val>
            <c:numRef>
              <c:f>Sheet1!$B$2:$B$4</c:f>
              <c:numCache>
                <c:formatCode>General</c:formatCode>
                <c:ptCount val="3"/>
                <c:pt idx="0">
                  <c:v>1.5713451163870609</c:v>
                </c:pt>
                <c:pt idx="1">
                  <c:v>1.4674661067674113</c:v>
                </c:pt>
                <c:pt idx="2">
                  <c:v>1.3123894289696372</c:v>
                </c:pt>
              </c:numCache>
            </c:numRef>
          </c:val>
          <c:extLst>
            <c:ext xmlns:c16="http://schemas.microsoft.com/office/drawing/2014/chart" uri="{C3380CC4-5D6E-409C-BE32-E72D297353CC}">
              <c16:uniqueId val="{00000006-7961-431D-BE7B-E12A5C61F242}"/>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5B6075"/>
            </a:solidFill>
          </a:ln>
        </c:spPr>
        <c:txPr>
          <a:bodyPr/>
          <a:lstStyle/>
          <a:p>
            <a:pPr>
              <a:defRPr sz="1100">
                <a:solidFill>
                  <a:srgbClr val="5B6075"/>
                </a:solidFill>
              </a:defRPr>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5B6075"/>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300" b="1">
                <a:solidFill>
                  <a:srgbClr val="222433"/>
                </a:solidFill>
                <a:latin typeface="Calibri"/>
              </a:rPr>
              <a:t>Random Forest feature importance</a:t>
            </a:r>
          </a:p>
        </c:rich>
      </c:tx>
      <c:overlay val="0"/>
    </c:title>
    <c:autoTitleDeleted val="0"/>
    <c:plotArea>
      <c:layout/>
      <c:barChart>
        <c:barDir val="bar"/>
        <c:grouping val="clustered"/>
        <c:varyColors val="1"/>
        <c:ser>
          <c:idx val="0"/>
          <c:order val="0"/>
          <c:tx>
            <c:strRef>
              <c:f>Sheet1!$B$1</c:f>
              <c:strCache>
                <c:ptCount val="1"/>
                <c:pt idx="0">
                  <c:v>Importance</c:v>
                </c:pt>
              </c:strCache>
            </c:strRef>
          </c:tx>
          <c:invertIfNegative val="1"/>
          <c:dPt>
            <c:idx val="0"/>
            <c:invertIfNegative val="1"/>
            <c:bubble3D val="0"/>
            <c:spPr>
              <a:solidFill>
                <a:srgbClr val="1B8FE0"/>
              </a:solidFill>
            </c:spPr>
            <c:extLst>
              <c:ext xmlns:c16="http://schemas.microsoft.com/office/drawing/2014/chart" uri="{C3380CC4-5D6E-409C-BE32-E72D297353CC}">
                <c16:uniqueId val="{00000001-9AC7-4CD8-A820-36197BF34DD0}"/>
              </c:ext>
            </c:extLst>
          </c:dPt>
          <c:dPt>
            <c:idx val="1"/>
            <c:invertIfNegative val="1"/>
            <c:bubble3D val="0"/>
            <c:spPr>
              <a:solidFill>
                <a:srgbClr val="7FB8EA"/>
              </a:solidFill>
            </c:spPr>
            <c:extLst>
              <c:ext xmlns:c16="http://schemas.microsoft.com/office/drawing/2014/chart" uri="{C3380CC4-5D6E-409C-BE32-E72D297353CC}">
                <c16:uniqueId val="{00000003-9AC7-4CD8-A820-36197BF34DD0}"/>
              </c:ext>
            </c:extLst>
          </c:dPt>
          <c:dPt>
            <c:idx val="2"/>
            <c:invertIfNegative val="1"/>
            <c:bubble3D val="0"/>
            <c:spPr>
              <a:solidFill>
                <a:srgbClr val="A9B1C6"/>
              </a:solidFill>
            </c:spPr>
            <c:extLst>
              <c:ext xmlns:c16="http://schemas.microsoft.com/office/drawing/2014/chart" uri="{C3380CC4-5D6E-409C-BE32-E72D297353CC}">
                <c16:uniqueId val="{00000005-9AC7-4CD8-A820-36197BF34DD0}"/>
              </c:ext>
            </c:extLst>
          </c:dPt>
          <c:dLbls>
            <c:numFmt formatCode="0%" sourceLinked="0"/>
            <c:spPr>
              <a:noFill/>
              <a:ln>
                <a:noFill/>
              </a:ln>
              <a:effectLst/>
            </c:spPr>
            <c:txPr>
              <a:bodyPr/>
              <a:lstStyle/>
              <a:p>
                <a:pPr>
                  <a:defRPr sz="1100" b="0">
                    <a:solidFill>
                      <a:srgbClr val="2224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Frequency</c:v>
                </c:pt>
                <c:pt idx="1">
                  <c:v>Monetary</c:v>
                </c:pt>
                <c:pt idx="2">
                  <c:v>Recency</c:v>
                </c:pt>
              </c:strCache>
            </c:strRef>
          </c:cat>
          <c:val>
            <c:numRef>
              <c:f>Sheet1!$B$2:$B$4</c:f>
              <c:numCache>
                <c:formatCode>General</c:formatCode>
                <c:ptCount val="3"/>
                <c:pt idx="0">
                  <c:v>0.3740469133012278</c:v>
                </c:pt>
                <c:pt idx="1">
                  <c:v>0.34955342107773324</c:v>
                </c:pt>
                <c:pt idx="2">
                  <c:v>0.27639966562103901</c:v>
                </c:pt>
              </c:numCache>
            </c:numRef>
          </c:val>
          <c:extLst>
            <c:ext xmlns:c16="http://schemas.microsoft.com/office/drawing/2014/chart" uri="{C3380CC4-5D6E-409C-BE32-E72D297353CC}">
              <c16:uniqueId val="{00000006-9AC7-4CD8-A820-36197BF34DD0}"/>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5B6075"/>
            </a:solidFill>
          </a:ln>
        </c:spPr>
        <c:txPr>
          <a:bodyPr/>
          <a:lstStyle/>
          <a:p>
            <a:pPr>
              <a:defRPr sz="1100">
                <a:solidFill>
                  <a:srgbClr val="5B6075"/>
                </a:solidFill>
              </a:defRPr>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5B6075"/>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300" b="1">
                <a:solidFill>
                  <a:srgbClr val="222433"/>
                </a:solidFill>
                <a:latin typeface="Calibri"/>
              </a:rPr>
              <a:t>Skewness: raw vs log1p</a:t>
            </a:r>
          </a:p>
        </c:rich>
      </c:tx>
      <c:overlay val="0"/>
    </c:title>
    <c:autoTitleDeleted val="0"/>
    <c:plotArea>
      <c:layout/>
      <c:barChart>
        <c:barDir val="col"/>
        <c:grouping val="clustered"/>
        <c:varyColors val="1"/>
        <c:ser>
          <c:idx val="0"/>
          <c:order val="0"/>
          <c:tx>
            <c:strRef>
              <c:f>Sheet1!$B$1</c:f>
              <c:strCache>
                <c:ptCount val="1"/>
                <c:pt idx="0">
                  <c:v>Raw</c:v>
                </c:pt>
              </c:strCache>
            </c:strRef>
          </c:tx>
          <c:spPr>
            <a:solidFill>
              <a:srgbClr val="A9B1C6"/>
            </a:solidFill>
          </c:spPr>
          <c:invertIfNegative val="1"/>
          <c:dLbls>
            <c:numFmt formatCode="0.0" sourceLinked="0"/>
            <c:spPr>
              <a:noFill/>
              <a:ln>
                <a:noFill/>
              </a:ln>
              <a:effectLst/>
            </c:spPr>
            <c:txPr>
              <a:bodyPr/>
              <a:lstStyle/>
              <a:p>
                <a:pPr>
                  <a:defRPr sz="1000" b="0">
                    <a:solidFill>
                      <a:srgbClr val="2224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Recency</c:v>
                </c:pt>
                <c:pt idx="1">
                  <c:v>Frequency</c:v>
                </c:pt>
                <c:pt idx="2">
                  <c:v>Monetary</c:v>
                </c:pt>
              </c:strCache>
            </c:strRef>
          </c:cat>
          <c:val>
            <c:numRef>
              <c:f>Sheet1!$B$2:$B$4</c:f>
              <c:numCache>
                <c:formatCode>General</c:formatCode>
                <c:ptCount val="3"/>
                <c:pt idx="0">
                  <c:v>1.24</c:v>
                </c:pt>
                <c:pt idx="1">
                  <c:v>11.84</c:v>
                </c:pt>
                <c:pt idx="2">
                  <c:v>20.350000000000001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E93-4AF1-B6F3-0707D9C3AA3A}"/>
            </c:ext>
          </c:extLst>
        </c:ser>
        <c:ser>
          <c:idx val="1"/>
          <c:order val="1"/>
          <c:tx>
            <c:strRef>
              <c:f>Sheet1!$C$1</c:f>
              <c:strCache>
                <c:ptCount val="1"/>
                <c:pt idx="0">
                  <c:v>After log1p</c:v>
                </c:pt>
              </c:strCache>
            </c:strRef>
          </c:tx>
          <c:spPr>
            <a:solidFill>
              <a:srgbClr val="1B8FE0"/>
            </a:solidFill>
          </c:spPr>
          <c:invertIfNegative val="1"/>
          <c:dLbls>
            <c:numFmt formatCode="0.0" sourceLinked="0"/>
            <c:spPr>
              <a:noFill/>
              <a:ln>
                <a:noFill/>
              </a:ln>
              <a:effectLst/>
            </c:spPr>
            <c:txPr>
              <a:bodyPr/>
              <a:lstStyle/>
              <a:p>
                <a:pPr>
                  <a:defRPr sz="1000" b="0">
                    <a:solidFill>
                      <a:srgbClr val="2224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Recency</c:v>
                </c:pt>
                <c:pt idx="1">
                  <c:v>Frequency</c:v>
                </c:pt>
                <c:pt idx="2">
                  <c:v>Monetary</c:v>
                </c:pt>
              </c:strCache>
            </c:strRef>
          </c:cat>
          <c:val>
            <c:numRef>
              <c:f>Sheet1!$C$2:$C$4</c:f>
              <c:numCache>
                <c:formatCode>General</c:formatCode>
                <c:ptCount val="3"/>
                <c:pt idx="0">
                  <c:v>-0.38</c:v>
                </c:pt>
                <c:pt idx="1">
                  <c:v>1.21</c:v>
                </c:pt>
                <c:pt idx="2">
                  <c:v>0.36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E93-4AF1-B6F3-0707D9C3AA3A}"/>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5B6075"/>
            </a:solidFill>
          </a:ln>
        </c:spPr>
        <c:txPr>
          <a:bodyPr/>
          <a:lstStyle/>
          <a:p>
            <a:pPr>
              <a:defRPr sz="1100">
                <a:solidFill>
                  <a:srgbClr val="5B6075"/>
                </a:solidFill>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solidFill>
            <a:srgbClr val="5B6075"/>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200" b="1">
                <a:solidFill>
                  <a:srgbClr val="222433"/>
                </a:solidFill>
                <a:latin typeface="Calibri"/>
              </a:rPr>
              <a:t>Customers in scaled R–F space (1,200 sample)</a:t>
            </a:r>
          </a:p>
        </c:rich>
      </c:tx>
      <c:overlay val="0"/>
    </c:title>
    <c:autoTitleDeleted val="0"/>
    <c:plotArea>
      <c:layout/>
      <c:scatterChart>
        <c:scatterStyle val="lineMarker"/>
        <c:varyColors val="0"/>
        <c:ser>
          <c:idx val="0"/>
          <c:order val="0"/>
          <c:tx>
            <c:strRef>
              <c:f>Sheet1!$B$1</c:f>
              <c:strCache>
                <c:ptCount val="1"/>
                <c:pt idx="0">
                  <c:v>High-Value Active</c:v>
                </c:pt>
              </c:strCache>
            </c:strRef>
          </c:tx>
          <c:spPr>
            <a:ln w="47625">
              <a:noFill/>
            </a:ln>
          </c:spPr>
          <c:marker>
            <c:symbol val="circle"/>
            <c:size val="4"/>
            <c:spPr>
              <a:solidFill>
                <a:srgbClr val="1B8FE0"/>
              </a:solidFill>
              <a:ln>
                <a:noFill/>
              </a:ln>
            </c:spPr>
          </c:marker>
          <c:xVal>
            <c:numRef>
              <c:f>Sheet1!$A$2:$A$472</c:f>
              <c:numCache>
                <c:formatCode>General</c:formatCode>
                <c:ptCount val="471"/>
                <c:pt idx="0">
                  <c:v>-0.83886684510626841</c:v>
                </c:pt>
                <c:pt idx="1">
                  <c:v>-2.3413179723204016</c:v>
                </c:pt>
                <c:pt idx="2">
                  <c:v>-1.5221166238423613</c:v>
                </c:pt>
                <c:pt idx="3">
                  <c:v>-1.3076009624790905</c:v>
                </c:pt>
                <c:pt idx="4">
                  <c:v>-1.8244594673997463</c:v>
                </c:pt>
                <c:pt idx="5">
                  <c:v>0.35123230569245584</c:v>
                </c:pt>
                <c:pt idx="6">
                  <c:v>-0.66259901363128726</c:v>
                </c:pt>
                <c:pt idx="7">
                  <c:v>-0.20706292578797167</c:v>
                </c:pt>
                <c:pt idx="8">
                  <c:v>-0.2738839526377787</c:v>
                </c:pt>
                <c:pt idx="9">
                  <c:v>-1.1412096886636529</c:v>
                </c:pt>
                <c:pt idx="10">
                  <c:v>0.61920643012957621</c:v>
                </c:pt>
                <c:pt idx="11">
                  <c:v>-0.25093847447889933</c:v>
                </c:pt>
                <c:pt idx="12">
                  <c:v>1.2760012085988141E-2</c:v>
                </c:pt>
                <c:pt idx="13">
                  <c:v>-2.3413179723204016</c:v>
                </c:pt>
                <c:pt idx="14">
                  <c:v>-1.4071712094447202</c:v>
                </c:pt>
                <c:pt idx="15">
                  <c:v>-1.8244594673997463</c:v>
                </c:pt>
                <c:pt idx="16">
                  <c:v>-1.6580681935843091</c:v>
                </c:pt>
                <c:pt idx="17">
                  <c:v>-0.4005724318069358</c:v>
                </c:pt>
                <c:pt idx="18">
                  <c:v>-0.94557273697363986</c:v>
                </c:pt>
                <c:pt idx="19">
                  <c:v>-3.642281311562847E-2</c:v>
                </c:pt>
                <c:pt idx="20">
                  <c:v>-2.3413179723204016</c:v>
                </c:pt>
                <c:pt idx="21">
                  <c:v>-0.70291527536432075</c:v>
                </c:pt>
                <c:pt idx="22">
                  <c:v>-0.66259901363128726</c:v>
                </c:pt>
                <c:pt idx="23">
                  <c:v>-0.12637138849559934</c:v>
                </c:pt>
                <c:pt idx="24">
                  <c:v>-2.3413179723204016</c:v>
                </c:pt>
                <c:pt idx="25">
                  <c:v>-0.79074245755843453</c:v>
                </c:pt>
                <c:pt idx="26">
                  <c:v>-0.34728768316646103</c:v>
                </c:pt>
                <c:pt idx="27">
                  <c:v>-1.1412096886636529</c:v>
                </c:pt>
                <c:pt idx="28">
                  <c:v>-0.34728768316646103</c:v>
                </c:pt>
                <c:pt idx="29">
                  <c:v>-1.2197737802849764</c:v>
                </c:pt>
                <c:pt idx="30">
                  <c:v>-1.0052581189217054</c:v>
                </c:pt>
                <c:pt idx="31">
                  <c:v>-0.48839961400104959</c:v>
                </c:pt>
                <c:pt idx="32">
                  <c:v>0.11628607311372004</c:v>
                </c:pt>
                <c:pt idx="33">
                  <c:v>-1.5221166238423613</c:v>
                </c:pt>
                <c:pt idx="34">
                  <c:v>-0.42871423205298398</c:v>
                </c:pt>
                <c:pt idx="35">
                  <c:v>-2.3413179723204016</c:v>
                </c:pt>
                <c:pt idx="36">
                  <c:v>7.3664804284369154E-2</c:v>
                </c:pt>
                <c:pt idx="37">
                  <c:v>-8.9080158099492462E-2</c:v>
                </c:pt>
                <c:pt idx="38">
                  <c:v>-0.94557273697363986</c:v>
                </c:pt>
                <c:pt idx="39">
                  <c:v>-2.3413179723204016</c:v>
                </c:pt>
                <c:pt idx="40">
                  <c:v>-0.32200834018561253</c:v>
                </c:pt>
                <c:pt idx="41">
                  <c:v>-1.6580681935843091</c:v>
                </c:pt>
                <c:pt idx="42">
                  <c:v>-3.642281311562847E-2</c:v>
                </c:pt>
                <c:pt idx="43">
                  <c:v>0.11628607311372004</c:v>
                </c:pt>
                <c:pt idx="44">
                  <c:v>-2.3413179723204016</c:v>
                </c:pt>
                <c:pt idx="45">
                  <c:v>-0.553281318036284</c:v>
                </c:pt>
                <c:pt idx="46">
                  <c:v>0.25453554668310857</c:v>
                </c:pt>
                <c:pt idx="47">
                  <c:v>-1.6580681935843091</c:v>
                </c:pt>
                <c:pt idx="48">
                  <c:v>-3.642281311562847E-2</c:v>
                </c:pt>
                <c:pt idx="49">
                  <c:v>-0.62435118374299747</c:v>
                </c:pt>
                <c:pt idx="50">
                  <c:v>-0.66259901363128726</c:v>
                </c:pt>
                <c:pt idx="51">
                  <c:v>-1.1412096886636529</c:v>
                </c:pt>
                <c:pt idx="52">
                  <c:v>-2.3413179723204016</c:v>
                </c:pt>
                <c:pt idx="53">
                  <c:v>0.18231761423399132</c:v>
                </c:pt>
                <c:pt idx="54">
                  <c:v>-0.94557273697363986</c:v>
                </c:pt>
                <c:pt idx="55">
                  <c:v>-1.6580681935843091</c:v>
                </c:pt>
                <c:pt idx="56">
                  <c:v>0.10234792520892065</c:v>
                </c:pt>
                <c:pt idx="57">
                  <c:v>-0.66259901363128726</c:v>
                </c:pt>
                <c:pt idx="58">
                  <c:v>-1.6580681935843091</c:v>
                </c:pt>
                <c:pt idx="59">
                  <c:v>-1.2197737802849764</c:v>
                </c:pt>
                <c:pt idx="60">
                  <c:v>-1.0701398229569399</c:v>
                </c:pt>
                <c:pt idx="61">
                  <c:v>-0.20706292578797167</c:v>
                </c:pt>
                <c:pt idx="62">
                  <c:v>-3.642281311562847E-2</c:v>
                </c:pt>
                <c:pt idx="63">
                  <c:v>-1.0701398229569399</c:v>
                </c:pt>
                <c:pt idx="64">
                  <c:v>-1.2197737802849764</c:v>
                </c:pt>
                <c:pt idx="65">
                  <c:v>-0.66259901363128726</c:v>
                </c:pt>
                <c:pt idx="66">
                  <c:v>-0.66259901363128726</c:v>
                </c:pt>
                <c:pt idx="67">
                  <c:v>0.48043569180502771</c:v>
                </c:pt>
                <c:pt idx="68">
                  <c:v>-1.0701398229569399</c:v>
                </c:pt>
                <c:pt idx="69">
                  <c:v>-0.45795990992756042</c:v>
                </c:pt>
                <c:pt idx="70">
                  <c:v>-1.1412096886636529</c:v>
                </c:pt>
                <c:pt idx="71">
                  <c:v>-0.52013500771747279</c:v>
                </c:pt>
                <c:pt idx="72">
                  <c:v>1.2760012085988141E-2</c:v>
                </c:pt>
                <c:pt idx="73">
                  <c:v>-1.1412096886636529</c:v>
                </c:pt>
                <c:pt idx="74">
                  <c:v>-0.89031270452406464</c:v>
                </c:pt>
                <c:pt idx="75">
                  <c:v>-2.0389751287630173</c:v>
                </c:pt>
                <c:pt idx="76">
                  <c:v>-0.42871423205298398</c:v>
                </c:pt>
                <c:pt idx="77">
                  <c:v>-0.553281318036284</c:v>
                </c:pt>
                <c:pt idx="78">
                  <c:v>0.25453554668310857</c:v>
                </c:pt>
                <c:pt idx="79">
                  <c:v>0.75983305720353267</c:v>
                </c:pt>
                <c:pt idx="80">
                  <c:v>-0.12637138849559934</c:v>
                </c:pt>
                <c:pt idx="81">
                  <c:v>-3.2765027968169108E-3</c:v>
                </c:pt>
                <c:pt idx="82">
                  <c:v>-1.6580681935843091</c:v>
                </c:pt>
                <c:pt idx="83">
                  <c:v>-0.42871423205298398</c:v>
                </c:pt>
                <c:pt idx="84">
                  <c:v>0.10234792520892065</c:v>
                </c:pt>
                <c:pt idx="85">
                  <c:v>-0.52013500771747279</c:v>
                </c:pt>
                <c:pt idx="86">
                  <c:v>-1.1412096886636529</c:v>
                </c:pt>
                <c:pt idx="87">
                  <c:v>-0.74553654419367132</c:v>
                </c:pt>
                <c:pt idx="88">
                  <c:v>-0.48839961400104959</c:v>
                </c:pt>
                <c:pt idx="89">
                  <c:v>-1.8244594673997463</c:v>
                </c:pt>
                <c:pt idx="90">
                  <c:v>-0.12637138849559934</c:v>
                </c:pt>
                <c:pt idx="91">
                  <c:v>0.20717555612880648</c:v>
                </c:pt>
                <c:pt idx="92">
                  <c:v>-0.2286780392730155</c:v>
                </c:pt>
                <c:pt idx="93">
                  <c:v>-1.1412096886636529</c:v>
                </c:pt>
                <c:pt idx="94">
                  <c:v>-1.5221166238423613</c:v>
                </c:pt>
                <c:pt idx="95">
                  <c:v>-1.0052581189217054</c:v>
                </c:pt>
                <c:pt idx="96">
                  <c:v>-0.52013500771747279</c:v>
                </c:pt>
                <c:pt idx="97">
                  <c:v>-1.8244594673997463</c:v>
                </c:pt>
                <c:pt idx="98">
                  <c:v>-2.3413179723204016</c:v>
                </c:pt>
                <c:pt idx="99">
                  <c:v>-0.4005724318069358</c:v>
                </c:pt>
                <c:pt idx="100">
                  <c:v>-1.2197737802849764</c:v>
                </c:pt>
                <c:pt idx="101">
                  <c:v>-1.4071712094447202</c:v>
                </c:pt>
                <c:pt idx="102">
                  <c:v>-1.1412096886636529</c:v>
                </c:pt>
                <c:pt idx="103">
                  <c:v>-1.5221166238423613</c:v>
                </c:pt>
                <c:pt idx="104">
                  <c:v>-0.16562619922820032</c:v>
                </c:pt>
                <c:pt idx="105">
                  <c:v>-0.70291527536432075</c:v>
                </c:pt>
                <c:pt idx="106">
                  <c:v>-1.8244594673997463</c:v>
                </c:pt>
                <c:pt idx="107">
                  <c:v>-2.3413179723204016</c:v>
                </c:pt>
                <c:pt idx="108">
                  <c:v>-0.94557273697363986</c:v>
                </c:pt>
                <c:pt idx="109">
                  <c:v>-0.45795990992756042</c:v>
                </c:pt>
                <c:pt idx="110">
                  <c:v>-0.32200834018561253</c:v>
                </c:pt>
                <c:pt idx="111">
                  <c:v>-1.5221166238423613</c:v>
                </c:pt>
                <c:pt idx="112">
                  <c:v>-1.2197737802849764</c:v>
                </c:pt>
                <c:pt idx="113">
                  <c:v>-1.6580681935843091</c:v>
                </c:pt>
                <c:pt idx="114">
                  <c:v>-1.966549662822786E-2</c:v>
                </c:pt>
                <c:pt idx="115">
                  <c:v>-0.12637138849559934</c:v>
                </c:pt>
                <c:pt idx="116">
                  <c:v>0.34108698998282561</c:v>
                </c:pt>
                <c:pt idx="117">
                  <c:v>-2.0389751287630173</c:v>
                </c:pt>
                <c:pt idx="118">
                  <c:v>-0.42871423205298398</c:v>
                </c:pt>
                <c:pt idx="119">
                  <c:v>-1.0052581189217054</c:v>
                </c:pt>
                <c:pt idx="120">
                  <c:v>-0.16562619922820032</c:v>
                </c:pt>
                <c:pt idx="121">
                  <c:v>-0.18605677044366495</c:v>
                </c:pt>
                <c:pt idx="122">
                  <c:v>-1.6580681935843091</c:v>
                </c:pt>
                <c:pt idx="123">
                  <c:v>-1.0701398229569399</c:v>
                </c:pt>
                <c:pt idx="124">
                  <c:v>0.5977981883900374</c:v>
                </c:pt>
                <c:pt idx="125">
                  <c:v>-1.2197737802849764</c:v>
                </c:pt>
                <c:pt idx="126">
                  <c:v>-1.1412096886636529</c:v>
                </c:pt>
                <c:pt idx="127">
                  <c:v>-1.6580681935843091</c:v>
                </c:pt>
                <c:pt idx="128">
                  <c:v>0.25453554668310857</c:v>
                </c:pt>
                <c:pt idx="129">
                  <c:v>-1.4071712094447202</c:v>
                </c:pt>
                <c:pt idx="130">
                  <c:v>-0.48839961400104959</c:v>
                </c:pt>
                <c:pt idx="131">
                  <c:v>-2.3413179723204016</c:v>
                </c:pt>
                <c:pt idx="132">
                  <c:v>-0.52013500771747279</c:v>
                </c:pt>
                <c:pt idx="133">
                  <c:v>0.34108698998282561</c:v>
                </c:pt>
                <c:pt idx="134">
                  <c:v>-0.37345419960340875</c:v>
                </c:pt>
                <c:pt idx="135">
                  <c:v>-0.62435118374299747</c:v>
                </c:pt>
                <c:pt idx="136">
                  <c:v>-0.42871423205298398</c:v>
                </c:pt>
                <c:pt idx="137">
                  <c:v>-1.966549662822786E-2</c:v>
                </c:pt>
                <c:pt idx="138">
                  <c:v>0.85282060049028741</c:v>
                </c:pt>
                <c:pt idx="139">
                  <c:v>-0.2738839526377787</c:v>
                </c:pt>
                <c:pt idx="140">
                  <c:v>-0.16562619922820032</c:v>
                </c:pt>
                <c:pt idx="141">
                  <c:v>-1.0701398229569399</c:v>
                </c:pt>
                <c:pt idx="142">
                  <c:v>0.34108698998282561</c:v>
                </c:pt>
                <c:pt idx="143">
                  <c:v>-0.553281318036284</c:v>
                </c:pt>
                <c:pt idx="144">
                  <c:v>-1.0701398229569399</c:v>
                </c:pt>
                <c:pt idx="145">
                  <c:v>-1.1412096886636529</c:v>
                </c:pt>
                <c:pt idx="146">
                  <c:v>-2.3413179723204016</c:v>
                </c:pt>
                <c:pt idx="147">
                  <c:v>-0.62435118374299747</c:v>
                </c:pt>
                <c:pt idx="148">
                  <c:v>-0.48839961400104959</c:v>
                </c:pt>
                <c:pt idx="149">
                  <c:v>-0.79074245755843453</c:v>
                </c:pt>
                <c:pt idx="150">
                  <c:v>-1.8244594673997463</c:v>
                </c:pt>
                <c:pt idx="151">
                  <c:v>-0.89031270452406464</c:v>
                </c:pt>
                <c:pt idx="152">
                  <c:v>-2.3413179723204016</c:v>
                </c:pt>
                <c:pt idx="153">
                  <c:v>-1.2197737802849764</c:v>
                </c:pt>
                <c:pt idx="154">
                  <c:v>-0.74553654419367132</c:v>
                </c:pt>
                <c:pt idx="155">
                  <c:v>-0.66259901363128726</c:v>
                </c:pt>
                <c:pt idx="156">
                  <c:v>-1.6580681935843091</c:v>
                </c:pt>
                <c:pt idx="157">
                  <c:v>1.0425001100904465</c:v>
                </c:pt>
                <c:pt idx="158">
                  <c:v>0.19485016473504302</c:v>
                </c:pt>
                <c:pt idx="159">
                  <c:v>-1.3076009624790905</c:v>
                </c:pt>
                <c:pt idx="160">
                  <c:v>-3.2765027968169108E-3</c:v>
                </c:pt>
                <c:pt idx="161">
                  <c:v>-0.553281318036284</c:v>
                </c:pt>
                <c:pt idx="162">
                  <c:v>-0.2286780392730155</c:v>
                </c:pt>
                <c:pt idx="163">
                  <c:v>-0.79074245755843453</c:v>
                </c:pt>
                <c:pt idx="164">
                  <c:v>-2.3413179723204016</c:v>
                </c:pt>
                <c:pt idx="165">
                  <c:v>-1.3076009624790905</c:v>
                </c:pt>
                <c:pt idx="166">
                  <c:v>-1.3076009624790905</c:v>
                </c:pt>
                <c:pt idx="167">
                  <c:v>-0.2738839526377787</c:v>
                </c:pt>
                <c:pt idx="168">
                  <c:v>-0.79074245755843453</c:v>
                </c:pt>
                <c:pt idx="169">
                  <c:v>-1.0052581189217054</c:v>
                </c:pt>
                <c:pt idx="170">
                  <c:v>2.845889091960626E-2</c:v>
                </c:pt>
                <c:pt idx="171">
                  <c:v>-1.0701398229569399</c:v>
                </c:pt>
                <c:pt idx="172">
                  <c:v>-1.8244594673997463</c:v>
                </c:pt>
                <c:pt idx="173">
                  <c:v>0.54531739584026173</c:v>
                </c:pt>
                <c:pt idx="174">
                  <c:v>0.27713331245429756</c:v>
                </c:pt>
                <c:pt idx="175">
                  <c:v>-0.37345419960340875</c:v>
                </c:pt>
                <c:pt idx="176">
                  <c:v>0.11628607311372004</c:v>
                </c:pt>
                <c:pt idx="177">
                  <c:v>-1.2197737802849764</c:v>
                </c:pt>
                <c:pt idx="178">
                  <c:v>-1.8244594673997463</c:v>
                </c:pt>
                <c:pt idx="179">
                  <c:v>-2.0389751287630173</c:v>
                </c:pt>
                <c:pt idx="180">
                  <c:v>1.5573621768656534</c:v>
                </c:pt>
                <c:pt idx="181">
                  <c:v>-2.3413179723204016</c:v>
                </c:pt>
                <c:pt idx="182">
                  <c:v>-1.0701398229569399</c:v>
                </c:pt>
                <c:pt idx="183">
                  <c:v>-1.5221166238423613</c:v>
                </c:pt>
                <c:pt idx="184">
                  <c:v>-0.62435118374299747</c:v>
                </c:pt>
                <c:pt idx="185">
                  <c:v>-0.2738839526377787</c:v>
                </c:pt>
                <c:pt idx="186">
                  <c:v>-1.0701398229569399</c:v>
                </c:pt>
                <c:pt idx="187">
                  <c:v>-0.10749267882234165</c:v>
                </c:pt>
                <c:pt idx="188">
                  <c:v>-1.2197737802849764</c:v>
                </c:pt>
                <c:pt idx="189">
                  <c:v>-0.89031270452406464</c:v>
                </c:pt>
                <c:pt idx="190">
                  <c:v>-0.94557273697363986</c:v>
                </c:pt>
                <c:pt idx="191">
                  <c:v>-1.3076009624790905</c:v>
                </c:pt>
                <c:pt idx="192">
                  <c:v>-0.2738839526377787</c:v>
                </c:pt>
                <c:pt idx="193">
                  <c:v>0.33080173447699091</c:v>
                </c:pt>
                <c:pt idx="194">
                  <c:v>-0.48839961400104959</c:v>
                </c:pt>
                <c:pt idx="195">
                  <c:v>-0.94557273697363986</c:v>
                </c:pt>
                <c:pt idx="196">
                  <c:v>-2.3413179723204016</c:v>
                </c:pt>
                <c:pt idx="197">
                  <c:v>-0.74553654419367132</c:v>
                </c:pt>
                <c:pt idx="198">
                  <c:v>-1.6580681935843091</c:v>
                </c:pt>
                <c:pt idx="199">
                  <c:v>-3.642281311562847E-2</c:v>
                </c:pt>
                <c:pt idx="200">
                  <c:v>0.15660233484675357</c:v>
                </c:pt>
                <c:pt idx="201">
                  <c:v>-2.3413179723204016</c:v>
                </c:pt>
                <c:pt idx="202">
                  <c:v>-1.4071712094447202</c:v>
                </c:pt>
                <c:pt idx="203">
                  <c:v>-1.2197737802849764</c:v>
                </c:pt>
                <c:pt idx="204">
                  <c:v>-1.0052581189217054</c:v>
                </c:pt>
                <c:pt idx="205">
                  <c:v>-1.5221166238423613</c:v>
                </c:pt>
                <c:pt idx="206">
                  <c:v>-0.79074245755843453</c:v>
                </c:pt>
                <c:pt idx="207">
                  <c:v>-0.66259901363128726</c:v>
                </c:pt>
                <c:pt idx="208">
                  <c:v>-1.4071712094447202</c:v>
                </c:pt>
                <c:pt idx="209">
                  <c:v>-0.79074245755843453</c:v>
                </c:pt>
                <c:pt idx="210">
                  <c:v>-1.0701398229569399</c:v>
                </c:pt>
                <c:pt idx="211">
                  <c:v>0.29906634076056809</c:v>
                </c:pt>
                <c:pt idx="212">
                  <c:v>-0.74553654419367132</c:v>
                </c:pt>
                <c:pt idx="213">
                  <c:v>0.19485016473504302</c:v>
                </c:pt>
                <c:pt idx="214">
                  <c:v>-0.2738839526377787</c:v>
                </c:pt>
                <c:pt idx="215">
                  <c:v>-1.5221166238423613</c:v>
                </c:pt>
                <c:pt idx="216">
                  <c:v>0.47191366531157947</c:v>
                </c:pt>
                <c:pt idx="217">
                  <c:v>-2.0389751287630173</c:v>
                </c:pt>
                <c:pt idx="218">
                  <c:v>-1.8244594673997463</c:v>
                </c:pt>
                <c:pt idx="219">
                  <c:v>-1.6580681935843091</c:v>
                </c:pt>
                <c:pt idx="220">
                  <c:v>-0.2286780392730155</c:v>
                </c:pt>
                <c:pt idx="221">
                  <c:v>-1.3076009624790905</c:v>
                </c:pt>
                <c:pt idx="222">
                  <c:v>-0.62435118374299747</c:v>
                </c:pt>
                <c:pt idx="223">
                  <c:v>-1.0052581189217054</c:v>
                </c:pt>
                <c:pt idx="224">
                  <c:v>-2.3413179723204016</c:v>
                </c:pt>
                <c:pt idx="225">
                  <c:v>-1.6580681935843091</c:v>
                </c:pt>
                <c:pt idx="226">
                  <c:v>-1.4071712094447202</c:v>
                </c:pt>
                <c:pt idx="227">
                  <c:v>-2.3413179723204016</c:v>
                </c:pt>
                <c:pt idx="228">
                  <c:v>0.19485016473504302</c:v>
                </c:pt>
                <c:pt idx="229">
                  <c:v>-0.70291527536432075</c:v>
                </c:pt>
                <c:pt idx="230">
                  <c:v>-0.66259901363128726</c:v>
                </c:pt>
                <c:pt idx="231">
                  <c:v>-0.74553654419367132</c:v>
                </c:pt>
                <c:pt idx="232">
                  <c:v>-2.0389751287630173</c:v>
                </c:pt>
                <c:pt idx="233">
                  <c:v>-1.6580681935843091</c:v>
                </c:pt>
                <c:pt idx="234">
                  <c:v>0.63314457803437585</c:v>
                </c:pt>
                <c:pt idx="235">
                  <c:v>-1.2197737802849764</c:v>
                </c:pt>
                <c:pt idx="236">
                  <c:v>8.8144272867671847E-2</c:v>
                </c:pt>
                <c:pt idx="237">
                  <c:v>-0.70291527536432075</c:v>
                </c:pt>
                <c:pt idx="238">
                  <c:v>-0.29755797917106813</c:v>
                </c:pt>
                <c:pt idx="239">
                  <c:v>-1.2197737802849764</c:v>
                </c:pt>
                <c:pt idx="240">
                  <c:v>0.5831767551795779</c:v>
                </c:pt>
                <c:pt idx="241">
                  <c:v>-0.48839961400104959</c:v>
                </c:pt>
                <c:pt idx="242">
                  <c:v>-1.6580681935843091</c:v>
                </c:pt>
                <c:pt idx="243">
                  <c:v>-0.42871423205298398</c:v>
                </c:pt>
                <c:pt idx="244">
                  <c:v>0.11628607311372004</c:v>
                </c:pt>
                <c:pt idx="245">
                  <c:v>-1.6580681935843091</c:v>
                </c:pt>
                <c:pt idx="246">
                  <c:v>-0.62435118374299747</c:v>
                </c:pt>
                <c:pt idx="247">
                  <c:v>-2.3413179723204016</c:v>
                </c:pt>
                <c:pt idx="248">
                  <c:v>-0.2738839526377787</c:v>
                </c:pt>
                <c:pt idx="249">
                  <c:v>0.49719300829242796</c:v>
                </c:pt>
                <c:pt idx="250">
                  <c:v>-0.20706292578797167</c:v>
                </c:pt>
                <c:pt idx="251">
                  <c:v>-0.32200834018561253</c:v>
                </c:pt>
                <c:pt idx="252">
                  <c:v>-0.2286780392730155</c:v>
                </c:pt>
                <c:pt idx="253">
                  <c:v>-0.12637138849559934</c:v>
                </c:pt>
                <c:pt idx="254">
                  <c:v>-2.0389751287630173</c:v>
                </c:pt>
                <c:pt idx="255">
                  <c:v>-8.9080158099492462E-2</c:v>
                </c:pt>
                <c:pt idx="256">
                  <c:v>-1.0052581189217054</c:v>
                </c:pt>
                <c:pt idx="257">
                  <c:v>0.41862891667110502</c:v>
                </c:pt>
                <c:pt idx="258">
                  <c:v>-1.6580681935843091</c:v>
                </c:pt>
                <c:pt idx="259">
                  <c:v>0.1695708217541945</c:v>
                </c:pt>
                <c:pt idx="260">
                  <c:v>-8.9080158099492462E-2</c:v>
                </c:pt>
                <c:pt idx="261">
                  <c:v>-1.3076009624790905</c:v>
                </c:pt>
                <c:pt idx="262">
                  <c:v>1.3354801680148092</c:v>
                </c:pt>
                <c:pt idx="263">
                  <c:v>0.26592003044175616</c:v>
                </c:pt>
                <c:pt idx="264">
                  <c:v>-0.16562619922820032</c:v>
                </c:pt>
                <c:pt idx="265">
                  <c:v>0.36124143855048008</c:v>
                </c:pt>
                <c:pt idx="266">
                  <c:v>-2.3413179723204016</c:v>
                </c:pt>
                <c:pt idx="267">
                  <c:v>-1.3076009624790905</c:v>
                </c:pt>
                <c:pt idx="268">
                  <c:v>-1.0052581189217054</c:v>
                </c:pt>
                <c:pt idx="269">
                  <c:v>0.48886142215294326</c:v>
                </c:pt>
                <c:pt idx="270">
                  <c:v>-0.48839961400104959</c:v>
                </c:pt>
                <c:pt idx="271">
                  <c:v>-2.0389751287630173</c:v>
                </c:pt>
                <c:pt idx="272">
                  <c:v>-1.8244594673997463</c:v>
                </c:pt>
                <c:pt idx="273">
                  <c:v>-0.2738839526377787</c:v>
                </c:pt>
                <c:pt idx="274">
                  <c:v>0.36124143855048008</c:v>
                </c:pt>
                <c:pt idx="275">
                  <c:v>-0.83886684510626841</c:v>
                </c:pt>
                <c:pt idx="276">
                  <c:v>-0.66259901363128726</c:v>
                </c:pt>
                <c:pt idx="277">
                  <c:v>0.19485016473504302</c:v>
                </c:pt>
                <c:pt idx="278">
                  <c:v>-1.2197737802849764</c:v>
                </c:pt>
                <c:pt idx="279">
                  <c:v>0.35123230569245584</c:v>
                </c:pt>
                <c:pt idx="280">
                  <c:v>-0.79074245755843453</c:v>
                </c:pt>
                <c:pt idx="281">
                  <c:v>-1.0701398229569399</c:v>
                </c:pt>
                <c:pt idx="282">
                  <c:v>-0.16562619922820032</c:v>
                </c:pt>
                <c:pt idx="283">
                  <c:v>-0.16562619922820032</c:v>
                </c:pt>
                <c:pt idx="284">
                  <c:v>-1.8244594673997463</c:v>
                </c:pt>
                <c:pt idx="285">
                  <c:v>-0.94557273697363986</c:v>
                </c:pt>
                <c:pt idx="286">
                  <c:v>-2.0389751287630173</c:v>
                </c:pt>
                <c:pt idx="287">
                  <c:v>0.5831767551795779</c:v>
                </c:pt>
                <c:pt idx="288">
                  <c:v>-1.0052581189217054</c:v>
                </c:pt>
                <c:pt idx="289">
                  <c:v>-0.94557273697363986</c:v>
                </c:pt>
                <c:pt idx="290">
                  <c:v>0.49719300829242796</c:v>
                </c:pt>
                <c:pt idx="291">
                  <c:v>0.18231761423399132</c:v>
                </c:pt>
                <c:pt idx="292">
                  <c:v>-2.0389751287630173</c:v>
                </c:pt>
                <c:pt idx="293">
                  <c:v>-2.3413179723204016</c:v>
                </c:pt>
                <c:pt idx="294">
                  <c:v>0.63314457803437585</c:v>
                </c:pt>
                <c:pt idx="295">
                  <c:v>-0.48839961400104959</c:v>
                </c:pt>
                <c:pt idx="296">
                  <c:v>-0.66259901363128726</c:v>
                </c:pt>
                <c:pt idx="297">
                  <c:v>-1.8244594673997463</c:v>
                </c:pt>
                <c:pt idx="298">
                  <c:v>-1.0701398229569399</c:v>
                </c:pt>
                <c:pt idx="299">
                  <c:v>0.32037262458624183</c:v>
                </c:pt>
                <c:pt idx="300">
                  <c:v>-1.2197737802849764</c:v>
                </c:pt>
                <c:pt idx="301">
                  <c:v>-2.3413179723204016</c:v>
                </c:pt>
                <c:pt idx="302">
                  <c:v>0.3999862156093727</c:v>
                </c:pt>
                <c:pt idx="303">
                  <c:v>-1.966549662822786E-2</c:v>
                </c:pt>
                <c:pt idx="304">
                  <c:v>-1.6580681935843091</c:v>
                </c:pt>
                <c:pt idx="305">
                  <c:v>-0.83886684510626841</c:v>
                </c:pt>
                <c:pt idx="306">
                  <c:v>0.15660233484675357</c:v>
                </c:pt>
                <c:pt idx="307">
                  <c:v>-0.66259901363128726</c:v>
                </c:pt>
                <c:pt idx="308">
                  <c:v>-1.0701398229569399</c:v>
                </c:pt>
                <c:pt idx="309">
                  <c:v>8.8144272867671847E-2</c:v>
                </c:pt>
                <c:pt idx="310">
                  <c:v>-2.3413179723204016</c:v>
                </c:pt>
                <c:pt idx="311">
                  <c:v>-0.45795990992756042</c:v>
                </c:pt>
                <c:pt idx="312">
                  <c:v>0.48886142215294326</c:v>
                </c:pt>
                <c:pt idx="313">
                  <c:v>0.45457173946307744</c:v>
                </c:pt>
                <c:pt idx="314">
                  <c:v>-0.94557273697363986</c:v>
                </c:pt>
                <c:pt idx="315">
                  <c:v>-2.3413179723204016</c:v>
                </c:pt>
                <c:pt idx="316">
                  <c:v>-2.0389751287630173</c:v>
                </c:pt>
                <c:pt idx="317">
                  <c:v>0.4093658260983139</c:v>
                </c:pt>
                <c:pt idx="318">
                  <c:v>-0.2286780392730155</c:v>
                </c:pt>
                <c:pt idx="319">
                  <c:v>-1.5221166238423613</c:v>
                </c:pt>
                <c:pt idx="320">
                  <c:v>-0.45795990992756042</c:v>
                </c:pt>
                <c:pt idx="321">
                  <c:v>-1.1412096886636529</c:v>
                </c:pt>
                <c:pt idx="322">
                  <c:v>-0.94557273697363986</c:v>
                </c:pt>
                <c:pt idx="323">
                  <c:v>-1.0701398229569399</c:v>
                </c:pt>
                <c:pt idx="324">
                  <c:v>-0.32200834018561253</c:v>
                </c:pt>
                <c:pt idx="325">
                  <c:v>-0.70291527536432075</c:v>
                </c:pt>
                <c:pt idx="326">
                  <c:v>0.36124143855048008</c:v>
                </c:pt>
                <c:pt idx="327">
                  <c:v>-2.0389751287630173</c:v>
                </c:pt>
                <c:pt idx="328">
                  <c:v>-1.8244594673997463</c:v>
                </c:pt>
                <c:pt idx="329">
                  <c:v>-1.6580681935843091</c:v>
                </c:pt>
                <c:pt idx="330">
                  <c:v>0.35123230569245584</c:v>
                </c:pt>
                <c:pt idx="331">
                  <c:v>-2.0389751287630173</c:v>
                </c:pt>
                <c:pt idx="332">
                  <c:v>-0.4005724318069358</c:v>
                </c:pt>
                <c:pt idx="333">
                  <c:v>0.64682696562046482</c:v>
                </c:pt>
                <c:pt idx="334">
                  <c:v>-1.966549662822786E-2</c:v>
                </c:pt>
                <c:pt idx="335">
                  <c:v>-1.6580681935843091</c:v>
                </c:pt>
                <c:pt idx="336">
                  <c:v>-1.6580681935843091</c:v>
                </c:pt>
                <c:pt idx="337">
                  <c:v>-0.79074245755843453</c:v>
                </c:pt>
                <c:pt idx="338">
                  <c:v>-1.1412096886636529</c:v>
                </c:pt>
                <c:pt idx="339">
                  <c:v>-1.6580681935843091</c:v>
                </c:pt>
                <c:pt idx="340">
                  <c:v>-2.0389751287630173</c:v>
                </c:pt>
                <c:pt idx="341">
                  <c:v>-1.2197737802849764</c:v>
                </c:pt>
                <c:pt idx="342">
                  <c:v>-0.48839961400104959</c:v>
                </c:pt>
                <c:pt idx="343">
                  <c:v>-1.6580681935843091</c:v>
                </c:pt>
                <c:pt idx="344">
                  <c:v>-0.553281318036284</c:v>
                </c:pt>
                <c:pt idx="345">
                  <c:v>-0.553281318036284</c:v>
                </c:pt>
                <c:pt idx="346">
                  <c:v>-0.74553654419367132</c:v>
                </c:pt>
                <c:pt idx="347">
                  <c:v>-0.83886684510626841</c:v>
                </c:pt>
                <c:pt idx="348">
                  <c:v>0.35123230569245584</c:v>
                </c:pt>
                <c:pt idx="349">
                  <c:v>0.48043569180502771</c:v>
                </c:pt>
                <c:pt idx="350">
                  <c:v>7.3664804284369154E-2</c:v>
                </c:pt>
                <c:pt idx="351">
                  <c:v>-0.89031270452406464</c:v>
                </c:pt>
                <c:pt idx="352">
                  <c:v>-0.32200834018561253</c:v>
                </c:pt>
                <c:pt idx="353">
                  <c:v>0.55304460697841717</c:v>
                </c:pt>
                <c:pt idx="354">
                  <c:v>-0.62435118374299747</c:v>
                </c:pt>
                <c:pt idx="355">
                  <c:v>0.55304460697841717</c:v>
                </c:pt>
                <c:pt idx="356">
                  <c:v>-0.66259901363128726</c:v>
                </c:pt>
                <c:pt idx="357">
                  <c:v>-1.3076009624790905</c:v>
                </c:pt>
                <c:pt idx="358">
                  <c:v>-0.89031270452406464</c:v>
                </c:pt>
                <c:pt idx="359">
                  <c:v>-0.79074245755843453</c:v>
                </c:pt>
                <c:pt idx="360">
                  <c:v>-1.2197737802849764</c:v>
                </c:pt>
                <c:pt idx="361">
                  <c:v>-1.5221166238423613</c:v>
                </c:pt>
                <c:pt idx="362">
                  <c:v>-1.6580681935843091</c:v>
                </c:pt>
                <c:pt idx="363">
                  <c:v>-1.0701398229569399</c:v>
                </c:pt>
                <c:pt idx="364">
                  <c:v>0.15660233484675357</c:v>
                </c:pt>
                <c:pt idx="365">
                  <c:v>-0.29755797917106813</c:v>
                </c:pt>
                <c:pt idx="366">
                  <c:v>-0.74553654419367132</c:v>
                </c:pt>
                <c:pt idx="367">
                  <c:v>-0.83886684510626841</c:v>
                </c:pt>
                <c:pt idx="368">
                  <c:v>-1.5221166238423613</c:v>
                </c:pt>
                <c:pt idx="369">
                  <c:v>-0.70291527536432075</c:v>
                </c:pt>
                <c:pt idx="370">
                  <c:v>0.52961851700664397</c:v>
                </c:pt>
                <c:pt idx="371">
                  <c:v>-0.2286780392730155</c:v>
                </c:pt>
                <c:pt idx="372">
                  <c:v>-5.3565388822082331E-2</c:v>
                </c:pt>
                <c:pt idx="373">
                  <c:v>-1.5221166238423613</c:v>
                </c:pt>
                <c:pt idx="374">
                  <c:v>-0.62435118374299747</c:v>
                </c:pt>
                <c:pt idx="375">
                  <c:v>-1.0052581189217054</c:v>
                </c:pt>
                <c:pt idx="376">
                  <c:v>-0.48839961400104959</c:v>
                </c:pt>
                <c:pt idx="377">
                  <c:v>-1.8244594673997463</c:v>
                </c:pt>
                <c:pt idx="378">
                  <c:v>0.35123230569245584</c:v>
                </c:pt>
                <c:pt idx="379">
                  <c:v>-0.16562619922820032</c:v>
                </c:pt>
                <c:pt idx="380">
                  <c:v>-1.8244594673997463</c:v>
                </c:pt>
                <c:pt idx="381">
                  <c:v>-1.3076009624790905</c:v>
                </c:pt>
                <c:pt idx="382">
                  <c:v>-1.1412096886636529</c:v>
                </c:pt>
                <c:pt idx="383">
                  <c:v>-2.0389751287630173</c:v>
                </c:pt>
                <c:pt idx="384">
                  <c:v>-2.3413179723204016</c:v>
                </c:pt>
                <c:pt idx="385">
                  <c:v>-0.52013500771747279</c:v>
                </c:pt>
                <c:pt idx="386">
                  <c:v>-0.29755797917106813</c:v>
                </c:pt>
                <c:pt idx="387">
                  <c:v>-1.5221166238423613</c:v>
                </c:pt>
                <c:pt idx="388">
                  <c:v>-1.0701398229569399</c:v>
                </c:pt>
                <c:pt idx="389">
                  <c:v>0.11628607311372004</c:v>
                </c:pt>
                <c:pt idx="390">
                  <c:v>-1.0701398229569399</c:v>
                </c:pt>
                <c:pt idx="391">
                  <c:v>-0.2286780392730155</c:v>
                </c:pt>
                <c:pt idx="392">
                  <c:v>-1.8244594673997463</c:v>
                </c:pt>
                <c:pt idx="393">
                  <c:v>-0.58796986096667958</c:v>
                </c:pt>
                <c:pt idx="394">
                  <c:v>-0.79074245755843453</c:v>
                </c:pt>
                <c:pt idx="395">
                  <c:v>-1.8244594673997463</c:v>
                </c:pt>
                <c:pt idx="396">
                  <c:v>-2.0389751287630173</c:v>
                </c:pt>
                <c:pt idx="397">
                  <c:v>-0.66259901363128726</c:v>
                </c:pt>
                <c:pt idx="398">
                  <c:v>-0.79074245755843453</c:v>
                </c:pt>
                <c:pt idx="399">
                  <c:v>-0.83886684510626841</c:v>
                </c:pt>
                <c:pt idx="400">
                  <c:v>-1.6580681935843091</c:v>
                </c:pt>
                <c:pt idx="401">
                  <c:v>0.25453554668310857</c:v>
                </c:pt>
                <c:pt idx="402">
                  <c:v>-1.2197737802849764</c:v>
                </c:pt>
                <c:pt idx="403">
                  <c:v>-1.6580681935843091</c:v>
                </c:pt>
                <c:pt idx="404">
                  <c:v>-0.18605677044366495</c:v>
                </c:pt>
                <c:pt idx="405">
                  <c:v>-1.8244594673997463</c:v>
                </c:pt>
                <c:pt idx="406">
                  <c:v>-2.0389751287630173</c:v>
                </c:pt>
                <c:pt idx="407">
                  <c:v>0.12996846069980894</c:v>
                </c:pt>
                <c:pt idx="408">
                  <c:v>-1.2197737802849764</c:v>
                </c:pt>
                <c:pt idx="409">
                  <c:v>-0.32200834018561253</c:v>
                </c:pt>
                <c:pt idx="410">
                  <c:v>-1.3076009624790905</c:v>
                </c:pt>
                <c:pt idx="411">
                  <c:v>-1.0701398229569399</c:v>
                </c:pt>
                <c:pt idx="412">
                  <c:v>0.33080173447699091</c:v>
                </c:pt>
                <c:pt idx="413">
                  <c:v>-1.2197737802849764</c:v>
                </c:pt>
                <c:pt idx="414">
                  <c:v>-0.37345419960340875</c:v>
                </c:pt>
                <c:pt idx="415">
                  <c:v>-0.70291527536432075</c:v>
                </c:pt>
                <c:pt idx="416">
                  <c:v>0.55304460697841717</c:v>
                </c:pt>
                <c:pt idx="417">
                  <c:v>-1.6580681935843091</c:v>
                </c:pt>
                <c:pt idx="418">
                  <c:v>-0.16562619922820032</c:v>
                </c:pt>
                <c:pt idx="419">
                  <c:v>-0.42871423205298398</c:v>
                </c:pt>
                <c:pt idx="420">
                  <c:v>-1.8244594673997463</c:v>
                </c:pt>
                <c:pt idx="421">
                  <c:v>-1.6580681935843091</c:v>
                </c:pt>
                <c:pt idx="422">
                  <c:v>-0.4005724318069358</c:v>
                </c:pt>
                <c:pt idx="423">
                  <c:v>-0.48839961400104959</c:v>
                </c:pt>
                <c:pt idx="424">
                  <c:v>7.3664804284369154E-2</c:v>
                </c:pt>
                <c:pt idx="425">
                  <c:v>-1.6580681935843091</c:v>
                </c:pt>
                <c:pt idx="426">
                  <c:v>-1.1412096886636529</c:v>
                </c:pt>
                <c:pt idx="427">
                  <c:v>8.8144272867671847E-2</c:v>
                </c:pt>
                <c:pt idx="428">
                  <c:v>-1.1412096886636529</c:v>
                </c:pt>
                <c:pt idx="429">
                  <c:v>-1.6580681935843091</c:v>
                </c:pt>
                <c:pt idx="430">
                  <c:v>0.3999862156093727</c:v>
                </c:pt>
                <c:pt idx="431">
                  <c:v>-0.45795990992756042</c:v>
                </c:pt>
                <c:pt idx="432">
                  <c:v>-0.12637138849559934</c:v>
                </c:pt>
                <c:pt idx="433">
                  <c:v>-0.14574050871063141</c:v>
                </c:pt>
                <c:pt idx="434">
                  <c:v>-0.2738839526377787</c:v>
                </c:pt>
                <c:pt idx="435">
                  <c:v>-0.79074245755843453</c:v>
                </c:pt>
                <c:pt idx="436">
                  <c:v>-0.62435118374299747</c:v>
                </c:pt>
                <c:pt idx="437">
                  <c:v>-1.8244594673997463</c:v>
                </c:pt>
                <c:pt idx="438">
                  <c:v>-2.3413179723204016</c:v>
                </c:pt>
                <c:pt idx="439">
                  <c:v>-1.3076009624790905</c:v>
                </c:pt>
                <c:pt idx="440">
                  <c:v>-2.3413179723204016</c:v>
                </c:pt>
                <c:pt idx="441">
                  <c:v>-1.5221166238423613</c:v>
                </c:pt>
                <c:pt idx="442">
                  <c:v>-1.8244594673997463</c:v>
                </c:pt>
                <c:pt idx="443">
                  <c:v>-2.0389751287630173</c:v>
                </c:pt>
                <c:pt idx="444">
                  <c:v>-8.9080158099492462E-2</c:v>
                </c:pt>
                <c:pt idx="445">
                  <c:v>-1.5221166238423613</c:v>
                </c:pt>
                <c:pt idx="446">
                  <c:v>-2.3413179723204016</c:v>
                </c:pt>
                <c:pt idx="447">
                  <c:v>-0.48839961400104959</c:v>
                </c:pt>
                <c:pt idx="448">
                  <c:v>0.59052330920502472</c:v>
                </c:pt>
                <c:pt idx="449">
                  <c:v>-0.48839961400104959</c:v>
                </c:pt>
                <c:pt idx="450">
                  <c:v>-1.1412096886636529</c:v>
                </c:pt>
                <c:pt idx="451">
                  <c:v>-0.74553654419367132</c:v>
                </c:pt>
                <c:pt idx="452">
                  <c:v>-7.1111356046023769E-2</c:v>
                </c:pt>
                <c:pt idx="453">
                  <c:v>-2.0389751287630173</c:v>
                </c:pt>
                <c:pt idx="454">
                  <c:v>-1.0701398229569399</c:v>
                </c:pt>
                <c:pt idx="455">
                  <c:v>-0.32200834018561253</c:v>
                </c:pt>
                <c:pt idx="456">
                  <c:v>-1.0052581189217054</c:v>
                </c:pt>
                <c:pt idx="457">
                  <c:v>-1.6580681935843091</c:v>
                </c:pt>
                <c:pt idx="458">
                  <c:v>-1.8244594673997463</c:v>
                </c:pt>
                <c:pt idx="459">
                  <c:v>-0.32200834018561253</c:v>
                </c:pt>
                <c:pt idx="460">
                  <c:v>0.21930052574958769</c:v>
                </c:pt>
                <c:pt idx="461">
                  <c:v>-0.42871423205298398</c:v>
                </c:pt>
                <c:pt idx="462">
                  <c:v>0.25453554668310857</c:v>
                </c:pt>
                <c:pt idx="463">
                  <c:v>-1.0052581189217054</c:v>
                </c:pt>
                <c:pt idx="464">
                  <c:v>-1.0052581189217054</c:v>
                </c:pt>
                <c:pt idx="465">
                  <c:v>-0.553281318036284</c:v>
                </c:pt>
                <c:pt idx="466">
                  <c:v>-1.8244594673997463</c:v>
                </c:pt>
                <c:pt idx="467">
                  <c:v>-1.6580681935843091</c:v>
                </c:pt>
                <c:pt idx="468">
                  <c:v>0.75983305720353267</c:v>
                </c:pt>
                <c:pt idx="469">
                  <c:v>0.7539846413258855</c:v>
                </c:pt>
                <c:pt idx="470">
                  <c:v>0.75983305720353267</c:v>
                </c:pt>
              </c:numCache>
            </c:numRef>
          </c:xVal>
          <c:yVal>
            <c:numRef>
              <c:f>Sheet1!$B$2:$B$472</c:f>
              <c:numCache>
                <c:formatCode>General</c:formatCode>
                <c:ptCount val="471"/>
                <c:pt idx="0">
                  <c:v>1.0881205928453286</c:v>
                </c:pt>
                <c:pt idx="1">
                  <c:v>4.6794678214824588</c:v>
                </c:pt>
                <c:pt idx="2">
                  <c:v>1.0881205928453286</c:v>
                </c:pt>
                <c:pt idx="3">
                  <c:v>1.2613145626453977</c:v>
                </c:pt>
                <c:pt idx="4">
                  <c:v>1.2613145626453977</c:v>
                </c:pt>
                <c:pt idx="5">
                  <c:v>0.39700413523433969</c:v>
                </c:pt>
                <c:pt idx="6">
                  <c:v>0.66509872139694637</c:v>
                </c:pt>
                <c:pt idx="7">
                  <c:v>6.8882880148495473E-2</c:v>
                </c:pt>
                <c:pt idx="8">
                  <c:v>1.6843364340937796</c:v>
                </c:pt>
                <c:pt idx="9">
                  <c:v>1.4162418479311734</c:v>
                </c:pt>
                <c:pt idx="10">
                  <c:v>0.39700413523433969</c:v>
                </c:pt>
                <c:pt idx="11">
                  <c:v>0.89176946424101788</c:v>
                </c:pt>
                <c:pt idx="12">
                  <c:v>0.39700413523433969</c:v>
                </c:pt>
                <c:pt idx="13">
                  <c:v>6.8882880148495473E-2</c:v>
                </c:pt>
                <c:pt idx="14">
                  <c:v>0.39700413523433969</c:v>
                </c:pt>
                <c:pt idx="15">
                  <c:v>0.39700413523433969</c:v>
                </c:pt>
                <c:pt idx="16">
                  <c:v>2.9818448925533416</c:v>
                </c:pt>
                <c:pt idx="17">
                  <c:v>1.0881205928453286</c:v>
                </c:pt>
                <c:pt idx="18">
                  <c:v>0.89176946424101788</c:v>
                </c:pt>
                <c:pt idx="19">
                  <c:v>0.39700413523433969</c:v>
                </c:pt>
                <c:pt idx="20">
                  <c:v>-0.95035483254833775</c:v>
                </c:pt>
                <c:pt idx="21">
                  <c:v>1.6843364340937796</c:v>
                </c:pt>
                <c:pt idx="22">
                  <c:v>1.5563906249658115</c:v>
                </c:pt>
                <c:pt idx="23">
                  <c:v>2.1073583055421619</c:v>
                </c:pt>
                <c:pt idx="24">
                  <c:v>0.66509872139694637</c:v>
                </c:pt>
                <c:pt idx="25">
                  <c:v>0.66509872139694637</c:v>
                </c:pt>
                <c:pt idx="26">
                  <c:v>0.39700413523433969</c:v>
                </c:pt>
                <c:pt idx="27">
                  <c:v>0.39700413523433969</c:v>
                </c:pt>
                <c:pt idx="28">
                  <c:v>6.8882880148495473E-2</c:v>
                </c:pt>
                <c:pt idx="29">
                  <c:v>0.39700413523433969</c:v>
                </c:pt>
                <c:pt idx="30">
                  <c:v>2.8767681165906813</c:v>
                </c:pt>
                <c:pt idx="31">
                  <c:v>6.8882880148495473E-2</c:v>
                </c:pt>
                <c:pt idx="32">
                  <c:v>0.66509872139694637</c:v>
                </c:pt>
                <c:pt idx="33">
                  <c:v>2.4354795606280062</c:v>
                </c:pt>
                <c:pt idx="34">
                  <c:v>0.39700413523433969</c:v>
                </c:pt>
                <c:pt idx="35">
                  <c:v>1.0881205928453286</c:v>
                </c:pt>
                <c:pt idx="36">
                  <c:v>0.89176946424101788</c:v>
                </c:pt>
                <c:pt idx="37">
                  <c:v>0.39700413523433969</c:v>
                </c:pt>
                <c:pt idx="38">
                  <c:v>6.8882880148495473E-2</c:v>
                </c:pt>
                <c:pt idx="39">
                  <c:v>2.28055227534223</c:v>
                </c:pt>
                <c:pt idx="40">
                  <c:v>1.9110071769378509</c:v>
                </c:pt>
                <c:pt idx="41">
                  <c:v>0.89176946424101788</c:v>
                </c:pt>
                <c:pt idx="42">
                  <c:v>1.0881205928453286</c:v>
                </c:pt>
                <c:pt idx="43">
                  <c:v>0.39700413523433969</c:v>
                </c:pt>
                <c:pt idx="44">
                  <c:v>1.5563906249658115</c:v>
                </c:pt>
                <c:pt idx="45">
                  <c:v>0.39700413523433969</c:v>
                </c:pt>
                <c:pt idx="46">
                  <c:v>0.39700413523433969</c:v>
                </c:pt>
                <c:pt idx="47">
                  <c:v>2.28055227534223</c:v>
                </c:pt>
                <c:pt idx="48">
                  <c:v>0.66509872139694637</c:v>
                </c:pt>
                <c:pt idx="49">
                  <c:v>0.66509872139694637</c:v>
                </c:pt>
                <c:pt idx="50">
                  <c:v>0.39700413523433969</c:v>
                </c:pt>
                <c:pt idx="51">
                  <c:v>1.0881205928453286</c:v>
                </c:pt>
                <c:pt idx="52">
                  <c:v>0.66509872139694637</c:v>
                </c:pt>
                <c:pt idx="53">
                  <c:v>0.66509872139694637</c:v>
                </c:pt>
                <c:pt idx="54">
                  <c:v>0.66509872139694637</c:v>
                </c:pt>
                <c:pt idx="55">
                  <c:v>1.9110071769378509</c:v>
                </c:pt>
                <c:pt idx="56">
                  <c:v>1.0881205928453286</c:v>
                </c:pt>
                <c:pt idx="57">
                  <c:v>0.89176946424101788</c:v>
                </c:pt>
                <c:pt idx="58">
                  <c:v>2.28055227534223</c:v>
                </c:pt>
                <c:pt idx="59">
                  <c:v>6.8882880148495473E-2</c:v>
                </c:pt>
                <c:pt idx="60">
                  <c:v>1.0881205928453286</c:v>
                </c:pt>
                <c:pt idx="61">
                  <c:v>0.39700413523433969</c:v>
                </c:pt>
                <c:pt idx="62">
                  <c:v>1.0881205928453286</c:v>
                </c:pt>
                <c:pt idx="63">
                  <c:v>6.8882880148495473E-2</c:v>
                </c:pt>
                <c:pt idx="64">
                  <c:v>0.66509872139694637</c:v>
                </c:pt>
                <c:pt idx="65">
                  <c:v>0.89176946424101788</c:v>
                </c:pt>
                <c:pt idx="66">
                  <c:v>1.2613145626453977</c:v>
                </c:pt>
                <c:pt idx="67">
                  <c:v>0.39700413523433969</c:v>
                </c:pt>
                <c:pt idx="68">
                  <c:v>0.89176946424101788</c:v>
                </c:pt>
                <c:pt idx="69">
                  <c:v>6.8882880148495473E-2</c:v>
                </c:pt>
                <c:pt idx="70">
                  <c:v>-0.35413899129988669</c:v>
                </c:pt>
                <c:pt idx="71">
                  <c:v>0.89176946424101788</c:v>
                </c:pt>
                <c:pt idx="72">
                  <c:v>6.8882880148495473E-2</c:v>
                </c:pt>
                <c:pt idx="73">
                  <c:v>0.66509872139694637</c:v>
                </c:pt>
                <c:pt idx="74">
                  <c:v>0.39700413523433969</c:v>
                </c:pt>
                <c:pt idx="75">
                  <c:v>0.66509872139694637</c:v>
                </c:pt>
                <c:pt idx="76">
                  <c:v>0.39700413523433969</c:v>
                </c:pt>
                <c:pt idx="77">
                  <c:v>-0.35413899129988669</c:v>
                </c:pt>
                <c:pt idx="78">
                  <c:v>1.0881205928453286</c:v>
                </c:pt>
                <c:pt idx="79">
                  <c:v>0.89176946424101788</c:v>
                </c:pt>
                <c:pt idx="80">
                  <c:v>2.575628337662645</c:v>
                </c:pt>
                <c:pt idx="81">
                  <c:v>0.66509872139694637</c:v>
                </c:pt>
                <c:pt idx="82">
                  <c:v>6.8882880148495473E-2</c:v>
                </c:pt>
                <c:pt idx="83">
                  <c:v>1.4162418479311734</c:v>
                </c:pt>
                <c:pt idx="84">
                  <c:v>0.66509872139694637</c:v>
                </c:pt>
                <c:pt idx="85">
                  <c:v>0.39700413523433969</c:v>
                </c:pt>
                <c:pt idx="86">
                  <c:v>1.4162418479311734</c:v>
                </c:pt>
                <c:pt idx="87">
                  <c:v>0.89176946424101788</c:v>
                </c:pt>
                <c:pt idx="88">
                  <c:v>0.39700413523433969</c:v>
                </c:pt>
                <c:pt idx="89">
                  <c:v>0.66509872139694637</c:v>
                </c:pt>
                <c:pt idx="90">
                  <c:v>0.89176946424101788</c:v>
                </c:pt>
                <c:pt idx="91">
                  <c:v>1.4162418479311734</c:v>
                </c:pt>
                <c:pt idx="92">
                  <c:v>1.0881205928453286</c:v>
                </c:pt>
                <c:pt idx="93">
                  <c:v>-0.35413899129988669</c:v>
                </c:pt>
                <c:pt idx="94">
                  <c:v>0.39700413523433969</c:v>
                </c:pt>
                <c:pt idx="95">
                  <c:v>1.4162418479311734</c:v>
                </c:pt>
                <c:pt idx="96">
                  <c:v>0.39700413523433969</c:v>
                </c:pt>
                <c:pt idx="97">
                  <c:v>6.8882880148495473E-2</c:v>
                </c:pt>
                <c:pt idx="98">
                  <c:v>4.6471489558217414</c:v>
                </c:pt>
                <c:pt idx="99">
                  <c:v>6.8882880148495473E-2</c:v>
                </c:pt>
                <c:pt idx="100">
                  <c:v>-0.35413899129988669</c:v>
                </c:pt>
                <c:pt idx="101">
                  <c:v>0.66509872139694637</c:v>
                </c:pt>
                <c:pt idx="102">
                  <c:v>6.8882880148495473E-2</c:v>
                </c:pt>
                <c:pt idx="103">
                  <c:v>1.0881205928453286</c:v>
                </c:pt>
                <c:pt idx="104">
                  <c:v>0.39700413523433969</c:v>
                </c:pt>
                <c:pt idx="105">
                  <c:v>0.39700413523433969</c:v>
                </c:pt>
                <c:pt idx="106">
                  <c:v>2.28055227534223</c:v>
                </c:pt>
                <c:pt idx="107">
                  <c:v>2.7035741467906131</c:v>
                </c:pt>
                <c:pt idx="108">
                  <c:v>2.1965037318041243</c:v>
                </c:pt>
                <c:pt idx="109">
                  <c:v>1.8020351690454701</c:v>
                </c:pt>
                <c:pt idx="110">
                  <c:v>1.4162418479311734</c:v>
                </c:pt>
                <c:pt idx="111">
                  <c:v>2.3600553772590152</c:v>
                </c:pt>
                <c:pt idx="112">
                  <c:v>2.28055227534223</c:v>
                </c:pt>
                <c:pt idx="113">
                  <c:v>6.8882880148495473E-2</c:v>
                </c:pt>
                <c:pt idx="114">
                  <c:v>0.39700413523433969</c:v>
                </c:pt>
                <c:pt idx="115">
                  <c:v>6.8882880148495473E-2</c:v>
                </c:pt>
                <c:pt idx="116">
                  <c:v>6.8882880148495473E-2</c:v>
                </c:pt>
                <c:pt idx="117">
                  <c:v>3.3792930899558487</c:v>
                </c:pt>
                <c:pt idx="118">
                  <c:v>0.39700413523433969</c:v>
                </c:pt>
                <c:pt idx="119">
                  <c:v>0.39700413523433969</c:v>
                </c:pt>
                <c:pt idx="120">
                  <c:v>0.39700413523433969</c:v>
                </c:pt>
                <c:pt idx="121">
                  <c:v>0.39700413523433969</c:v>
                </c:pt>
                <c:pt idx="122">
                  <c:v>-0.35413899129988669</c:v>
                </c:pt>
                <c:pt idx="123">
                  <c:v>0.66509872139694637</c:v>
                </c:pt>
                <c:pt idx="124">
                  <c:v>0.89176946424101788</c:v>
                </c:pt>
                <c:pt idx="125">
                  <c:v>6.8882880148495473E-2</c:v>
                </c:pt>
                <c:pt idx="126">
                  <c:v>0.66509872139694637</c:v>
                </c:pt>
                <c:pt idx="127">
                  <c:v>1.9110071769378509</c:v>
                </c:pt>
                <c:pt idx="128">
                  <c:v>0.39700413523433969</c:v>
                </c:pt>
                <c:pt idx="129">
                  <c:v>6.8882880148495473E-2</c:v>
                </c:pt>
                <c:pt idx="130">
                  <c:v>2.012457689179624</c:v>
                </c:pt>
                <c:pt idx="131">
                  <c:v>3.1265960182389954</c:v>
                </c:pt>
                <c:pt idx="132">
                  <c:v>0.66509872139694637</c:v>
                </c:pt>
                <c:pt idx="133">
                  <c:v>0.39700413523433969</c:v>
                </c:pt>
                <c:pt idx="134">
                  <c:v>1.2613145626453977</c:v>
                </c:pt>
                <c:pt idx="135">
                  <c:v>2.1073583055421619</c:v>
                </c:pt>
                <c:pt idx="136">
                  <c:v>0.39700413523433969</c:v>
                </c:pt>
                <c:pt idx="137">
                  <c:v>0.39700413523433969</c:v>
                </c:pt>
                <c:pt idx="138">
                  <c:v>0.89176946424101788</c:v>
                </c:pt>
                <c:pt idx="139">
                  <c:v>0.66509872139694637</c:v>
                </c:pt>
                <c:pt idx="140">
                  <c:v>2.1073583055421619</c:v>
                </c:pt>
                <c:pt idx="141">
                  <c:v>-0.35413899129988669</c:v>
                </c:pt>
                <c:pt idx="142">
                  <c:v>1.0881205928453286</c:v>
                </c:pt>
                <c:pt idx="143">
                  <c:v>6.8882880148495473E-2</c:v>
                </c:pt>
                <c:pt idx="144">
                  <c:v>0.39700413523433969</c:v>
                </c:pt>
                <c:pt idx="145">
                  <c:v>1.9110071769378509</c:v>
                </c:pt>
                <c:pt idx="146">
                  <c:v>6.8882880148495473E-2</c:v>
                </c:pt>
                <c:pt idx="147">
                  <c:v>6.8882880148495473E-2</c:v>
                </c:pt>
                <c:pt idx="148">
                  <c:v>0.39700413523433969</c:v>
                </c:pt>
                <c:pt idx="149">
                  <c:v>0.66509872139694637</c:v>
                </c:pt>
                <c:pt idx="150">
                  <c:v>2.4354795606280062</c:v>
                </c:pt>
                <c:pt idx="151">
                  <c:v>1.5563906249658115</c:v>
                </c:pt>
                <c:pt idx="152">
                  <c:v>1.2613145626453977</c:v>
                </c:pt>
                <c:pt idx="153">
                  <c:v>1.6843364340937796</c:v>
                </c:pt>
                <c:pt idx="154">
                  <c:v>6.8882880148495473E-2</c:v>
                </c:pt>
                <c:pt idx="155">
                  <c:v>1.4162418479311734</c:v>
                </c:pt>
                <c:pt idx="156">
                  <c:v>-0.35413899129988669</c:v>
                </c:pt>
                <c:pt idx="157">
                  <c:v>0.89176946424101788</c:v>
                </c:pt>
                <c:pt idx="158">
                  <c:v>0.66509872139694637</c:v>
                </c:pt>
                <c:pt idx="159">
                  <c:v>2.7035741467906131</c:v>
                </c:pt>
                <c:pt idx="160">
                  <c:v>1.0881205928453286</c:v>
                </c:pt>
                <c:pt idx="161">
                  <c:v>3.3400787875392992</c:v>
                </c:pt>
                <c:pt idx="162">
                  <c:v>-0.35413899129988669</c:v>
                </c:pt>
                <c:pt idx="163">
                  <c:v>0.66509872139694637</c:v>
                </c:pt>
                <c:pt idx="164">
                  <c:v>2.9818448925533416</c:v>
                </c:pt>
                <c:pt idx="165">
                  <c:v>2.012457689179624</c:v>
                </c:pt>
                <c:pt idx="166">
                  <c:v>-0.35413899129988669</c:v>
                </c:pt>
                <c:pt idx="167">
                  <c:v>6.8882880148495473E-2</c:v>
                </c:pt>
                <c:pt idx="168">
                  <c:v>0.89176946424101788</c:v>
                </c:pt>
                <c:pt idx="169">
                  <c:v>2.8212728817423036</c:v>
                </c:pt>
                <c:pt idx="170">
                  <c:v>1.4162418479311734</c:v>
                </c:pt>
                <c:pt idx="171">
                  <c:v>0.89176946424101788</c:v>
                </c:pt>
                <c:pt idx="172">
                  <c:v>1.0881205928453286</c:v>
                </c:pt>
                <c:pt idx="173">
                  <c:v>0.66509872139694637</c:v>
                </c:pt>
                <c:pt idx="174">
                  <c:v>1.2613145626453977</c:v>
                </c:pt>
                <c:pt idx="175">
                  <c:v>0.66509872139694637</c:v>
                </c:pt>
                <c:pt idx="176">
                  <c:v>0.66509872139694637</c:v>
                </c:pt>
                <c:pt idx="177">
                  <c:v>0.66509872139694637</c:v>
                </c:pt>
                <c:pt idx="178">
                  <c:v>0.66509872139694637</c:v>
                </c:pt>
                <c:pt idx="179">
                  <c:v>0.66509872139694637</c:v>
                </c:pt>
                <c:pt idx="180">
                  <c:v>3.2583661447205285</c:v>
                </c:pt>
                <c:pt idx="181">
                  <c:v>0.66509872139694637</c:v>
                </c:pt>
                <c:pt idx="182">
                  <c:v>0.39700413523433969</c:v>
                </c:pt>
                <c:pt idx="183">
                  <c:v>-0.35413899129988669</c:v>
                </c:pt>
                <c:pt idx="184">
                  <c:v>0.39700413523433969</c:v>
                </c:pt>
                <c:pt idx="185">
                  <c:v>0.89176946424101788</c:v>
                </c:pt>
                <c:pt idx="186">
                  <c:v>0.89176946424101788</c:v>
                </c:pt>
                <c:pt idx="187">
                  <c:v>1.0881205928453286</c:v>
                </c:pt>
                <c:pt idx="188">
                  <c:v>-0.35413899129988669</c:v>
                </c:pt>
                <c:pt idx="189">
                  <c:v>0.39700413523433969</c:v>
                </c:pt>
                <c:pt idx="190">
                  <c:v>2.575628337662645</c:v>
                </c:pt>
                <c:pt idx="191">
                  <c:v>0.89176946424101788</c:v>
                </c:pt>
                <c:pt idx="192">
                  <c:v>0.89176946424101788</c:v>
                </c:pt>
                <c:pt idx="193">
                  <c:v>0.39700413523433969</c:v>
                </c:pt>
                <c:pt idx="194">
                  <c:v>0.89176946424101788</c:v>
                </c:pt>
                <c:pt idx="195">
                  <c:v>1.0881205928453286</c:v>
                </c:pt>
                <c:pt idx="196">
                  <c:v>1.5563906249658115</c:v>
                </c:pt>
                <c:pt idx="197">
                  <c:v>1.8020351690454701</c:v>
                </c:pt>
                <c:pt idx="198">
                  <c:v>-0.35413899129988669</c:v>
                </c:pt>
                <c:pt idx="199">
                  <c:v>6.8882880148495473E-2</c:v>
                </c:pt>
                <c:pt idx="200">
                  <c:v>0.66509872139694637</c:v>
                </c:pt>
                <c:pt idx="201">
                  <c:v>5.8139432657220596</c:v>
                </c:pt>
                <c:pt idx="202">
                  <c:v>2.507223018186302</c:v>
                </c:pt>
                <c:pt idx="203">
                  <c:v>2.575628337662645</c:v>
                </c:pt>
                <c:pt idx="204">
                  <c:v>0.89176946424101788</c:v>
                </c:pt>
                <c:pt idx="205">
                  <c:v>-0.35413899129988669</c:v>
                </c:pt>
                <c:pt idx="206">
                  <c:v>6.8882880148495473E-2</c:v>
                </c:pt>
                <c:pt idx="207">
                  <c:v>6.8882880148495473E-2</c:v>
                </c:pt>
                <c:pt idx="208">
                  <c:v>1.9110071769378509</c:v>
                </c:pt>
                <c:pt idx="209">
                  <c:v>0.39700413523433969</c:v>
                </c:pt>
                <c:pt idx="210">
                  <c:v>6.8882880148495473E-2</c:v>
                </c:pt>
                <c:pt idx="211">
                  <c:v>1.2613145626453977</c:v>
                </c:pt>
                <c:pt idx="212">
                  <c:v>1.0881205928453286</c:v>
                </c:pt>
                <c:pt idx="213">
                  <c:v>1.0881205928453286</c:v>
                </c:pt>
                <c:pt idx="214">
                  <c:v>1.0881205928453286</c:v>
                </c:pt>
                <c:pt idx="215">
                  <c:v>1.8020351690454701</c:v>
                </c:pt>
                <c:pt idx="216">
                  <c:v>0.39700413523433969</c:v>
                </c:pt>
                <c:pt idx="217">
                  <c:v>1.6843364340937796</c:v>
                </c:pt>
                <c:pt idx="218">
                  <c:v>0.89176946424101788</c:v>
                </c:pt>
                <c:pt idx="219">
                  <c:v>6.8882880148495473E-2</c:v>
                </c:pt>
                <c:pt idx="220">
                  <c:v>1.2613145626453977</c:v>
                </c:pt>
                <c:pt idx="221">
                  <c:v>1.0881205928453286</c:v>
                </c:pt>
                <c:pt idx="222">
                  <c:v>1.2613145626453977</c:v>
                </c:pt>
                <c:pt idx="223">
                  <c:v>0.66509872139694637</c:v>
                </c:pt>
                <c:pt idx="224">
                  <c:v>6.8882880148495473E-2</c:v>
                </c:pt>
                <c:pt idx="225">
                  <c:v>6.8882880148495473E-2</c:v>
                </c:pt>
                <c:pt idx="226">
                  <c:v>0.66509872139694637</c:v>
                </c:pt>
                <c:pt idx="227">
                  <c:v>0.66509872139694637</c:v>
                </c:pt>
                <c:pt idx="228">
                  <c:v>0.39700413523433969</c:v>
                </c:pt>
                <c:pt idx="229">
                  <c:v>1.2613145626453977</c:v>
                </c:pt>
                <c:pt idx="230">
                  <c:v>0.39700413523433969</c:v>
                </c:pt>
                <c:pt idx="231">
                  <c:v>1.6843364340937796</c:v>
                </c:pt>
                <c:pt idx="232">
                  <c:v>0.39700413523433969</c:v>
                </c:pt>
                <c:pt idx="233">
                  <c:v>3.3792930899558487</c:v>
                </c:pt>
                <c:pt idx="234">
                  <c:v>0.66509872139694637</c:v>
                </c:pt>
                <c:pt idx="235">
                  <c:v>0.39700413523433969</c:v>
                </c:pt>
                <c:pt idx="236">
                  <c:v>0.89176946424101788</c:v>
                </c:pt>
                <c:pt idx="237">
                  <c:v>6.8882880148495473E-2</c:v>
                </c:pt>
                <c:pt idx="238">
                  <c:v>6.8882880148495473E-2</c:v>
                </c:pt>
                <c:pt idx="239">
                  <c:v>1.4162418479311734</c:v>
                </c:pt>
                <c:pt idx="240">
                  <c:v>1.2613145626453977</c:v>
                </c:pt>
                <c:pt idx="241">
                  <c:v>6.8882880148495473E-2</c:v>
                </c:pt>
                <c:pt idx="242">
                  <c:v>1.8020351690454701</c:v>
                </c:pt>
                <c:pt idx="243">
                  <c:v>6.8882880148495473E-2</c:v>
                </c:pt>
                <c:pt idx="244">
                  <c:v>0.39700413523433969</c:v>
                </c:pt>
                <c:pt idx="245">
                  <c:v>0.89176946424101788</c:v>
                </c:pt>
                <c:pt idx="246">
                  <c:v>2.1073583055421619</c:v>
                </c:pt>
                <c:pt idx="247">
                  <c:v>1.2613145626453977</c:v>
                </c:pt>
                <c:pt idx="248">
                  <c:v>1.2613145626453977</c:v>
                </c:pt>
                <c:pt idx="249">
                  <c:v>0.89176946424101788</c:v>
                </c:pt>
                <c:pt idx="250">
                  <c:v>-0.35413899129988669</c:v>
                </c:pt>
                <c:pt idx="251">
                  <c:v>0.39700413523433969</c:v>
                </c:pt>
                <c:pt idx="252">
                  <c:v>0.66509872139694637</c:v>
                </c:pt>
                <c:pt idx="253">
                  <c:v>0.66509872139694637</c:v>
                </c:pt>
                <c:pt idx="254">
                  <c:v>3.1718441789110954</c:v>
                </c:pt>
                <c:pt idx="255">
                  <c:v>1.2613145626453977</c:v>
                </c:pt>
                <c:pt idx="256">
                  <c:v>1.0881205928453286</c:v>
                </c:pt>
                <c:pt idx="257">
                  <c:v>-0.35413899129988669</c:v>
                </c:pt>
                <c:pt idx="258">
                  <c:v>0.39700413523433969</c:v>
                </c:pt>
                <c:pt idx="259">
                  <c:v>0.89176946424101788</c:v>
                </c:pt>
                <c:pt idx="260">
                  <c:v>0.66509872139694637</c:v>
                </c:pt>
                <c:pt idx="261">
                  <c:v>-0.35413899129988669</c:v>
                </c:pt>
                <c:pt idx="262">
                  <c:v>1.2613145626453977</c:v>
                </c:pt>
                <c:pt idx="263">
                  <c:v>0.39700413523433969</c:v>
                </c:pt>
                <c:pt idx="264">
                  <c:v>1.4162418479311734</c:v>
                </c:pt>
                <c:pt idx="265">
                  <c:v>0.39700413523433969</c:v>
                </c:pt>
                <c:pt idx="266">
                  <c:v>6.8882880148495473E-2</c:v>
                </c:pt>
                <c:pt idx="267">
                  <c:v>0.66509872139694637</c:v>
                </c:pt>
                <c:pt idx="268">
                  <c:v>0.39700413523433969</c:v>
                </c:pt>
                <c:pt idx="269">
                  <c:v>0.39700413523433969</c:v>
                </c:pt>
                <c:pt idx="270">
                  <c:v>1.6843364340937796</c:v>
                </c:pt>
                <c:pt idx="271">
                  <c:v>-0.35413899129988669</c:v>
                </c:pt>
                <c:pt idx="272">
                  <c:v>1.4162418479311734</c:v>
                </c:pt>
                <c:pt idx="273">
                  <c:v>1.0881205928453286</c:v>
                </c:pt>
                <c:pt idx="274">
                  <c:v>0.89176946424101788</c:v>
                </c:pt>
                <c:pt idx="275">
                  <c:v>0.39700413523433969</c:v>
                </c:pt>
                <c:pt idx="276">
                  <c:v>-0.35413899129988669</c:v>
                </c:pt>
                <c:pt idx="277">
                  <c:v>0.66509872139694637</c:v>
                </c:pt>
                <c:pt idx="278">
                  <c:v>1.4162418479311734</c:v>
                </c:pt>
                <c:pt idx="279">
                  <c:v>1.0881205928453286</c:v>
                </c:pt>
                <c:pt idx="280">
                  <c:v>1.2613145626453977</c:v>
                </c:pt>
                <c:pt idx="281">
                  <c:v>0.39700413523433969</c:v>
                </c:pt>
                <c:pt idx="282">
                  <c:v>0.66509872139694637</c:v>
                </c:pt>
                <c:pt idx="283">
                  <c:v>1.5563906249658115</c:v>
                </c:pt>
                <c:pt idx="284">
                  <c:v>1.4162418479311734</c:v>
                </c:pt>
                <c:pt idx="285">
                  <c:v>1.0881205928453286</c:v>
                </c:pt>
                <c:pt idx="286">
                  <c:v>1.2613145626453977</c:v>
                </c:pt>
                <c:pt idx="287">
                  <c:v>1.6843364340937796</c:v>
                </c:pt>
                <c:pt idx="288">
                  <c:v>0.39700413523433969</c:v>
                </c:pt>
                <c:pt idx="289">
                  <c:v>6.8882880148495473E-2</c:v>
                </c:pt>
                <c:pt idx="290">
                  <c:v>6.8882880148495473E-2</c:v>
                </c:pt>
                <c:pt idx="291">
                  <c:v>0.39700413523433969</c:v>
                </c:pt>
                <c:pt idx="292">
                  <c:v>-0.35413899129988669</c:v>
                </c:pt>
                <c:pt idx="293">
                  <c:v>1.4162418479311734</c:v>
                </c:pt>
                <c:pt idx="294">
                  <c:v>0.66509872139694637</c:v>
                </c:pt>
                <c:pt idx="295">
                  <c:v>6.8882880148495473E-2</c:v>
                </c:pt>
                <c:pt idx="296">
                  <c:v>0.39700413523433969</c:v>
                </c:pt>
                <c:pt idx="297">
                  <c:v>2.4354795606280062</c:v>
                </c:pt>
                <c:pt idx="298">
                  <c:v>0.39700413523433969</c:v>
                </c:pt>
                <c:pt idx="299">
                  <c:v>1.4162418479311734</c:v>
                </c:pt>
                <c:pt idx="300">
                  <c:v>1.4162418479311734</c:v>
                </c:pt>
                <c:pt idx="301">
                  <c:v>1.6843364340937796</c:v>
                </c:pt>
                <c:pt idx="302">
                  <c:v>1.0881205928453286</c:v>
                </c:pt>
                <c:pt idx="303">
                  <c:v>1.6843364340937796</c:v>
                </c:pt>
                <c:pt idx="304">
                  <c:v>1.8020351690454701</c:v>
                </c:pt>
                <c:pt idx="305">
                  <c:v>1.0881205928453286</c:v>
                </c:pt>
                <c:pt idx="306">
                  <c:v>0.66509872139694637</c:v>
                </c:pt>
                <c:pt idx="307">
                  <c:v>1.2613145626453977</c:v>
                </c:pt>
                <c:pt idx="308">
                  <c:v>1.6843364340937796</c:v>
                </c:pt>
                <c:pt idx="309">
                  <c:v>1.6843364340937796</c:v>
                </c:pt>
                <c:pt idx="310">
                  <c:v>0.39700413523433969</c:v>
                </c:pt>
                <c:pt idx="311">
                  <c:v>6.8882880148495473E-2</c:v>
                </c:pt>
                <c:pt idx="312">
                  <c:v>-0.35413899129988669</c:v>
                </c:pt>
                <c:pt idx="313">
                  <c:v>1.2613145626453977</c:v>
                </c:pt>
                <c:pt idx="314">
                  <c:v>1.6843364340937796</c:v>
                </c:pt>
                <c:pt idx="315">
                  <c:v>2.7035741467906131</c:v>
                </c:pt>
                <c:pt idx="316">
                  <c:v>3.079911170404638</c:v>
                </c:pt>
                <c:pt idx="317">
                  <c:v>0.66509872139694637</c:v>
                </c:pt>
                <c:pt idx="318">
                  <c:v>6.8882880148495473E-2</c:v>
                </c:pt>
                <c:pt idx="319">
                  <c:v>-0.35413899129988669</c:v>
                </c:pt>
                <c:pt idx="320">
                  <c:v>2.507223018186302</c:v>
                </c:pt>
                <c:pt idx="321">
                  <c:v>0.66509872139694637</c:v>
                </c:pt>
                <c:pt idx="322">
                  <c:v>1.2613145626453977</c:v>
                </c:pt>
                <c:pt idx="323">
                  <c:v>6.8882880148495473E-2</c:v>
                </c:pt>
                <c:pt idx="324">
                  <c:v>1.6843364340937796</c:v>
                </c:pt>
                <c:pt idx="325">
                  <c:v>2.3600553772590152</c:v>
                </c:pt>
                <c:pt idx="326">
                  <c:v>1.2613145626453977</c:v>
                </c:pt>
                <c:pt idx="327">
                  <c:v>1.6843364340937796</c:v>
                </c:pt>
                <c:pt idx="328">
                  <c:v>0.39700413523433969</c:v>
                </c:pt>
                <c:pt idx="329">
                  <c:v>1.8020351690454701</c:v>
                </c:pt>
                <c:pt idx="330">
                  <c:v>0.39700413523433969</c:v>
                </c:pt>
                <c:pt idx="331">
                  <c:v>-0.35413899129988669</c:v>
                </c:pt>
                <c:pt idx="332">
                  <c:v>1.0881205928453286</c:v>
                </c:pt>
                <c:pt idx="333">
                  <c:v>1.2613145626453977</c:v>
                </c:pt>
                <c:pt idx="334">
                  <c:v>0.39700413523433969</c:v>
                </c:pt>
                <c:pt idx="335">
                  <c:v>3.1265960182389954</c:v>
                </c:pt>
                <c:pt idx="336">
                  <c:v>1.0881205928453286</c:v>
                </c:pt>
                <c:pt idx="337">
                  <c:v>1.9110071769378509</c:v>
                </c:pt>
                <c:pt idx="338">
                  <c:v>0.39700413523433969</c:v>
                </c:pt>
                <c:pt idx="339">
                  <c:v>2.507223018186302</c:v>
                </c:pt>
                <c:pt idx="340">
                  <c:v>0.89176946424101788</c:v>
                </c:pt>
                <c:pt idx="341">
                  <c:v>0.89176946424101788</c:v>
                </c:pt>
                <c:pt idx="342">
                  <c:v>2.28055227534223</c:v>
                </c:pt>
                <c:pt idx="343">
                  <c:v>0.89176946424101788</c:v>
                </c:pt>
                <c:pt idx="344">
                  <c:v>-0.35413899129988669</c:v>
                </c:pt>
                <c:pt idx="345">
                  <c:v>0.39700413523433969</c:v>
                </c:pt>
                <c:pt idx="346">
                  <c:v>1.8020351690454701</c:v>
                </c:pt>
                <c:pt idx="347">
                  <c:v>-0.35413899129988669</c:v>
                </c:pt>
                <c:pt idx="348">
                  <c:v>0.66509872139694637</c:v>
                </c:pt>
                <c:pt idx="349">
                  <c:v>0.66509872139694637</c:v>
                </c:pt>
                <c:pt idx="350">
                  <c:v>0.39700413523433969</c:v>
                </c:pt>
                <c:pt idx="351">
                  <c:v>1.8020351690454701</c:v>
                </c:pt>
                <c:pt idx="352">
                  <c:v>0.66509872139694637</c:v>
                </c:pt>
                <c:pt idx="353">
                  <c:v>0.66509872139694637</c:v>
                </c:pt>
                <c:pt idx="354">
                  <c:v>6.8882880148495473E-2</c:v>
                </c:pt>
                <c:pt idx="355">
                  <c:v>0.66509872139694637</c:v>
                </c:pt>
                <c:pt idx="356">
                  <c:v>0.66509872139694637</c:v>
                </c:pt>
                <c:pt idx="357">
                  <c:v>3.1718441789110954</c:v>
                </c:pt>
                <c:pt idx="358">
                  <c:v>1.0881205928453286</c:v>
                </c:pt>
                <c:pt idx="359">
                  <c:v>0.89176946424101788</c:v>
                </c:pt>
                <c:pt idx="360">
                  <c:v>0.89176946424101788</c:v>
                </c:pt>
                <c:pt idx="361">
                  <c:v>6.8882880148495473E-2</c:v>
                </c:pt>
                <c:pt idx="362">
                  <c:v>0.39700413523433969</c:v>
                </c:pt>
                <c:pt idx="363">
                  <c:v>1.0881205928453286</c:v>
                </c:pt>
                <c:pt idx="364">
                  <c:v>0.39700413523433969</c:v>
                </c:pt>
                <c:pt idx="365">
                  <c:v>6.8882880148495473E-2</c:v>
                </c:pt>
                <c:pt idx="366">
                  <c:v>0.39700413523433969</c:v>
                </c:pt>
                <c:pt idx="367">
                  <c:v>0.89176946424101788</c:v>
                </c:pt>
                <c:pt idx="368">
                  <c:v>-0.35413899129988669</c:v>
                </c:pt>
                <c:pt idx="369">
                  <c:v>0.39700413523433969</c:v>
                </c:pt>
                <c:pt idx="370">
                  <c:v>0.39700413523433969</c:v>
                </c:pt>
                <c:pt idx="371">
                  <c:v>1.5563906249658115</c:v>
                </c:pt>
                <c:pt idx="372">
                  <c:v>0.39700413523433969</c:v>
                </c:pt>
                <c:pt idx="373">
                  <c:v>0.66509872139694637</c:v>
                </c:pt>
                <c:pt idx="374">
                  <c:v>6.8882880148495473E-2</c:v>
                </c:pt>
                <c:pt idx="375">
                  <c:v>1.6843364340937796</c:v>
                </c:pt>
                <c:pt idx="376">
                  <c:v>1.0881205928453286</c:v>
                </c:pt>
                <c:pt idx="377">
                  <c:v>1.0881205928453286</c:v>
                </c:pt>
                <c:pt idx="378">
                  <c:v>2.012457689179624</c:v>
                </c:pt>
                <c:pt idx="379">
                  <c:v>0.39700413523433969</c:v>
                </c:pt>
                <c:pt idx="380">
                  <c:v>6.8882880148495473E-2</c:v>
                </c:pt>
                <c:pt idx="381">
                  <c:v>2.6409923960887918</c:v>
                </c:pt>
                <c:pt idx="382">
                  <c:v>1.0881205928453286</c:v>
                </c:pt>
                <c:pt idx="383">
                  <c:v>2.012457689179624</c:v>
                </c:pt>
                <c:pt idx="384">
                  <c:v>2.8767681165906813</c:v>
                </c:pt>
                <c:pt idx="385">
                  <c:v>0.39700413523433969</c:v>
                </c:pt>
                <c:pt idx="386">
                  <c:v>0.39700413523433969</c:v>
                </c:pt>
                <c:pt idx="387">
                  <c:v>0.66509872139694637</c:v>
                </c:pt>
                <c:pt idx="388">
                  <c:v>6.8882880148495473E-2</c:v>
                </c:pt>
                <c:pt idx="389">
                  <c:v>1.4162418479311734</c:v>
                </c:pt>
                <c:pt idx="390">
                  <c:v>1.6843364340937796</c:v>
                </c:pt>
                <c:pt idx="391">
                  <c:v>1.4162418479311734</c:v>
                </c:pt>
                <c:pt idx="392">
                  <c:v>0.39700413523433969</c:v>
                </c:pt>
                <c:pt idx="393">
                  <c:v>1.0881205928453286</c:v>
                </c:pt>
                <c:pt idx="394">
                  <c:v>6.8882880148495473E-2</c:v>
                </c:pt>
                <c:pt idx="395">
                  <c:v>0.89176946424101788</c:v>
                </c:pt>
                <c:pt idx="396">
                  <c:v>2.1073583055421619</c:v>
                </c:pt>
                <c:pt idx="397">
                  <c:v>0.66509872139694637</c:v>
                </c:pt>
                <c:pt idx="398">
                  <c:v>1.2613145626453977</c:v>
                </c:pt>
                <c:pt idx="399">
                  <c:v>1.0881205928453286</c:v>
                </c:pt>
                <c:pt idx="400">
                  <c:v>1.0881205928453286</c:v>
                </c:pt>
                <c:pt idx="401">
                  <c:v>0.66509872139694637</c:v>
                </c:pt>
                <c:pt idx="402">
                  <c:v>0.89176946424101788</c:v>
                </c:pt>
                <c:pt idx="403">
                  <c:v>2.1073583055421619</c:v>
                </c:pt>
                <c:pt idx="404">
                  <c:v>0.66509872139694637</c:v>
                </c:pt>
                <c:pt idx="405">
                  <c:v>0.39700413523433969</c:v>
                </c:pt>
                <c:pt idx="406">
                  <c:v>2.1073583055421619</c:v>
                </c:pt>
                <c:pt idx="407">
                  <c:v>6.8882880148495473E-2</c:v>
                </c:pt>
                <c:pt idx="408">
                  <c:v>1.2613145626453977</c:v>
                </c:pt>
                <c:pt idx="409">
                  <c:v>1.0881205928453286</c:v>
                </c:pt>
                <c:pt idx="410">
                  <c:v>0.66509872139694637</c:v>
                </c:pt>
                <c:pt idx="411">
                  <c:v>6.8882880148495473E-2</c:v>
                </c:pt>
                <c:pt idx="412">
                  <c:v>0.89176946424101788</c:v>
                </c:pt>
                <c:pt idx="413">
                  <c:v>1.8020351690454701</c:v>
                </c:pt>
                <c:pt idx="414">
                  <c:v>0.89176946424101788</c:v>
                </c:pt>
                <c:pt idx="415">
                  <c:v>0.89176946424101788</c:v>
                </c:pt>
                <c:pt idx="416">
                  <c:v>0.39700413523433969</c:v>
                </c:pt>
                <c:pt idx="417">
                  <c:v>1.2613145626453977</c:v>
                </c:pt>
                <c:pt idx="418">
                  <c:v>0.89176946424101788</c:v>
                </c:pt>
                <c:pt idx="419">
                  <c:v>2.1073583055421619</c:v>
                </c:pt>
                <c:pt idx="420">
                  <c:v>0.39700413523433969</c:v>
                </c:pt>
                <c:pt idx="421">
                  <c:v>0.66509872139694637</c:v>
                </c:pt>
                <c:pt idx="422">
                  <c:v>0.66509872139694637</c:v>
                </c:pt>
                <c:pt idx="423">
                  <c:v>1.0881205928453286</c:v>
                </c:pt>
                <c:pt idx="424">
                  <c:v>1.6843364340937796</c:v>
                </c:pt>
                <c:pt idx="425">
                  <c:v>0.89176946424101788</c:v>
                </c:pt>
                <c:pt idx="426">
                  <c:v>0.89176946424101788</c:v>
                </c:pt>
                <c:pt idx="427">
                  <c:v>0.89176946424101788</c:v>
                </c:pt>
                <c:pt idx="428">
                  <c:v>1.0881205928453286</c:v>
                </c:pt>
                <c:pt idx="429">
                  <c:v>1.2613145626453977</c:v>
                </c:pt>
                <c:pt idx="430">
                  <c:v>0.39700413523433969</c:v>
                </c:pt>
                <c:pt idx="431">
                  <c:v>0.39700413523433969</c:v>
                </c:pt>
                <c:pt idx="432">
                  <c:v>1.2613145626453977</c:v>
                </c:pt>
                <c:pt idx="433">
                  <c:v>1.4162418479311734</c:v>
                </c:pt>
                <c:pt idx="434">
                  <c:v>1.0881205928453286</c:v>
                </c:pt>
                <c:pt idx="435">
                  <c:v>0.66509872139694637</c:v>
                </c:pt>
                <c:pt idx="436">
                  <c:v>0.39700413523433969</c:v>
                </c:pt>
                <c:pt idx="437">
                  <c:v>-0.35413899129988669</c:v>
                </c:pt>
                <c:pt idx="438">
                  <c:v>-0.35413899129988669</c:v>
                </c:pt>
                <c:pt idx="439">
                  <c:v>0.39700413523433969</c:v>
                </c:pt>
                <c:pt idx="440">
                  <c:v>6.8882880148495473E-2</c:v>
                </c:pt>
                <c:pt idx="441">
                  <c:v>1.5563906249658115</c:v>
                </c:pt>
                <c:pt idx="442">
                  <c:v>2.575628337662645</c:v>
                </c:pt>
                <c:pt idx="443">
                  <c:v>2.28055227534223</c:v>
                </c:pt>
                <c:pt idx="444">
                  <c:v>6.8882880148495473E-2</c:v>
                </c:pt>
                <c:pt idx="445">
                  <c:v>0.39700413523433969</c:v>
                </c:pt>
                <c:pt idx="446">
                  <c:v>0.39700413523433969</c:v>
                </c:pt>
                <c:pt idx="447">
                  <c:v>6.8882880148495473E-2</c:v>
                </c:pt>
                <c:pt idx="448">
                  <c:v>0.66509872139694637</c:v>
                </c:pt>
                <c:pt idx="449">
                  <c:v>1.6843364340937796</c:v>
                </c:pt>
                <c:pt idx="450">
                  <c:v>0.39700413523433969</c:v>
                </c:pt>
                <c:pt idx="451">
                  <c:v>1.2613145626453977</c:v>
                </c:pt>
                <c:pt idx="452">
                  <c:v>1.2613145626453977</c:v>
                </c:pt>
                <c:pt idx="453">
                  <c:v>1.6843364340937796</c:v>
                </c:pt>
                <c:pt idx="454">
                  <c:v>-0.35413899129988669</c:v>
                </c:pt>
                <c:pt idx="455">
                  <c:v>0.66509872139694637</c:v>
                </c:pt>
                <c:pt idx="456">
                  <c:v>0.66509872139694637</c:v>
                </c:pt>
                <c:pt idx="457">
                  <c:v>0.89176946424101788</c:v>
                </c:pt>
                <c:pt idx="458">
                  <c:v>2.1073583055421619</c:v>
                </c:pt>
                <c:pt idx="459">
                  <c:v>1.0881205928453286</c:v>
                </c:pt>
                <c:pt idx="460">
                  <c:v>1.2613145626453977</c:v>
                </c:pt>
                <c:pt idx="461">
                  <c:v>0.39700413523433969</c:v>
                </c:pt>
                <c:pt idx="462">
                  <c:v>1.0881205928453286</c:v>
                </c:pt>
                <c:pt idx="463">
                  <c:v>1.6843364340937796</c:v>
                </c:pt>
                <c:pt idx="464">
                  <c:v>-0.35413899129988669</c:v>
                </c:pt>
                <c:pt idx="465">
                  <c:v>6.8882880148495473E-2</c:v>
                </c:pt>
                <c:pt idx="466">
                  <c:v>2.507223018186302</c:v>
                </c:pt>
                <c:pt idx="467">
                  <c:v>1.9110071769378509</c:v>
                </c:pt>
                <c:pt idx="468">
                  <c:v>1.2613145626453977</c:v>
                </c:pt>
                <c:pt idx="469">
                  <c:v>1.4162418479311734</c:v>
                </c:pt>
                <c:pt idx="470">
                  <c:v>0.66509872139694637</c:v>
                </c:pt>
              </c:numCache>
            </c:numRef>
          </c:yVal>
          <c:smooth val="0"/>
          <c:extLst>
            <c:ext xmlns:c16="http://schemas.microsoft.com/office/drawing/2014/chart" uri="{C3380CC4-5D6E-409C-BE32-E72D297353CC}">
              <c16:uniqueId val="{00000000-4D17-46B1-9596-10B74632A872}"/>
            </c:ext>
          </c:extLst>
        </c:ser>
        <c:ser>
          <c:idx val="1"/>
          <c:order val="1"/>
          <c:tx>
            <c:strRef>
              <c:f>Sheet1!$B$474</c:f>
              <c:strCache>
                <c:ptCount val="1"/>
                <c:pt idx="0">
                  <c:v>Low-Value Lapsing</c:v>
                </c:pt>
              </c:strCache>
            </c:strRef>
          </c:tx>
          <c:spPr>
            <a:ln w="47625">
              <a:noFill/>
            </a:ln>
          </c:spPr>
          <c:marker>
            <c:symbol val="circle"/>
            <c:size val="4"/>
            <c:spPr>
              <a:solidFill>
                <a:srgbClr val="A9B1C6"/>
              </a:solidFill>
              <a:ln>
                <a:noFill/>
              </a:ln>
            </c:spPr>
          </c:marker>
          <c:xVal>
            <c:numRef>
              <c:f>Sheet1!$A$475:$A$1203</c:f>
              <c:numCache>
                <c:formatCode>General</c:formatCode>
                <c:ptCount val="729"/>
                <c:pt idx="0">
                  <c:v>1.1903193446880653</c:v>
                </c:pt>
                <c:pt idx="1">
                  <c:v>0.25453554668310857</c:v>
                </c:pt>
                <c:pt idx="2">
                  <c:v>7.3664804284369154E-2</c:v>
                </c:pt>
                <c:pt idx="3">
                  <c:v>1.5411952736395744</c:v>
                </c:pt>
                <c:pt idx="4">
                  <c:v>1.5593586150111023</c:v>
                </c:pt>
                <c:pt idx="5">
                  <c:v>0.52164336930697264</c:v>
                </c:pt>
                <c:pt idx="6">
                  <c:v>1.4121575120496297</c:v>
                </c:pt>
                <c:pt idx="7">
                  <c:v>1.5309100181337396</c:v>
                </c:pt>
                <c:pt idx="8">
                  <c:v>0.3999862156093727</c:v>
                </c:pt>
                <c:pt idx="9">
                  <c:v>1.3381672671457194</c:v>
                </c:pt>
                <c:pt idx="10">
                  <c:v>-8.9080158099492462E-2</c:v>
                </c:pt>
                <c:pt idx="11">
                  <c:v>-0.66259901363128726</c:v>
                </c:pt>
                <c:pt idx="12">
                  <c:v>0.81050177303676851</c:v>
                </c:pt>
                <c:pt idx="13">
                  <c:v>1.2530175355908995</c:v>
                </c:pt>
                <c:pt idx="14">
                  <c:v>0.57575709991375157</c:v>
                </c:pt>
                <c:pt idx="15">
                  <c:v>0.1695708217541945</c:v>
                </c:pt>
                <c:pt idx="16">
                  <c:v>1.4313397711681097</c:v>
                </c:pt>
                <c:pt idx="17">
                  <c:v>0.73012119037854772</c:v>
                </c:pt>
                <c:pt idx="18">
                  <c:v>1.2968071727428312</c:v>
                </c:pt>
                <c:pt idx="19">
                  <c:v>-0.45795990992756042</c:v>
                </c:pt>
                <c:pt idx="20">
                  <c:v>-0.58796986096667958</c:v>
                </c:pt>
                <c:pt idx="21">
                  <c:v>-0.16562619922820032</c:v>
                </c:pt>
                <c:pt idx="22">
                  <c:v>1.0660495157156342</c:v>
                </c:pt>
                <c:pt idx="23">
                  <c:v>-0.52013500771747279</c:v>
                </c:pt>
                <c:pt idx="24">
                  <c:v>-0.29755797917106813</c:v>
                </c:pt>
                <c:pt idx="25">
                  <c:v>1.0963346609323383</c:v>
                </c:pt>
                <c:pt idx="26">
                  <c:v>0.25453554668310857</c:v>
                </c:pt>
                <c:pt idx="27">
                  <c:v>-1.3076009624790905</c:v>
                </c:pt>
                <c:pt idx="28">
                  <c:v>-0.62435118374299747</c:v>
                </c:pt>
                <c:pt idx="29">
                  <c:v>-0.16562619922820032</c:v>
                </c:pt>
                <c:pt idx="30">
                  <c:v>1.1110281255572563</c:v>
                </c:pt>
                <c:pt idx="31">
                  <c:v>0.14340430531724743</c:v>
                </c:pt>
                <c:pt idx="32">
                  <c:v>0.98447435313616505</c:v>
                </c:pt>
                <c:pt idx="33">
                  <c:v>0.46329311609857321</c:v>
                </c:pt>
                <c:pt idx="34">
                  <c:v>0.3999862156093727</c:v>
                </c:pt>
                <c:pt idx="35">
                  <c:v>-8.9080158099492462E-2</c:v>
                </c:pt>
                <c:pt idx="36">
                  <c:v>-0.94557273697363986</c:v>
                </c:pt>
                <c:pt idx="37">
                  <c:v>0.21930052574958769</c:v>
                </c:pt>
                <c:pt idx="38">
                  <c:v>0.74214837372918874</c:v>
                </c:pt>
                <c:pt idx="39">
                  <c:v>0.79399181737495339</c:v>
                </c:pt>
                <c:pt idx="40">
                  <c:v>0.97580368332479439</c:v>
                </c:pt>
                <c:pt idx="41">
                  <c:v>0.65357514924984017</c:v>
                </c:pt>
                <c:pt idx="42">
                  <c:v>0.21930052574958769</c:v>
                </c:pt>
                <c:pt idx="43">
                  <c:v>0.7713940516037644</c:v>
                </c:pt>
                <c:pt idx="44">
                  <c:v>0.38086544483939766</c:v>
                </c:pt>
                <c:pt idx="45">
                  <c:v>1.2096884649030972</c:v>
                </c:pt>
                <c:pt idx="46">
                  <c:v>1.2760012085988141E-2</c:v>
                </c:pt>
                <c:pt idx="47">
                  <c:v>1.2968071727428312</c:v>
                </c:pt>
                <c:pt idx="48">
                  <c:v>1.4337032254506845</c:v>
                </c:pt>
                <c:pt idx="49">
                  <c:v>-0.79074245755843453</c:v>
                </c:pt>
                <c:pt idx="50">
                  <c:v>1.5432354095275025</c:v>
                </c:pt>
                <c:pt idx="51">
                  <c:v>-0.4005724318069358</c:v>
                </c:pt>
                <c:pt idx="52">
                  <c:v>1.2911150137896203</c:v>
                </c:pt>
                <c:pt idx="53">
                  <c:v>0.24297455228287679</c:v>
                </c:pt>
                <c:pt idx="54">
                  <c:v>0.52164336930697264</c:v>
                </c:pt>
                <c:pt idx="55">
                  <c:v>1.0621759007609177</c:v>
                </c:pt>
                <c:pt idx="56">
                  <c:v>1.5593586150111023</c:v>
                </c:pt>
                <c:pt idx="57">
                  <c:v>-3.642281311562847E-2</c:v>
                </c:pt>
                <c:pt idx="58">
                  <c:v>0.80503897056829621</c:v>
                </c:pt>
                <c:pt idx="59">
                  <c:v>0.21930052574958769</c:v>
                </c:pt>
                <c:pt idx="60">
                  <c:v>0.36124143855048008</c:v>
                </c:pt>
                <c:pt idx="61">
                  <c:v>0.42777834682116339</c:v>
                </c:pt>
                <c:pt idx="62">
                  <c:v>0.25453554668310857</c:v>
                </c:pt>
                <c:pt idx="63">
                  <c:v>0.37111799621002445</c:v>
                </c:pt>
                <c:pt idx="64">
                  <c:v>0.30979557913268452</c:v>
                </c:pt>
                <c:pt idx="65">
                  <c:v>1.2968071727428312</c:v>
                </c:pt>
                <c:pt idx="66">
                  <c:v>0.36124143855048008</c:v>
                </c:pt>
                <c:pt idx="67">
                  <c:v>0.38086544483939766</c:v>
                </c:pt>
                <c:pt idx="68">
                  <c:v>0.99304535786877746</c:v>
                </c:pt>
                <c:pt idx="69">
                  <c:v>-0.45795990992756042</c:v>
                </c:pt>
                <c:pt idx="70">
                  <c:v>-0.62435118374299747</c:v>
                </c:pt>
                <c:pt idx="71">
                  <c:v>-0.12637138849559934</c:v>
                </c:pt>
                <c:pt idx="72">
                  <c:v>0.78840625416505028</c:v>
                </c:pt>
                <c:pt idx="73">
                  <c:v>-1.3076009624790905</c:v>
                </c:pt>
                <c:pt idx="74">
                  <c:v>-0.62435118374299747</c:v>
                </c:pt>
                <c:pt idx="75">
                  <c:v>0.1695708217541945</c:v>
                </c:pt>
                <c:pt idx="76">
                  <c:v>0.12996846069980894</c:v>
                </c:pt>
                <c:pt idx="77">
                  <c:v>0.69917611915464717</c:v>
                </c:pt>
                <c:pt idx="78">
                  <c:v>-0.553281318036284</c:v>
                </c:pt>
                <c:pt idx="79">
                  <c:v>1.3748039998241373</c:v>
                </c:pt>
                <c:pt idx="80">
                  <c:v>0.43681687205514175</c:v>
                </c:pt>
                <c:pt idx="81">
                  <c:v>0.98877217023223529</c:v>
                </c:pt>
                <c:pt idx="82">
                  <c:v>0.26592003044175616</c:v>
                </c:pt>
                <c:pt idx="83">
                  <c:v>1.0813458305909291</c:v>
                </c:pt>
                <c:pt idx="84">
                  <c:v>-0.553281318036284</c:v>
                </c:pt>
                <c:pt idx="85">
                  <c:v>0.97143024438373327</c:v>
                </c:pt>
                <c:pt idx="86">
                  <c:v>0.85282060049028741</c:v>
                </c:pt>
                <c:pt idx="87">
                  <c:v>0.98447435313616505</c:v>
                </c:pt>
                <c:pt idx="88">
                  <c:v>-0.62435118374299747</c:v>
                </c:pt>
                <c:pt idx="89">
                  <c:v>1.0181826550920976</c:v>
                </c:pt>
                <c:pt idx="90">
                  <c:v>-0.52013500771747279</c:v>
                </c:pt>
                <c:pt idx="91">
                  <c:v>-0.4005724318069358</c:v>
                </c:pt>
                <c:pt idx="92">
                  <c:v>1.2347553362478338</c:v>
                </c:pt>
                <c:pt idx="93">
                  <c:v>2.845889091960626E-2</c:v>
                </c:pt>
                <c:pt idx="94">
                  <c:v>0.47191366531157947</c:v>
                </c:pt>
                <c:pt idx="95">
                  <c:v>0.15660233484675357</c:v>
                </c:pt>
                <c:pt idx="96">
                  <c:v>1.1870416725891451</c:v>
                </c:pt>
                <c:pt idx="97">
                  <c:v>1.2760012085988141E-2</c:v>
                </c:pt>
                <c:pt idx="98">
                  <c:v>1.2347553362478338</c:v>
                </c:pt>
                <c:pt idx="99">
                  <c:v>0.84766023939764679</c:v>
                </c:pt>
                <c:pt idx="100">
                  <c:v>0.95367537697579763</c:v>
                </c:pt>
                <c:pt idx="101">
                  <c:v>0.37111799621002445</c:v>
                </c:pt>
                <c:pt idx="102">
                  <c:v>1.5472990119651506</c:v>
                </c:pt>
                <c:pt idx="103">
                  <c:v>-0.18605677044366495</c:v>
                </c:pt>
                <c:pt idx="104">
                  <c:v>-0.32200834018561253</c:v>
                </c:pt>
                <c:pt idx="105">
                  <c:v>0.78277853536241204</c:v>
                </c:pt>
                <c:pt idx="106">
                  <c:v>1.2737730879411175</c:v>
                </c:pt>
                <c:pt idx="107">
                  <c:v>1.5472990119651506</c:v>
                </c:pt>
                <c:pt idx="108">
                  <c:v>7.3664804284369154E-2</c:v>
                </c:pt>
                <c:pt idx="109">
                  <c:v>1.4523459265124161</c:v>
                </c:pt>
                <c:pt idx="110">
                  <c:v>1.3052647590857061</c:v>
                </c:pt>
                <c:pt idx="111">
                  <c:v>0.94007616962314744</c:v>
                </c:pt>
                <c:pt idx="112">
                  <c:v>0.4093658260983139</c:v>
                </c:pt>
                <c:pt idx="113">
                  <c:v>-8.9080158099492462E-2</c:v>
                </c:pt>
                <c:pt idx="114">
                  <c:v>0.37111799621002445</c:v>
                </c:pt>
                <c:pt idx="115">
                  <c:v>-0.18605677044366495</c:v>
                </c:pt>
                <c:pt idx="116">
                  <c:v>-0.29755797917106813</c:v>
                </c:pt>
                <c:pt idx="117">
                  <c:v>0.19485016473504302</c:v>
                </c:pt>
                <c:pt idx="118">
                  <c:v>-0.74553654419367132</c:v>
                </c:pt>
                <c:pt idx="119">
                  <c:v>-1.6580681935843091</c:v>
                </c:pt>
                <c:pt idx="120">
                  <c:v>1.1182676892386083</c:v>
                </c:pt>
                <c:pt idx="121">
                  <c:v>-1.0701398229569399</c:v>
                </c:pt>
                <c:pt idx="122">
                  <c:v>1.1465428948346661</c:v>
                </c:pt>
                <c:pt idx="123">
                  <c:v>0.42777834682116339</c:v>
                </c:pt>
                <c:pt idx="124">
                  <c:v>1.1602883384608664</c:v>
                </c:pt>
                <c:pt idx="125">
                  <c:v>1.2285671745763547</c:v>
                </c:pt>
                <c:pt idx="126">
                  <c:v>0.65357514924984017</c:v>
                </c:pt>
                <c:pt idx="127">
                  <c:v>-0.94557273697363986</c:v>
                </c:pt>
                <c:pt idx="128">
                  <c:v>1.2285671745763547</c:v>
                </c:pt>
                <c:pt idx="129">
                  <c:v>-0.32200834018561253</c:v>
                </c:pt>
                <c:pt idx="130">
                  <c:v>0.69282995998244146</c:v>
                </c:pt>
                <c:pt idx="131">
                  <c:v>-0.62435118374299747</c:v>
                </c:pt>
                <c:pt idx="132">
                  <c:v>1.0425001100904465</c:v>
                </c:pt>
                <c:pt idx="133">
                  <c:v>1.1636854705411206</c:v>
                </c:pt>
                <c:pt idx="134">
                  <c:v>1.2530175355908995</c:v>
                </c:pt>
                <c:pt idx="135">
                  <c:v>1.0304405070444949</c:v>
                </c:pt>
                <c:pt idx="136">
                  <c:v>1.2795986582113894</c:v>
                </c:pt>
                <c:pt idx="137">
                  <c:v>0.19485016473504302</c:v>
                </c:pt>
                <c:pt idx="138">
                  <c:v>0.43681687205514175</c:v>
                </c:pt>
                <c:pt idx="139">
                  <c:v>0.62620807032219783</c:v>
                </c:pt>
                <c:pt idx="140">
                  <c:v>0.3999862156093727</c:v>
                </c:pt>
                <c:pt idx="141">
                  <c:v>1.2347553362478338</c:v>
                </c:pt>
                <c:pt idx="142">
                  <c:v>1.4242041262663683</c:v>
                </c:pt>
                <c:pt idx="143">
                  <c:v>1.0737368951611495</c:v>
                </c:pt>
                <c:pt idx="144">
                  <c:v>0.52961851700664397</c:v>
                </c:pt>
                <c:pt idx="145">
                  <c:v>0.98447435313616505</c:v>
                </c:pt>
                <c:pt idx="146">
                  <c:v>0.82130876222506366</c:v>
                </c:pt>
                <c:pt idx="147">
                  <c:v>1.2996370402830679</c:v>
                </c:pt>
                <c:pt idx="148">
                  <c:v>1.2285671745763547</c:v>
                </c:pt>
                <c:pt idx="149">
                  <c:v>-0.70291527536432075</c:v>
                </c:pt>
                <c:pt idx="150">
                  <c:v>0.23123148751136088</c:v>
                </c:pt>
                <c:pt idx="151">
                  <c:v>0.18231761423399132</c:v>
                </c:pt>
                <c:pt idx="152">
                  <c:v>1.4242041262663683</c:v>
                </c:pt>
                <c:pt idx="153">
                  <c:v>0.35123230569245584</c:v>
                </c:pt>
                <c:pt idx="154">
                  <c:v>0.3999862156093727</c:v>
                </c:pt>
                <c:pt idx="155">
                  <c:v>0.73012119037854772</c:v>
                </c:pt>
                <c:pt idx="156">
                  <c:v>-0.553281318036284</c:v>
                </c:pt>
                <c:pt idx="157">
                  <c:v>1.5183774676326873</c:v>
                </c:pt>
                <c:pt idx="158">
                  <c:v>-0.94557273697363986</c:v>
                </c:pt>
                <c:pt idx="159">
                  <c:v>-5.3565388822082331E-2</c:v>
                </c:pt>
                <c:pt idx="160">
                  <c:v>1.2737730879411175</c:v>
                </c:pt>
                <c:pt idx="161">
                  <c:v>1.4218103225993128</c:v>
                </c:pt>
                <c:pt idx="162">
                  <c:v>1.1602883384608664</c:v>
                </c:pt>
                <c:pt idx="163">
                  <c:v>1.0926156048344069</c:v>
                </c:pt>
                <c:pt idx="164">
                  <c:v>1.4772415961110463</c:v>
                </c:pt>
                <c:pt idx="165">
                  <c:v>1.302456208865669</c:v>
                </c:pt>
                <c:pt idx="166">
                  <c:v>-1.1412096886636529</c:v>
                </c:pt>
                <c:pt idx="167">
                  <c:v>1.4242041262663683</c:v>
                </c:pt>
                <c:pt idx="168">
                  <c:v>0.79953585184981302</c:v>
                </c:pt>
                <c:pt idx="169">
                  <c:v>1.2285671745763547</c:v>
                </c:pt>
                <c:pt idx="170">
                  <c:v>-0.45795990992756042</c:v>
                </c:pt>
                <c:pt idx="171">
                  <c:v>-0.553281318036284</c:v>
                </c:pt>
                <c:pt idx="172">
                  <c:v>0.69917611915464717</c:v>
                </c:pt>
                <c:pt idx="173">
                  <c:v>0.25453554668310857</c:v>
                </c:pt>
                <c:pt idx="174">
                  <c:v>0.20717555612880648</c:v>
                </c:pt>
                <c:pt idx="175">
                  <c:v>1.3108503222956092</c:v>
                </c:pt>
                <c:pt idx="176">
                  <c:v>0.37111799621002445</c:v>
                </c:pt>
                <c:pt idx="177">
                  <c:v>1.0888779067734029</c:v>
                </c:pt>
                <c:pt idx="178">
                  <c:v>1.3773532987239216</c:v>
                </c:pt>
                <c:pt idx="179">
                  <c:v>0.25453554668310857</c:v>
                </c:pt>
                <c:pt idx="180">
                  <c:v>-0.58796986096667958</c:v>
                </c:pt>
                <c:pt idx="181">
                  <c:v>-0.62435118374299747</c:v>
                </c:pt>
                <c:pt idx="182">
                  <c:v>1.3514594052387245</c:v>
                </c:pt>
                <c:pt idx="183">
                  <c:v>0.37111799621002445</c:v>
                </c:pt>
                <c:pt idx="184">
                  <c:v>0.92154927368696116</c:v>
                </c:pt>
                <c:pt idx="185">
                  <c:v>0.26592003044175616</c:v>
                </c:pt>
                <c:pt idx="186">
                  <c:v>0.47191366531157947</c:v>
                </c:pt>
                <c:pt idx="187">
                  <c:v>1.5573621768656534</c:v>
                </c:pt>
                <c:pt idx="188">
                  <c:v>1.1360649350502321</c:v>
                </c:pt>
                <c:pt idx="189">
                  <c:v>0.27713331245429756</c:v>
                </c:pt>
                <c:pt idx="190">
                  <c:v>-0.52013500771747279</c:v>
                </c:pt>
                <c:pt idx="191">
                  <c:v>-0.2738839526377787</c:v>
                </c:pt>
                <c:pt idx="192">
                  <c:v>-0.29755797917106813</c:v>
                </c:pt>
                <c:pt idx="193">
                  <c:v>-0.25093847447889933</c:v>
                </c:pt>
                <c:pt idx="194">
                  <c:v>1.5553603791482837</c:v>
                </c:pt>
                <c:pt idx="195">
                  <c:v>1.1636854705411206</c:v>
                </c:pt>
                <c:pt idx="196">
                  <c:v>0.47191366531157947</c:v>
                </c:pt>
                <c:pt idx="197">
                  <c:v>0.11628607311372004</c:v>
                </c:pt>
                <c:pt idx="198">
                  <c:v>1.3488198654846848</c:v>
                </c:pt>
                <c:pt idx="199">
                  <c:v>0.25453554668310857</c:v>
                </c:pt>
                <c:pt idx="200">
                  <c:v>1.3300767443565578</c:v>
                </c:pt>
                <c:pt idx="201">
                  <c:v>0.81050177303676851</c:v>
                </c:pt>
                <c:pt idx="202">
                  <c:v>1.2760012085988141E-2</c:v>
                </c:pt>
                <c:pt idx="203">
                  <c:v>0.91684472053002852</c:v>
                </c:pt>
                <c:pt idx="204">
                  <c:v>0.36124143855048008</c:v>
                </c:pt>
                <c:pt idx="205">
                  <c:v>1.0098973564973615</c:v>
                </c:pt>
                <c:pt idx="206">
                  <c:v>0.49719300829242796</c:v>
                </c:pt>
                <c:pt idx="207">
                  <c:v>0.7713940516037644</c:v>
                </c:pt>
                <c:pt idx="208">
                  <c:v>-0.70291527536432075</c:v>
                </c:pt>
                <c:pt idx="209">
                  <c:v>1.2911150137896203</c:v>
                </c:pt>
                <c:pt idx="210">
                  <c:v>-7.1111356046023769E-2</c:v>
                </c:pt>
                <c:pt idx="211">
                  <c:v>1.486092373042206</c:v>
                </c:pt>
                <c:pt idx="212">
                  <c:v>-0.16562619922820032</c:v>
                </c:pt>
                <c:pt idx="213">
                  <c:v>1.1073818141256806</c:v>
                </c:pt>
                <c:pt idx="214">
                  <c:v>1.3191509928190159</c:v>
                </c:pt>
                <c:pt idx="215">
                  <c:v>0.19485016473504302</c:v>
                </c:pt>
                <c:pt idx="216">
                  <c:v>0.83196136056402892</c:v>
                </c:pt>
                <c:pt idx="217">
                  <c:v>1.2996370402830679</c:v>
                </c:pt>
                <c:pt idx="218">
                  <c:v>-0.70291527536432075</c:v>
                </c:pt>
                <c:pt idx="219">
                  <c:v>0.34108698998282561</c:v>
                </c:pt>
                <c:pt idx="220">
                  <c:v>0.75983305720353267</c:v>
                </c:pt>
                <c:pt idx="221">
                  <c:v>0.27713331245429756</c:v>
                </c:pt>
                <c:pt idx="222">
                  <c:v>0.45457173946307744</c:v>
                </c:pt>
                <c:pt idx="223">
                  <c:v>1.0926156048344069</c:v>
                </c:pt>
                <c:pt idx="224">
                  <c:v>-0.32200834018561253</c:v>
                </c:pt>
                <c:pt idx="225">
                  <c:v>-0.10749267882234165</c:v>
                </c:pt>
                <c:pt idx="226">
                  <c:v>1.3408447177850129</c:v>
                </c:pt>
                <c:pt idx="227">
                  <c:v>1.4430828359396255</c:v>
                </c:pt>
                <c:pt idx="228">
                  <c:v>1.522578431994255</c:v>
                </c:pt>
                <c:pt idx="229">
                  <c:v>1.4169995368680781</c:v>
                </c:pt>
                <c:pt idx="230">
                  <c:v>0.55304460697841717</c:v>
                </c:pt>
                <c:pt idx="231">
                  <c:v>1.0851213789197971</c:v>
                </c:pt>
                <c:pt idx="232">
                  <c:v>-3.2765027968169108E-3</c:v>
                </c:pt>
                <c:pt idx="233">
                  <c:v>0.18231761423399132</c:v>
                </c:pt>
                <c:pt idx="234">
                  <c:v>1.3300767443565578</c:v>
                </c:pt>
                <c:pt idx="235">
                  <c:v>1.3461709490155616</c:v>
                </c:pt>
                <c:pt idx="236">
                  <c:v>-0.52013500771747279</c:v>
                </c:pt>
                <c:pt idx="237">
                  <c:v>1.2760012085988141E-2</c:v>
                </c:pt>
                <c:pt idx="238">
                  <c:v>0.33080173447699091</c:v>
                </c:pt>
                <c:pt idx="239">
                  <c:v>1.5411952736395744</c:v>
                </c:pt>
                <c:pt idx="240">
                  <c:v>-3.2765027968169108E-3</c:v>
                </c:pt>
                <c:pt idx="241">
                  <c:v>-0.29755797917106813</c:v>
                </c:pt>
                <c:pt idx="242">
                  <c:v>0.33080173447699091</c:v>
                </c:pt>
                <c:pt idx="243">
                  <c:v>-0.2286780392730155</c:v>
                </c:pt>
                <c:pt idx="244">
                  <c:v>1.2766915621241886</c:v>
                </c:pt>
                <c:pt idx="245">
                  <c:v>-0.48839961400104959</c:v>
                </c:pt>
                <c:pt idx="246">
                  <c:v>0.75983305720353267</c:v>
                </c:pt>
                <c:pt idx="247">
                  <c:v>0.92154927368696116</c:v>
                </c:pt>
                <c:pt idx="248">
                  <c:v>1.0385018742276286</c:v>
                </c:pt>
                <c:pt idx="249">
                  <c:v>0.48886142215294326</c:v>
                </c:pt>
                <c:pt idx="250">
                  <c:v>-1.966549662822786E-2</c:v>
                </c:pt>
                <c:pt idx="251">
                  <c:v>0.52961851700664397</c:v>
                </c:pt>
                <c:pt idx="252">
                  <c:v>-0.10749267882234165</c:v>
                </c:pt>
                <c:pt idx="253">
                  <c:v>0.12996846069980894</c:v>
                </c:pt>
                <c:pt idx="254">
                  <c:v>1.3163943567704688</c:v>
                </c:pt>
                <c:pt idx="255">
                  <c:v>0.63314457803437585</c:v>
                </c:pt>
                <c:pt idx="256">
                  <c:v>0.18231761423399132</c:v>
                </c:pt>
                <c:pt idx="257">
                  <c:v>0.75983305720353267</c:v>
                </c:pt>
                <c:pt idx="258">
                  <c:v>-0.48839961400104959</c:v>
                </c:pt>
                <c:pt idx="259">
                  <c:v>0.33080173447699091</c:v>
                </c:pt>
                <c:pt idx="260">
                  <c:v>0.62620807032219783</c:v>
                </c:pt>
                <c:pt idx="261">
                  <c:v>7.3664804284369154E-2</c:v>
                </c:pt>
                <c:pt idx="262">
                  <c:v>1.4218103225993128</c:v>
                </c:pt>
                <c:pt idx="263">
                  <c:v>-1.1412096886636529</c:v>
                </c:pt>
                <c:pt idx="264">
                  <c:v>1.3488198654846848</c:v>
                </c:pt>
                <c:pt idx="265">
                  <c:v>0.68642932667485035</c:v>
                </c:pt>
                <c:pt idx="266">
                  <c:v>0.60500277778832734</c:v>
                </c:pt>
                <c:pt idx="267">
                  <c:v>0.55304460697841717</c:v>
                </c:pt>
                <c:pt idx="268">
                  <c:v>1.2285671745763547</c:v>
                </c:pt>
                <c:pt idx="269">
                  <c:v>1.4523459265124161</c:v>
                </c:pt>
                <c:pt idx="270">
                  <c:v>1.5370981798052181</c:v>
                </c:pt>
                <c:pt idx="271">
                  <c:v>1.1903193446880653</c:v>
                </c:pt>
                <c:pt idx="272">
                  <c:v>7.3664804284369154E-2</c:v>
                </c:pt>
                <c:pt idx="273">
                  <c:v>0.28818046564764033</c:v>
                </c:pt>
                <c:pt idx="274">
                  <c:v>0.12996846069980894</c:v>
                </c:pt>
                <c:pt idx="275">
                  <c:v>1.3645187443183027</c:v>
                </c:pt>
                <c:pt idx="276">
                  <c:v>0.47191366531157947</c:v>
                </c:pt>
                <c:pt idx="277">
                  <c:v>8.8144272867671847E-2</c:v>
                </c:pt>
                <c:pt idx="278">
                  <c:v>0.25453554668310857</c:v>
                </c:pt>
                <c:pt idx="279">
                  <c:v>8.8144272867671847E-2</c:v>
                </c:pt>
                <c:pt idx="280">
                  <c:v>1.0140515132130838</c:v>
                </c:pt>
                <c:pt idx="281">
                  <c:v>0.11628607311372004</c:v>
                </c:pt>
                <c:pt idx="282">
                  <c:v>0.7117086696556989</c:v>
                </c:pt>
                <c:pt idx="283">
                  <c:v>8.8144272867671847E-2</c:v>
                </c:pt>
                <c:pt idx="284">
                  <c:v>0.91684472053002852</c:v>
                </c:pt>
                <c:pt idx="285">
                  <c:v>0.34108698998282561</c:v>
                </c:pt>
                <c:pt idx="286">
                  <c:v>0.60500277778832734</c:v>
                </c:pt>
                <c:pt idx="287">
                  <c:v>0.52961851700664397</c:v>
                </c:pt>
                <c:pt idx="288">
                  <c:v>0.19485016473504302</c:v>
                </c:pt>
                <c:pt idx="289">
                  <c:v>0.77710801980813993</c:v>
                </c:pt>
                <c:pt idx="290">
                  <c:v>1.4194088094063364</c:v>
                </c:pt>
                <c:pt idx="291">
                  <c:v>-1.0052581189217054</c:v>
                </c:pt>
                <c:pt idx="292">
                  <c:v>-1.5221166238423613</c:v>
                </c:pt>
                <c:pt idx="293">
                  <c:v>0.97143024438373327</c:v>
                </c:pt>
                <c:pt idx="294">
                  <c:v>-0.553281318036284</c:v>
                </c:pt>
                <c:pt idx="295">
                  <c:v>1.0344820844285481</c:v>
                </c:pt>
                <c:pt idx="296">
                  <c:v>1.3567106185035023</c:v>
                </c:pt>
                <c:pt idx="297">
                  <c:v>0.43681687205514175</c:v>
                </c:pt>
                <c:pt idx="298">
                  <c:v>0.71789683132717796</c:v>
                </c:pt>
                <c:pt idx="299">
                  <c:v>0.95815388414330971</c:v>
                </c:pt>
                <c:pt idx="300">
                  <c:v>-1.2197737802849764</c:v>
                </c:pt>
                <c:pt idx="301">
                  <c:v>-0.48839961400104959</c:v>
                </c:pt>
                <c:pt idx="302">
                  <c:v>1.2408925659701182</c:v>
                </c:pt>
                <c:pt idx="303">
                  <c:v>-1.966549662822786E-2</c:v>
                </c:pt>
                <c:pt idx="304">
                  <c:v>0.37111799621002445</c:v>
                </c:pt>
                <c:pt idx="305">
                  <c:v>0.41862891667110502</c:v>
                </c:pt>
                <c:pt idx="306">
                  <c:v>0.4093658260983139</c:v>
                </c:pt>
                <c:pt idx="307">
                  <c:v>1.4430828359396255</c:v>
                </c:pt>
                <c:pt idx="308">
                  <c:v>1.1395739730642827</c:v>
                </c:pt>
                <c:pt idx="309">
                  <c:v>0.73615903067024357</c:v>
                </c:pt>
                <c:pt idx="310">
                  <c:v>0.67346083976740945</c:v>
                </c:pt>
                <c:pt idx="311">
                  <c:v>1.1568756588112183</c:v>
                </c:pt>
                <c:pt idx="312">
                  <c:v>0.87809994347113596</c:v>
                </c:pt>
                <c:pt idx="313">
                  <c:v>0.12996846069980894</c:v>
                </c:pt>
                <c:pt idx="314">
                  <c:v>1.0851213789197971</c:v>
                </c:pt>
                <c:pt idx="315">
                  <c:v>-8.9080158099492462E-2</c:v>
                </c:pt>
                <c:pt idx="316">
                  <c:v>0.88797650113068027</c:v>
                </c:pt>
                <c:pt idx="317">
                  <c:v>2.845889091960626E-2</c:v>
                </c:pt>
                <c:pt idx="318">
                  <c:v>-0.79074245755843453</c:v>
                </c:pt>
                <c:pt idx="319">
                  <c:v>0.89772394976005354</c:v>
                </c:pt>
                <c:pt idx="320">
                  <c:v>0.71789683132717796</c:v>
                </c:pt>
                <c:pt idx="321">
                  <c:v>0.62620807032219783</c:v>
                </c:pt>
                <c:pt idx="322">
                  <c:v>0.36124143855048008</c:v>
                </c:pt>
                <c:pt idx="323">
                  <c:v>1.5432354095275025</c:v>
                </c:pt>
                <c:pt idx="324">
                  <c:v>0.87311217101527783</c:v>
                </c:pt>
                <c:pt idx="325">
                  <c:v>1.1903193446880653</c:v>
                </c:pt>
                <c:pt idx="326">
                  <c:v>1.3273602779574243</c:v>
                </c:pt>
                <c:pt idx="327">
                  <c:v>0.36124143855048008</c:v>
                </c:pt>
                <c:pt idx="328">
                  <c:v>-0.32200834018561253</c:v>
                </c:pt>
                <c:pt idx="329">
                  <c:v>0.26592003044175616</c:v>
                </c:pt>
                <c:pt idx="330">
                  <c:v>-0.70291527536432075</c:v>
                </c:pt>
                <c:pt idx="331">
                  <c:v>1.0425001100904465</c:v>
                </c:pt>
                <c:pt idx="332">
                  <c:v>-0.62435118374299747</c:v>
                </c:pt>
                <c:pt idx="333">
                  <c:v>0.50543253082269735</c:v>
                </c:pt>
                <c:pt idx="334">
                  <c:v>1.5452699788713038</c:v>
                </c:pt>
                <c:pt idx="335">
                  <c:v>1.1395739730642827</c:v>
                </c:pt>
                <c:pt idx="336">
                  <c:v>1.3540896344275535</c:v>
                </c:pt>
                <c:pt idx="337">
                  <c:v>0.75983305720353267</c:v>
                </c:pt>
                <c:pt idx="338">
                  <c:v>0.80503897056829621</c:v>
                </c:pt>
                <c:pt idx="339">
                  <c:v>0.34108698998282561</c:v>
                </c:pt>
                <c:pt idx="340">
                  <c:v>0.97143024438373327</c:v>
                </c:pt>
                <c:pt idx="341">
                  <c:v>0.64001715389056246</c:v>
                </c:pt>
                <c:pt idx="342">
                  <c:v>-1.2197737802849764</c:v>
                </c:pt>
                <c:pt idx="343">
                  <c:v>1.4048350060513362</c:v>
                </c:pt>
                <c:pt idx="344">
                  <c:v>-0.52013500771747279</c:v>
                </c:pt>
                <c:pt idx="345">
                  <c:v>0.35123230569245584</c:v>
                </c:pt>
                <c:pt idx="346">
                  <c:v>0.99304535786877746</c:v>
                </c:pt>
                <c:pt idx="347">
                  <c:v>1.2160346240753031</c:v>
                </c:pt>
                <c:pt idx="348">
                  <c:v>0.3999862156093727</c:v>
                </c:pt>
                <c:pt idx="349">
                  <c:v>-0.66259901363128726</c:v>
                </c:pt>
                <c:pt idx="350">
                  <c:v>0.87809994347113596</c:v>
                </c:pt>
                <c:pt idx="351">
                  <c:v>-8.9080158099492462E-2</c:v>
                </c:pt>
                <c:pt idx="352">
                  <c:v>1.0385018742276286</c:v>
                </c:pt>
                <c:pt idx="353">
                  <c:v>-0.29755797917106813</c:v>
                </c:pt>
                <c:pt idx="354">
                  <c:v>-1.966549662822786E-2</c:v>
                </c:pt>
                <c:pt idx="355">
                  <c:v>1.1000352601002337</c:v>
                </c:pt>
                <c:pt idx="356">
                  <c:v>1.1636854705411206</c:v>
                </c:pt>
                <c:pt idx="357">
                  <c:v>8.8144272867671847E-2</c:v>
                </c:pt>
                <c:pt idx="358">
                  <c:v>-8.9080158099492462E-2</c:v>
                </c:pt>
                <c:pt idx="359">
                  <c:v>0.98877217023223529</c:v>
                </c:pt>
                <c:pt idx="360">
                  <c:v>1.0504328359894017</c:v>
                </c:pt>
                <c:pt idx="361">
                  <c:v>1.3567106185035023</c:v>
                </c:pt>
                <c:pt idx="362">
                  <c:v>-0.4005724318069358</c:v>
                </c:pt>
                <c:pt idx="363">
                  <c:v>-0.4005724318069358</c:v>
                </c:pt>
                <c:pt idx="364">
                  <c:v>-0.29755797917106813</c:v>
                </c:pt>
                <c:pt idx="365">
                  <c:v>-0.62435118374299747</c:v>
                </c:pt>
                <c:pt idx="366">
                  <c:v>-1.2197737802849764</c:v>
                </c:pt>
                <c:pt idx="367">
                  <c:v>0.36124143855048008</c:v>
                </c:pt>
                <c:pt idx="368">
                  <c:v>1.4407489711176564</c:v>
                </c:pt>
                <c:pt idx="369">
                  <c:v>-0.29755797917106813</c:v>
                </c:pt>
                <c:pt idx="370">
                  <c:v>0.37111799621002445</c:v>
                </c:pt>
                <c:pt idx="371">
                  <c:v>1.4772415961110463</c:v>
                </c:pt>
                <c:pt idx="372">
                  <c:v>-0.37345419960340875</c:v>
                </c:pt>
                <c:pt idx="373">
                  <c:v>1.551340589349204</c:v>
                </c:pt>
                <c:pt idx="374">
                  <c:v>1.3722459554564581</c:v>
                </c:pt>
                <c:pt idx="375">
                  <c:v>1.4097246576830655</c:v>
                </c:pt>
                <c:pt idx="376">
                  <c:v>1.3696791054109432</c:v>
                </c:pt>
                <c:pt idx="377">
                  <c:v>-8.9080158099492462E-2</c:v>
                </c:pt>
                <c:pt idx="378">
                  <c:v>-0.45795990992756042</c:v>
                </c:pt>
                <c:pt idx="379">
                  <c:v>1.2408925659701182</c:v>
                </c:pt>
                <c:pt idx="380">
                  <c:v>0.91684472053002852</c:v>
                </c:pt>
                <c:pt idx="381">
                  <c:v>0.48043569180502771</c:v>
                </c:pt>
                <c:pt idx="382">
                  <c:v>0.66689102456416594</c:v>
                </c:pt>
                <c:pt idx="383">
                  <c:v>-0.48839961400104959</c:v>
                </c:pt>
                <c:pt idx="384">
                  <c:v>1.2760012085988141E-2</c:v>
                </c:pt>
                <c:pt idx="385">
                  <c:v>1.5593586150111023</c:v>
                </c:pt>
                <c:pt idx="386">
                  <c:v>0.32037262458624183</c:v>
                </c:pt>
                <c:pt idx="387">
                  <c:v>0.81592484568122392</c:v>
                </c:pt>
                <c:pt idx="388">
                  <c:v>-0.62435118374299747</c:v>
                </c:pt>
                <c:pt idx="389">
                  <c:v>0.4093658260983139</c:v>
                </c:pt>
                <c:pt idx="390">
                  <c:v>0.3999862156093727</c:v>
                </c:pt>
                <c:pt idx="391">
                  <c:v>0.19485016473504302</c:v>
                </c:pt>
                <c:pt idx="392">
                  <c:v>-1.6580681935843091</c:v>
                </c:pt>
                <c:pt idx="393">
                  <c:v>1.2160346240753031</c:v>
                </c:pt>
                <c:pt idx="394">
                  <c:v>0.37111799621002445</c:v>
                </c:pt>
                <c:pt idx="395">
                  <c:v>-0.74553654419367132</c:v>
                </c:pt>
                <c:pt idx="396">
                  <c:v>0.50543253082269735</c:v>
                </c:pt>
                <c:pt idx="397">
                  <c:v>-0.12637138849559934</c:v>
                </c:pt>
                <c:pt idx="398">
                  <c:v>1.2378302651491453</c:v>
                </c:pt>
                <c:pt idx="399">
                  <c:v>1.1534472886252694</c:v>
                </c:pt>
                <c:pt idx="400">
                  <c:v>0.79953585184981302</c:v>
                </c:pt>
                <c:pt idx="401">
                  <c:v>-0.74553654419367132</c:v>
                </c:pt>
                <c:pt idx="402">
                  <c:v>0.18231761423399132</c:v>
                </c:pt>
                <c:pt idx="403">
                  <c:v>0.93548742159176024</c:v>
                </c:pt>
                <c:pt idx="404">
                  <c:v>0.55304460697841717</c:v>
                </c:pt>
                <c:pt idx="405">
                  <c:v>-0.10749267882234165</c:v>
                </c:pt>
                <c:pt idx="406">
                  <c:v>1.0385018742276286</c:v>
                </c:pt>
                <c:pt idx="407">
                  <c:v>2.845889091960626E-2</c:v>
                </c:pt>
                <c:pt idx="408">
                  <c:v>0.90255030448568063</c:v>
                </c:pt>
                <c:pt idx="409">
                  <c:v>0.37111799621002445</c:v>
                </c:pt>
                <c:pt idx="410">
                  <c:v>1.5593586150111023</c:v>
                </c:pt>
                <c:pt idx="411">
                  <c:v>-0.32200834018561253</c:v>
                </c:pt>
                <c:pt idx="412">
                  <c:v>0.95367537697579763</c:v>
                </c:pt>
                <c:pt idx="413">
                  <c:v>-0.12637138849559934</c:v>
                </c:pt>
                <c:pt idx="414">
                  <c:v>0.20717555612880648</c:v>
                </c:pt>
                <c:pt idx="415">
                  <c:v>-0.2286780392730155</c:v>
                </c:pt>
                <c:pt idx="416">
                  <c:v>1.4337032254506845</c:v>
                </c:pt>
                <c:pt idx="417">
                  <c:v>-1.3076009624790905</c:v>
                </c:pt>
                <c:pt idx="418">
                  <c:v>0.36124143855048008</c:v>
                </c:pt>
                <c:pt idx="419">
                  <c:v>0.39048711642505651</c:v>
                </c:pt>
                <c:pt idx="420">
                  <c:v>1.212868295742737</c:v>
                </c:pt>
                <c:pt idx="421">
                  <c:v>-0.52013500771747279</c:v>
                </c:pt>
                <c:pt idx="422">
                  <c:v>0.1695708217541945</c:v>
                </c:pt>
                <c:pt idx="423">
                  <c:v>1.2708431462465413</c:v>
                </c:pt>
                <c:pt idx="424">
                  <c:v>0.91684472053002852</c:v>
                </c:pt>
                <c:pt idx="425">
                  <c:v>0.57575709991375157</c:v>
                </c:pt>
                <c:pt idx="426">
                  <c:v>1.2824944645766141</c:v>
                </c:pt>
                <c:pt idx="427">
                  <c:v>0.75983305720353267</c:v>
                </c:pt>
                <c:pt idx="428">
                  <c:v>0.97580368332479439</c:v>
                </c:pt>
                <c:pt idx="429">
                  <c:v>1.2500047266361309</c:v>
                </c:pt>
                <c:pt idx="430">
                  <c:v>1.5452699788713038</c:v>
                </c:pt>
                <c:pt idx="431">
                  <c:v>1.1430665752428537</c:v>
                </c:pt>
                <c:pt idx="432">
                  <c:v>0.41862891667110502</c:v>
                </c:pt>
                <c:pt idx="433">
                  <c:v>0.52164336930697264</c:v>
                </c:pt>
                <c:pt idx="434">
                  <c:v>1.4523459265124161</c:v>
                </c:pt>
                <c:pt idx="435">
                  <c:v>1.4242041262663683</c:v>
                </c:pt>
                <c:pt idx="436">
                  <c:v>1.2679016465666451</c:v>
                </c:pt>
                <c:pt idx="437">
                  <c:v>1.0660495157156342</c:v>
                </c:pt>
                <c:pt idx="438">
                  <c:v>1.2939665247287957</c:v>
                </c:pt>
                <c:pt idx="439">
                  <c:v>1.2347553362478338</c:v>
                </c:pt>
                <c:pt idx="440">
                  <c:v>0.94463685174181922</c:v>
                </c:pt>
                <c:pt idx="441">
                  <c:v>0.90734562134571239</c:v>
                </c:pt>
                <c:pt idx="442">
                  <c:v>0.97143024438373327</c:v>
                </c:pt>
                <c:pt idx="443">
                  <c:v>-0.32200834018561253</c:v>
                </c:pt>
                <c:pt idx="444">
                  <c:v>0.33080173447699091</c:v>
                </c:pt>
                <c:pt idx="445">
                  <c:v>0.26592003044175616</c:v>
                </c:pt>
                <c:pt idx="446">
                  <c:v>1.2530175355908995</c:v>
                </c:pt>
                <c:pt idx="447">
                  <c:v>-0.29755797917106813</c:v>
                </c:pt>
                <c:pt idx="448">
                  <c:v>0.3999862156093727</c:v>
                </c:pt>
                <c:pt idx="449">
                  <c:v>0.91684472053002852</c:v>
                </c:pt>
                <c:pt idx="450">
                  <c:v>0.10234792520892065</c:v>
                </c:pt>
                <c:pt idx="451">
                  <c:v>1.3899706759359338</c:v>
                </c:pt>
                <c:pt idx="452">
                  <c:v>1.2191875640874135</c:v>
                </c:pt>
                <c:pt idx="453">
                  <c:v>-0.16562619922820032</c:v>
                </c:pt>
                <c:pt idx="454">
                  <c:v>-8.9080158099492462E-2</c:v>
                </c:pt>
                <c:pt idx="455">
                  <c:v>-0.42871423205298398</c:v>
                </c:pt>
                <c:pt idx="456">
                  <c:v>-0.70291527536432075</c:v>
                </c:pt>
                <c:pt idx="457">
                  <c:v>1.4407489711176564</c:v>
                </c:pt>
                <c:pt idx="458">
                  <c:v>0.69282995998244146</c:v>
                </c:pt>
                <c:pt idx="459">
                  <c:v>0.868090810613111</c:v>
                </c:pt>
                <c:pt idx="460">
                  <c:v>0.88797650113068027</c:v>
                </c:pt>
                <c:pt idx="461">
                  <c:v>0.79953585184981302</c:v>
                </c:pt>
                <c:pt idx="462">
                  <c:v>1.2795986582113894</c:v>
                </c:pt>
                <c:pt idx="463">
                  <c:v>1.1146566933106932</c:v>
                </c:pt>
                <c:pt idx="464">
                  <c:v>1.0543677749461173</c:v>
                </c:pt>
                <c:pt idx="465">
                  <c:v>0.18231761423399132</c:v>
                </c:pt>
                <c:pt idx="466">
                  <c:v>1.222327228523322</c:v>
                </c:pt>
                <c:pt idx="467">
                  <c:v>-0.62435118374299747</c:v>
                </c:pt>
                <c:pt idx="468">
                  <c:v>1.2347553362478338</c:v>
                </c:pt>
                <c:pt idx="469">
                  <c:v>0.91684472053002852</c:v>
                </c:pt>
                <c:pt idx="470">
                  <c:v>0.1695708217541945</c:v>
                </c:pt>
                <c:pt idx="471">
                  <c:v>1.4218103225993128</c:v>
                </c:pt>
                <c:pt idx="472">
                  <c:v>0.90255030448568063</c:v>
                </c:pt>
                <c:pt idx="473">
                  <c:v>0.68642932667485035</c:v>
                </c:pt>
                <c:pt idx="474">
                  <c:v>1.3191509928190159</c:v>
                </c:pt>
                <c:pt idx="475">
                  <c:v>0.27713331245429756</c:v>
                </c:pt>
                <c:pt idx="476">
                  <c:v>0.28818046564764033</c:v>
                </c:pt>
                <c:pt idx="477">
                  <c:v>1.0888779067734029</c:v>
                </c:pt>
                <c:pt idx="478">
                  <c:v>0.63314457803437585</c:v>
                </c:pt>
                <c:pt idx="479">
                  <c:v>-1.1412096886636529</c:v>
                </c:pt>
                <c:pt idx="480">
                  <c:v>0.25453554668310857</c:v>
                </c:pt>
                <c:pt idx="481">
                  <c:v>-0.34728768316646103</c:v>
                </c:pt>
                <c:pt idx="482">
                  <c:v>-2.0389751287630173</c:v>
                </c:pt>
                <c:pt idx="483">
                  <c:v>1.4360592122507274</c:v>
                </c:pt>
                <c:pt idx="484">
                  <c:v>-0.12637138849559934</c:v>
                </c:pt>
                <c:pt idx="485">
                  <c:v>-0.79074245755843453</c:v>
                </c:pt>
                <c:pt idx="486">
                  <c:v>1.1037175846298761</c:v>
                </c:pt>
                <c:pt idx="487">
                  <c:v>-0.16562619922820032</c:v>
                </c:pt>
                <c:pt idx="488">
                  <c:v>1.1218612827089831</c:v>
                </c:pt>
                <c:pt idx="489">
                  <c:v>0.95367537697579763</c:v>
                </c:pt>
                <c:pt idx="490">
                  <c:v>1.4454094188002387</c:v>
                </c:pt>
                <c:pt idx="491">
                  <c:v>0.98015162101922904</c:v>
                </c:pt>
                <c:pt idx="492">
                  <c:v>-0.66259901363128726</c:v>
                </c:pt>
                <c:pt idx="493">
                  <c:v>1.2254537287091063</c:v>
                </c:pt>
                <c:pt idx="494">
                  <c:v>0.87809994347113596</c:v>
                </c:pt>
                <c:pt idx="495">
                  <c:v>0.20717555612880648</c:v>
                </c:pt>
                <c:pt idx="496">
                  <c:v>0.71789683132717796</c:v>
                </c:pt>
                <c:pt idx="497">
                  <c:v>1.1395739730642827</c:v>
                </c:pt>
                <c:pt idx="498">
                  <c:v>0.27713331245429756</c:v>
                </c:pt>
                <c:pt idx="499">
                  <c:v>-0.14574050871063141</c:v>
                </c:pt>
                <c:pt idx="500">
                  <c:v>1.5288358326464129</c:v>
                </c:pt>
                <c:pt idx="501">
                  <c:v>8.8144272867671847E-2</c:v>
                </c:pt>
                <c:pt idx="502">
                  <c:v>-0.2286780392730155</c:v>
                </c:pt>
                <c:pt idx="503">
                  <c:v>-0.18605677044366495</c:v>
                </c:pt>
                <c:pt idx="504">
                  <c:v>1.2408925659701182</c:v>
                </c:pt>
                <c:pt idx="505">
                  <c:v>1.2064950159026895</c:v>
                </c:pt>
                <c:pt idx="506">
                  <c:v>0.98877217023223529</c:v>
                </c:pt>
                <c:pt idx="507">
                  <c:v>1.1636854705411206</c:v>
                </c:pt>
                <c:pt idx="508">
                  <c:v>0.71789683132717796</c:v>
                </c:pt>
                <c:pt idx="509">
                  <c:v>7.3664804284369154E-2</c:v>
                </c:pt>
                <c:pt idx="510">
                  <c:v>-0.70291527536432075</c:v>
                </c:pt>
                <c:pt idx="511">
                  <c:v>0.3999862156093727</c:v>
                </c:pt>
                <c:pt idx="512">
                  <c:v>1.1837495294848217</c:v>
                </c:pt>
                <c:pt idx="513">
                  <c:v>0.39048711642505651</c:v>
                </c:pt>
                <c:pt idx="514">
                  <c:v>1.0015189627120316</c:v>
                </c:pt>
                <c:pt idx="515">
                  <c:v>1.2649484973526726</c:v>
                </c:pt>
                <c:pt idx="516">
                  <c:v>1.4023781036576179</c:v>
                </c:pt>
                <c:pt idx="517">
                  <c:v>-1.0701398229569399</c:v>
                </c:pt>
                <c:pt idx="518">
                  <c:v>1.4265902697485942</c:v>
                </c:pt>
                <c:pt idx="519">
                  <c:v>0.67997327593927603</c:v>
                </c:pt>
                <c:pt idx="520">
                  <c:v>8.8144272867671847E-2</c:v>
                </c:pt>
                <c:pt idx="521">
                  <c:v>0.4093658260983139</c:v>
                </c:pt>
                <c:pt idx="522">
                  <c:v>-0.4005724318069358</c:v>
                </c:pt>
                <c:pt idx="523">
                  <c:v>0.1695708217541945</c:v>
                </c:pt>
                <c:pt idx="524">
                  <c:v>0.11628607311372004</c:v>
                </c:pt>
                <c:pt idx="525">
                  <c:v>1.38242589789074</c:v>
                </c:pt>
                <c:pt idx="526">
                  <c:v>0.62620807032219783</c:v>
                </c:pt>
                <c:pt idx="527">
                  <c:v>1.2760012085988141E-2</c:v>
                </c:pt>
                <c:pt idx="528">
                  <c:v>1.2760012085988141E-2</c:v>
                </c:pt>
                <c:pt idx="529">
                  <c:v>-3.642281311562847E-2</c:v>
                </c:pt>
                <c:pt idx="530">
                  <c:v>1.1568756588112183</c:v>
                </c:pt>
                <c:pt idx="531">
                  <c:v>0.29906634076056809</c:v>
                </c:pt>
                <c:pt idx="532">
                  <c:v>0.18231761423399132</c:v>
                </c:pt>
                <c:pt idx="533">
                  <c:v>0.26592003044175616</c:v>
                </c:pt>
                <c:pt idx="534">
                  <c:v>-0.16562619922820032</c:v>
                </c:pt>
                <c:pt idx="535">
                  <c:v>1.5573621768656534</c:v>
                </c:pt>
                <c:pt idx="536">
                  <c:v>0.77710801980813993</c:v>
                </c:pt>
                <c:pt idx="537">
                  <c:v>1.2096884649030972</c:v>
                </c:pt>
                <c:pt idx="538">
                  <c:v>1.2760012085988141E-2</c:v>
                </c:pt>
                <c:pt idx="539">
                  <c:v>-0.42871423205298398</c:v>
                </c:pt>
                <c:pt idx="540">
                  <c:v>0.1695708217541945</c:v>
                </c:pt>
                <c:pt idx="541">
                  <c:v>1.3514594052387245</c:v>
                </c:pt>
                <c:pt idx="542">
                  <c:v>-1.0052581189217054</c:v>
                </c:pt>
                <c:pt idx="543">
                  <c:v>0.77710801980813993</c:v>
                </c:pt>
                <c:pt idx="544">
                  <c:v>0.25453554668310857</c:v>
                </c:pt>
                <c:pt idx="545">
                  <c:v>-0.34728768316646103</c:v>
                </c:pt>
                <c:pt idx="546">
                  <c:v>0.87311217101527783</c:v>
                </c:pt>
                <c:pt idx="547">
                  <c:v>1.0888779067734029</c:v>
                </c:pt>
                <c:pt idx="548">
                  <c:v>0.39048711642505651</c:v>
                </c:pt>
                <c:pt idx="549">
                  <c:v>1.302456208865669</c:v>
                </c:pt>
                <c:pt idx="550">
                  <c:v>0.30979557913268452</c:v>
                </c:pt>
                <c:pt idx="551">
                  <c:v>0.79399181737495339</c:v>
                </c:pt>
                <c:pt idx="552">
                  <c:v>0.69282995998244146</c:v>
                </c:pt>
                <c:pt idx="553">
                  <c:v>1.4072838397855552</c:v>
                </c:pt>
                <c:pt idx="554">
                  <c:v>-0.20706292578797167</c:v>
                </c:pt>
                <c:pt idx="555">
                  <c:v>1.5452699788713038</c:v>
                </c:pt>
                <c:pt idx="556">
                  <c:v>2.845889091960626E-2</c:v>
                </c:pt>
                <c:pt idx="557">
                  <c:v>0.41862891667110502</c:v>
                </c:pt>
                <c:pt idx="558">
                  <c:v>-0.45795990992756042</c:v>
                </c:pt>
                <c:pt idx="559">
                  <c:v>-0.62435118374299747</c:v>
                </c:pt>
                <c:pt idx="560">
                  <c:v>-1.2197737802849764</c:v>
                </c:pt>
                <c:pt idx="561">
                  <c:v>-5.3565388822082331E-2</c:v>
                </c:pt>
                <c:pt idx="562">
                  <c:v>1.5613497222072288</c:v>
                </c:pt>
                <c:pt idx="563">
                  <c:v>-0.45795990992756042</c:v>
                </c:pt>
                <c:pt idx="564">
                  <c:v>0.97143024438373327</c:v>
                </c:pt>
                <c:pt idx="565">
                  <c:v>0.33080173447699091</c:v>
                </c:pt>
                <c:pt idx="566">
                  <c:v>0.70546872360266621</c:v>
                </c:pt>
                <c:pt idx="567">
                  <c:v>1.3514594052387245</c:v>
                </c:pt>
                <c:pt idx="568">
                  <c:v>-3.2765027968169108E-3</c:v>
                </c:pt>
                <c:pt idx="569">
                  <c:v>-0.66259901363128726</c:v>
                </c:pt>
                <c:pt idx="570">
                  <c:v>-3.642281311562847E-2</c:v>
                </c:pt>
                <c:pt idx="571">
                  <c:v>8.8144272867671847E-2</c:v>
                </c:pt>
                <c:pt idx="572">
                  <c:v>0.98877217023223529</c:v>
                </c:pt>
                <c:pt idx="573">
                  <c:v>1.1465428948346661</c:v>
                </c:pt>
                <c:pt idx="574">
                  <c:v>-1.0052581189217054</c:v>
                </c:pt>
                <c:pt idx="575">
                  <c:v>0.11628607311372004</c:v>
                </c:pt>
                <c:pt idx="576">
                  <c:v>0.24297455228287679</c:v>
                </c:pt>
                <c:pt idx="577">
                  <c:v>-0.25093847447889933</c:v>
                </c:pt>
                <c:pt idx="578">
                  <c:v>0.7713940516037644</c:v>
                </c:pt>
                <c:pt idx="579">
                  <c:v>-1.0701398229569399</c:v>
                </c:pt>
                <c:pt idx="580">
                  <c:v>0.20717555612880648</c:v>
                </c:pt>
                <c:pt idx="581">
                  <c:v>0.76563595965595821</c:v>
                </c:pt>
                <c:pt idx="582">
                  <c:v>0.92622433101896973</c:v>
                </c:pt>
                <c:pt idx="583">
                  <c:v>0.66689102456416594</c:v>
                </c:pt>
                <c:pt idx="584">
                  <c:v>-0.45795990992756042</c:v>
                </c:pt>
                <c:pt idx="585">
                  <c:v>0.44574714887463174</c:v>
                </c:pt>
                <c:pt idx="586">
                  <c:v>-0.70291527536432075</c:v>
                </c:pt>
                <c:pt idx="587">
                  <c:v>1.367103388853715</c:v>
                </c:pt>
                <c:pt idx="588">
                  <c:v>-0.42871423205298398</c:v>
                </c:pt>
                <c:pt idx="589">
                  <c:v>-0.2286780392730155</c:v>
                </c:pt>
                <c:pt idx="590">
                  <c:v>-0.70291527536432075</c:v>
                </c:pt>
                <c:pt idx="591">
                  <c:v>-0.34728768316646103</c:v>
                </c:pt>
                <c:pt idx="592">
                  <c:v>-2.3413179723204016</c:v>
                </c:pt>
                <c:pt idx="593">
                  <c:v>1.367103388853715</c:v>
                </c:pt>
                <c:pt idx="594">
                  <c:v>1.1110281255572563</c:v>
                </c:pt>
                <c:pt idx="595">
                  <c:v>-3.2765027968169108E-3</c:v>
                </c:pt>
                <c:pt idx="596">
                  <c:v>0.33080173447699091</c:v>
                </c:pt>
                <c:pt idx="597">
                  <c:v>1.0660495157156342</c:v>
                </c:pt>
                <c:pt idx="598">
                  <c:v>0.69282995998244146</c:v>
                </c:pt>
                <c:pt idx="599">
                  <c:v>0.57575709991375157</c:v>
                </c:pt>
                <c:pt idx="600">
                  <c:v>-0.12637138849559934</c:v>
                </c:pt>
                <c:pt idx="601">
                  <c:v>1.5432354095275025</c:v>
                </c:pt>
                <c:pt idx="602">
                  <c:v>-0.70291527536432075</c:v>
                </c:pt>
                <c:pt idx="603">
                  <c:v>-0.10749267882234165</c:v>
                </c:pt>
                <c:pt idx="604">
                  <c:v>1.4265902697485942</c:v>
                </c:pt>
                <c:pt idx="605">
                  <c:v>0.1695708217541945</c:v>
                </c:pt>
                <c:pt idx="606">
                  <c:v>1.2439423420083662</c:v>
                </c:pt>
                <c:pt idx="607">
                  <c:v>0.83723112950689771</c:v>
                </c:pt>
                <c:pt idx="608">
                  <c:v>0.93548742159176024</c:v>
                </c:pt>
                <c:pt idx="609">
                  <c:v>-0.12637138849559934</c:v>
                </c:pt>
                <c:pt idx="610">
                  <c:v>0.25453554668310857</c:v>
                </c:pt>
                <c:pt idx="611">
                  <c:v>0.34108698998282561</c:v>
                </c:pt>
                <c:pt idx="612">
                  <c:v>1.2316676746853605</c:v>
                </c:pt>
                <c:pt idx="613">
                  <c:v>1.2285671745763547</c:v>
                </c:pt>
                <c:pt idx="614">
                  <c:v>0.14340430531724743</c:v>
                </c:pt>
                <c:pt idx="615">
                  <c:v>1.4242041262663683</c:v>
                </c:pt>
                <c:pt idx="616">
                  <c:v>0.36124143855048008</c:v>
                </c:pt>
                <c:pt idx="617">
                  <c:v>1.2500047266361309</c:v>
                </c:pt>
                <c:pt idx="618">
                  <c:v>-0.10749267882234165</c:v>
                </c:pt>
                <c:pt idx="619">
                  <c:v>-0.70291527536432075</c:v>
                </c:pt>
                <c:pt idx="620">
                  <c:v>0.82130876222506366</c:v>
                </c:pt>
                <c:pt idx="621">
                  <c:v>1.5309100181337396</c:v>
                </c:pt>
                <c:pt idx="622">
                  <c:v>0.26592003044175616</c:v>
                </c:pt>
                <c:pt idx="623">
                  <c:v>0.51358200212383898</c:v>
                </c:pt>
                <c:pt idx="624">
                  <c:v>-3.2765027968169108E-3</c:v>
                </c:pt>
                <c:pt idx="625">
                  <c:v>-1.0052581189217054</c:v>
                </c:pt>
                <c:pt idx="626">
                  <c:v>0.56069256327227324</c:v>
                </c:pt>
                <c:pt idx="627">
                  <c:v>0.89286615276240966</c:v>
                </c:pt>
                <c:pt idx="628">
                  <c:v>-0.66259901363128726</c:v>
                </c:pt>
                <c:pt idx="629">
                  <c:v>1.3408447177850129</c:v>
                </c:pt>
                <c:pt idx="630">
                  <c:v>-0.18605677044366495</c:v>
                </c:pt>
                <c:pt idx="631">
                  <c:v>-2.3413179723204016</c:v>
                </c:pt>
                <c:pt idx="632">
                  <c:v>-0.14574050871063141</c:v>
                </c:pt>
                <c:pt idx="633">
                  <c:v>0.34108698998282561</c:v>
                </c:pt>
                <c:pt idx="634">
                  <c:v>0.25453554668310857</c:v>
                </c:pt>
                <c:pt idx="635">
                  <c:v>-0.2738839526377787</c:v>
                </c:pt>
                <c:pt idx="636">
                  <c:v>0.74214837372918874</c:v>
                </c:pt>
                <c:pt idx="637">
                  <c:v>0.73012119037854772</c:v>
                </c:pt>
                <c:pt idx="638">
                  <c:v>-1.1412096886636529</c:v>
                </c:pt>
                <c:pt idx="639">
                  <c:v>0.59052330920502472</c:v>
                </c:pt>
                <c:pt idx="640">
                  <c:v>0.45457173946307744</c:v>
                </c:pt>
                <c:pt idx="641">
                  <c:v>0.1695708217541945</c:v>
                </c:pt>
                <c:pt idx="642">
                  <c:v>0.20717555612880648</c:v>
                </c:pt>
                <c:pt idx="643">
                  <c:v>1.2853790685681368</c:v>
                </c:pt>
                <c:pt idx="644">
                  <c:v>0.82130876222506366</c:v>
                </c:pt>
                <c:pt idx="645">
                  <c:v>0.14340430531724743</c:v>
                </c:pt>
                <c:pt idx="646">
                  <c:v>-0.74553654419367132</c:v>
                </c:pt>
                <c:pt idx="647">
                  <c:v>1.1146566933106932</c:v>
                </c:pt>
                <c:pt idx="648">
                  <c:v>0.6121384226900688</c:v>
                </c:pt>
                <c:pt idx="649">
                  <c:v>0.3999862156093727</c:v>
                </c:pt>
                <c:pt idx="650">
                  <c:v>0.868090810613111</c:v>
                </c:pt>
                <c:pt idx="651">
                  <c:v>0.1695708217541945</c:v>
                </c:pt>
                <c:pt idx="652">
                  <c:v>-0.10749267882234165</c:v>
                </c:pt>
                <c:pt idx="653">
                  <c:v>1.486092373042206</c:v>
                </c:pt>
                <c:pt idx="654">
                  <c:v>1.005719927073599</c:v>
                </c:pt>
                <c:pt idx="655">
                  <c:v>0.55304460697841717</c:v>
                </c:pt>
                <c:pt idx="656">
                  <c:v>1.2760012085988141E-2</c:v>
                </c:pt>
                <c:pt idx="657">
                  <c:v>0.27713331245429756</c:v>
                </c:pt>
                <c:pt idx="658">
                  <c:v>0.98015162101922904</c:v>
                </c:pt>
                <c:pt idx="659">
                  <c:v>-0.52013500771747279</c:v>
                </c:pt>
                <c:pt idx="660">
                  <c:v>-0.2286780392730155</c:v>
                </c:pt>
                <c:pt idx="661">
                  <c:v>0.25453554668310857</c:v>
                </c:pt>
                <c:pt idx="662">
                  <c:v>1.0385018742276286</c:v>
                </c:pt>
                <c:pt idx="663">
                  <c:v>0.39048711642505651</c:v>
                </c:pt>
                <c:pt idx="664">
                  <c:v>-0.48839961400104959</c:v>
                </c:pt>
                <c:pt idx="665">
                  <c:v>-0.18605677044366495</c:v>
                </c:pt>
                <c:pt idx="666">
                  <c:v>-0.52013500771747279</c:v>
                </c:pt>
                <c:pt idx="667">
                  <c:v>1.0851213789197971</c:v>
                </c:pt>
                <c:pt idx="668">
                  <c:v>1.3108503222956092</c:v>
                </c:pt>
                <c:pt idx="669">
                  <c:v>-0.74553654419367132</c:v>
                </c:pt>
                <c:pt idx="670">
                  <c:v>-0.79074245755843453</c:v>
                </c:pt>
                <c:pt idx="671">
                  <c:v>1.2500047266361309</c:v>
                </c:pt>
                <c:pt idx="672">
                  <c:v>1.2160346240753031</c:v>
                </c:pt>
                <c:pt idx="673">
                  <c:v>0.37111799621002445</c:v>
                </c:pt>
                <c:pt idx="674">
                  <c:v>0.4093658260983139</c:v>
                </c:pt>
                <c:pt idx="675">
                  <c:v>1.2316676746853605</c:v>
                </c:pt>
                <c:pt idx="676">
                  <c:v>-1.2197737802849764</c:v>
                </c:pt>
                <c:pt idx="677">
                  <c:v>-0.94557273697363986</c:v>
                </c:pt>
                <c:pt idx="678">
                  <c:v>1.3488198654846848</c:v>
                </c:pt>
                <c:pt idx="679">
                  <c:v>1.5267558614180172</c:v>
                </c:pt>
                <c:pt idx="680">
                  <c:v>1.3163943567704688</c:v>
                </c:pt>
                <c:pt idx="681">
                  <c:v>-8.9080158099492462E-2</c:v>
                </c:pt>
                <c:pt idx="682">
                  <c:v>1.5309100181337396</c:v>
                </c:pt>
                <c:pt idx="683">
                  <c:v>1.1146566933106932</c:v>
                </c:pt>
                <c:pt idx="684">
                  <c:v>-8.9080158099492462E-2</c:v>
                </c:pt>
                <c:pt idx="685">
                  <c:v>1.2968071727428312</c:v>
                </c:pt>
                <c:pt idx="686">
                  <c:v>-1.0052581189217054</c:v>
                </c:pt>
                <c:pt idx="687">
                  <c:v>0.84246391731047765</c:v>
                </c:pt>
                <c:pt idx="688">
                  <c:v>-0.79074245755843453</c:v>
                </c:pt>
                <c:pt idx="689">
                  <c:v>1.2760012085988141E-2</c:v>
                </c:pt>
                <c:pt idx="690">
                  <c:v>1.2939665247287957</c:v>
                </c:pt>
                <c:pt idx="691">
                  <c:v>1.2191875640874135</c:v>
                </c:pt>
                <c:pt idx="692">
                  <c:v>1.1360649350502321</c:v>
                </c:pt>
                <c:pt idx="693">
                  <c:v>-0.62435118374299747</c:v>
                </c:pt>
                <c:pt idx="694">
                  <c:v>-5.3565388822082331E-2</c:v>
                </c:pt>
                <c:pt idx="695">
                  <c:v>-0.45795990992756042</c:v>
                </c:pt>
                <c:pt idx="696">
                  <c:v>1.0425001100904465</c:v>
                </c:pt>
                <c:pt idx="697">
                  <c:v>1.3849493155337669</c:v>
                </c:pt>
                <c:pt idx="698">
                  <c:v>1.005719927073599</c:v>
                </c:pt>
                <c:pt idx="699">
                  <c:v>1.2408925659701182</c:v>
                </c:pt>
                <c:pt idx="700">
                  <c:v>1.3722459554564581</c:v>
                </c:pt>
                <c:pt idx="701">
                  <c:v>1.2096884649030972</c:v>
                </c:pt>
                <c:pt idx="702">
                  <c:v>1.3949584483917918</c:v>
                </c:pt>
                <c:pt idx="703">
                  <c:v>1.3540896344275535</c:v>
                </c:pt>
                <c:pt idx="704">
                  <c:v>1.5593586150111023</c:v>
                </c:pt>
                <c:pt idx="705">
                  <c:v>0.79953585184981302</c:v>
                </c:pt>
                <c:pt idx="706">
                  <c:v>0.64682696562046482</c:v>
                </c:pt>
                <c:pt idx="707">
                  <c:v>1.2911150137896203</c:v>
                </c:pt>
                <c:pt idx="708">
                  <c:v>-0.2738839526377787</c:v>
                </c:pt>
                <c:pt idx="709">
                  <c:v>-0.4005724318069358</c:v>
                </c:pt>
                <c:pt idx="710">
                  <c:v>-0.42871423205298398</c:v>
                </c:pt>
                <c:pt idx="711">
                  <c:v>0.10234792520892065</c:v>
                </c:pt>
                <c:pt idx="712">
                  <c:v>-0.2738839526377787</c:v>
                </c:pt>
                <c:pt idx="713">
                  <c:v>0.62620807032219783</c:v>
                </c:pt>
                <c:pt idx="714">
                  <c:v>1.5370981798052181</c:v>
                </c:pt>
                <c:pt idx="715">
                  <c:v>1.3999130792577477</c:v>
                </c:pt>
                <c:pt idx="716">
                  <c:v>0.32037262458624183</c:v>
                </c:pt>
                <c:pt idx="717">
                  <c:v>0.97580368332479439</c:v>
                </c:pt>
                <c:pt idx="718">
                  <c:v>-1.966549662822786E-2</c:v>
                </c:pt>
                <c:pt idx="719">
                  <c:v>0.51358200212383898</c:v>
                </c:pt>
                <c:pt idx="720">
                  <c:v>0.54531739584026173</c:v>
                </c:pt>
                <c:pt idx="721">
                  <c:v>-3.2765027968169108E-3</c:v>
                </c:pt>
                <c:pt idx="722">
                  <c:v>0.84246391731047765</c:v>
                </c:pt>
                <c:pt idx="723">
                  <c:v>0.24297455228287679</c:v>
                </c:pt>
                <c:pt idx="724">
                  <c:v>-0.58796986096667958</c:v>
                </c:pt>
                <c:pt idx="725">
                  <c:v>1.3108503222956092</c:v>
                </c:pt>
                <c:pt idx="726">
                  <c:v>1.1000352601002337</c:v>
                </c:pt>
                <c:pt idx="727">
                  <c:v>-0.2738839526377787</c:v>
                </c:pt>
                <c:pt idx="728">
                  <c:v>1.0660495157156342</c:v>
                </c:pt>
              </c:numCache>
            </c:numRef>
          </c:xVal>
          <c:yVal>
            <c:numRef>
              <c:f>Sheet1!$B$475:$B$1203</c:f>
              <c:numCache>
                <c:formatCode>General</c:formatCode>
                <c:ptCount val="729"/>
                <c:pt idx="0">
                  <c:v>-0.95035483254833775</c:v>
                </c:pt>
                <c:pt idx="1">
                  <c:v>6.8882880148495473E-2</c:v>
                </c:pt>
                <c:pt idx="2">
                  <c:v>-0.35413899129988669</c:v>
                </c:pt>
                <c:pt idx="3">
                  <c:v>-0.95035483254833775</c:v>
                </c:pt>
                <c:pt idx="4">
                  <c:v>-0.95035483254833775</c:v>
                </c:pt>
                <c:pt idx="5">
                  <c:v>0.66509872139694637</c:v>
                </c:pt>
                <c:pt idx="6">
                  <c:v>-0.95035483254833775</c:v>
                </c:pt>
                <c:pt idx="7">
                  <c:v>-0.95035483254833775</c:v>
                </c:pt>
                <c:pt idx="8">
                  <c:v>6.8882880148495473E-2</c:v>
                </c:pt>
                <c:pt idx="9">
                  <c:v>-0.95035483254833775</c:v>
                </c:pt>
                <c:pt idx="10">
                  <c:v>-0.35413899129988669</c:v>
                </c:pt>
                <c:pt idx="11">
                  <c:v>-0.35413899129988669</c:v>
                </c:pt>
                <c:pt idx="12">
                  <c:v>-0.35413899129988669</c:v>
                </c:pt>
                <c:pt idx="13">
                  <c:v>-0.95035483254833775</c:v>
                </c:pt>
                <c:pt idx="14">
                  <c:v>-0.95035483254833775</c:v>
                </c:pt>
                <c:pt idx="15">
                  <c:v>-0.95035483254833775</c:v>
                </c:pt>
                <c:pt idx="16">
                  <c:v>0.39700413523433969</c:v>
                </c:pt>
                <c:pt idx="17">
                  <c:v>-0.95035483254833775</c:v>
                </c:pt>
                <c:pt idx="18">
                  <c:v>-0.95035483254833775</c:v>
                </c:pt>
                <c:pt idx="19">
                  <c:v>-0.35413899129988669</c:v>
                </c:pt>
                <c:pt idx="20">
                  <c:v>-0.35413899129988669</c:v>
                </c:pt>
                <c:pt idx="21">
                  <c:v>-0.95035483254833775</c:v>
                </c:pt>
                <c:pt idx="22">
                  <c:v>-0.95035483254833775</c:v>
                </c:pt>
                <c:pt idx="23">
                  <c:v>-0.35413899129988669</c:v>
                </c:pt>
                <c:pt idx="24">
                  <c:v>-0.95035483254833775</c:v>
                </c:pt>
                <c:pt idx="25">
                  <c:v>-0.95035483254833775</c:v>
                </c:pt>
                <c:pt idx="26">
                  <c:v>-0.95035483254833775</c:v>
                </c:pt>
                <c:pt idx="27">
                  <c:v>-0.95035483254833775</c:v>
                </c:pt>
                <c:pt idx="28">
                  <c:v>-0.95035483254833775</c:v>
                </c:pt>
                <c:pt idx="29">
                  <c:v>-0.35413899129988669</c:v>
                </c:pt>
                <c:pt idx="30">
                  <c:v>-0.35413899129988669</c:v>
                </c:pt>
                <c:pt idx="31">
                  <c:v>-0.35413899129988669</c:v>
                </c:pt>
                <c:pt idx="32">
                  <c:v>-0.95035483254833775</c:v>
                </c:pt>
                <c:pt idx="33">
                  <c:v>-0.35413899129988669</c:v>
                </c:pt>
                <c:pt idx="34">
                  <c:v>-0.95035483254833775</c:v>
                </c:pt>
                <c:pt idx="35">
                  <c:v>-0.35413899129988669</c:v>
                </c:pt>
                <c:pt idx="36">
                  <c:v>-0.35413899129988669</c:v>
                </c:pt>
                <c:pt idx="37">
                  <c:v>-0.95035483254833775</c:v>
                </c:pt>
                <c:pt idx="38">
                  <c:v>-0.35413899129988669</c:v>
                </c:pt>
                <c:pt idx="39">
                  <c:v>-0.35413899129988669</c:v>
                </c:pt>
                <c:pt idx="40">
                  <c:v>-0.95035483254833775</c:v>
                </c:pt>
                <c:pt idx="41">
                  <c:v>0.39700413523433969</c:v>
                </c:pt>
                <c:pt idx="42">
                  <c:v>-0.95035483254833775</c:v>
                </c:pt>
                <c:pt idx="43">
                  <c:v>-0.95035483254833775</c:v>
                </c:pt>
                <c:pt idx="44">
                  <c:v>-0.35413899129988669</c:v>
                </c:pt>
                <c:pt idx="45">
                  <c:v>-0.95035483254833775</c:v>
                </c:pt>
                <c:pt idx="46">
                  <c:v>-0.95035483254833775</c:v>
                </c:pt>
                <c:pt idx="47">
                  <c:v>-0.95035483254833775</c:v>
                </c:pt>
                <c:pt idx="48">
                  <c:v>-0.35413899129988669</c:v>
                </c:pt>
                <c:pt idx="49">
                  <c:v>-0.95035483254833775</c:v>
                </c:pt>
                <c:pt idx="50">
                  <c:v>-0.95035483254833775</c:v>
                </c:pt>
                <c:pt idx="51">
                  <c:v>-0.35413899129988669</c:v>
                </c:pt>
                <c:pt idx="52">
                  <c:v>-0.95035483254833775</c:v>
                </c:pt>
                <c:pt idx="53">
                  <c:v>-0.95035483254833775</c:v>
                </c:pt>
                <c:pt idx="54">
                  <c:v>-0.35413899129988669</c:v>
                </c:pt>
                <c:pt idx="55">
                  <c:v>-0.35413899129988669</c:v>
                </c:pt>
                <c:pt idx="56">
                  <c:v>-0.95035483254833775</c:v>
                </c:pt>
                <c:pt idx="57">
                  <c:v>-0.35413899129988669</c:v>
                </c:pt>
                <c:pt idx="58">
                  <c:v>-0.35413899129988669</c:v>
                </c:pt>
                <c:pt idx="59">
                  <c:v>-0.95035483254833775</c:v>
                </c:pt>
                <c:pt idx="60">
                  <c:v>-0.35413899129988669</c:v>
                </c:pt>
                <c:pt idx="61">
                  <c:v>-0.95035483254833775</c:v>
                </c:pt>
                <c:pt idx="62">
                  <c:v>-0.95035483254833775</c:v>
                </c:pt>
                <c:pt idx="63">
                  <c:v>6.8882880148495473E-2</c:v>
                </c:pt>
                <c:pt idx="64">
                  <c:v>-0.95035483254833775</c:v>
                </c:pt>
                <c:pt idx="65">
                  <c:v>-0.95035483254833775</c:v>
                </c:pt>
                <c:pt idx="66">
                  <c:v>6.8882880148495473E-2</c:v>
                </c:pt>
                <c:pt idx="67">
                  <c:v>-0.95035483254833775</c:v>
                </c:pt>
                <c:pt idx="68">
                  <c:v>-0.35413899129988669</c:v>
                </c:pt>
                <c:pt idx="69">
                  <c:v>-0.35413899129988669</c:v>
                </c:pt>
                <c:pt idx="70">
                  <c:v>-0.95035483254833775</c:v>
                </c:pt>
                <c:pt idx="71">
                  <c:v>-0.95035483254833775</c:v>
                </c:pt>
                <c:pt idx="72">
                  <c:v>-0.35413899129988669</c:v>
                </c:pt>
                <c:pt idx="73">
                  <c:v>-0.35413899129988669</c:v>
                </c:pt>
                <c:pt idx="74">
                  <c:v>-0.95035483254833775</c:v>
                </c:pt>
                <c:pt idx="75">
                  <c:v>-0.95035483254833775</c:v>
                </c:pt>
                <c:pt idx="76">
                  <c:v>-0.35413899129988669</c:v>
                </c:pt>
                <c:pt idx="77">
                  <c:v>0.39700413523433969</c:v>
                </c:pt>
                <c:pt idx="78">
                  <c:v>-0.95035483254833775</c:v>
                </c:pt>
                <c:pt idx="79">
                  <c:v>-0.95035483254833775</c:v>
                </c:pt>
                <c:pt idx="80">
                  <c:v>-0.95035483254833775</c:v>
                </c:pt>
                <c:pt idx="81">
                  <c:v>-0.95035483254833775</c:v>
                </c:pt>
                <c:pt idx="82">
                  <c:v>-0.95035483254833775</c:v>
                </c:pt>
                <c:pt idx="83">
                  <c:v>6.8882880148495473E-2</c:v>
                </c:pt>
                <c:pt idx="84">
                  <c:v>-0.95035483254833775</c:v>
                </c:pt>
                <c:pt idx="85">
                  <c:v>0.39700413523433969</c:v>
                </c:pt>
                <c:pt idx="86">
                  <c:v>-0.95035483254833775</c:v>
                </c:pt>
                <c:pt idx="87">
                  <c:v>-0.35413899129988669</c:v>
                </c:pt>
                <c:pt idx="88">
                  <c:v>-0.95035483254833775</c:v>
                </c:pt>
                <c:pt idx="89">
                  <c:v>-0.95035483254833775</c:v>
                </c:pt>
                <c:pt idx="90">
                  <c:v>-0.35413899129988669</c:v>
                </c:pt>
                <c:pt idx="91">
                  <c:v>-0.95035483254833775</c:v>
                </c:pt>
                <c:pt idx="92">
                  <c:v>-0.95035483254833775</c:v>
                </c:pt>
                <c:pt idx="93">
                  <c:v>-0.95035483254833775</c:v>
                </c:pt>
                <c:pt idx="94">
                  <c:v>-0.95035483254833775</c:v>
                </c:pt>
                <c:pt idx="95">
                  <c:v>-0.95035483254833775</c:v>
                </c:pt>
                <c:pt idx="96">
                  <c:v>-0.95035483254833775</c:v>
                </c:pt>
                <c:pt idx="97">
                  <c:v>-0.95035483254833775</c:v>
                </c:pt>
                <c:pt idx="98">
                  <c:v>-0.95035483254833775</c:v>
                </c:pt>
                <c:pt idx="99">
                  <c:v>-0.35413899129988669</c:v>
                </c:pt>
                <c:pt idx="100">
                  <c:v>-0.95035483254833775</c:v>
                </c:pt>
                <c:pt idx="101">
                  <c:v>-0.95035483254833775</c:v>
                </c:pt>
                <c:pt idx="102">
                  <c:v>-0.95035483254833775</c:v>
                </c:pt>
                <c:pt idx="103">
                  <c:v>-0.95035483254833775</c:v>
                </c:pt>
                <c:pt idx="104">
                  <c:v>-0.35413899129988669</c:v>
                </c:pt>
                <c:pt idx="105">
                  <c:v>-0.95035483254833775</c:v>
                </c:pt>
                <c:pt idx="106">
                  <c:v>-0.95035483254833775</c:v>
                </c:pt>
                <c:pt idx="107">
                  <c:v>-0.95035483254833775</c:v>
                </c:pt>
                <c:pt idx="108">
                  <c:v>-0.35413899129988669</c:v>
                </c:pt>
                <c:pt idx="109">
                  <c:v>-0.95035483254833775</c:v>
                </c:pt>
                <c:pt idx="110">
                  <c:v>-0.95035483254833775</c:v>
                </c:pt>
                <c:pt idx="111">
                  <c:v>-0.95035483254833775</c:v>
                </c:pt>
                <c:pt idx="112">
                  <c:v>6.8882880148495473E-2</c:v>
                </c:pt>
                <c:pt idx="113">
                  <c:v>-0.35413899129988669</c:v>
                </c:pt>
                <c:pt idx="114">
                  <c:v>0.39700413523433969</c:v>
                </c:pt>
                <c:pt idx="115">
                  <c:v>6.8882880148495473E-2</c:v>
                </c:pt>
                <c:pt idx="116">
                  <c:v>-0.95035483254833775</c:v>
                </c:pt>
                <c:pt idx="117">
                  <c:v>-0.95035483254833775</c:v>
                </c:pt>
                <c:pt idx="118">
                  <c:v>-0.35413899129988669</c:v>
                </c:pt>
                <c:pt idx="119">
                  <c:v>-0.35413899129988669</c:v>
                </c:pt>
                <c:pt idx="120">
                  <c:v>-0.95035483254833775</c:v>
                </c:pt>
                <c:pt idx="121">
                  <c:v>6.8882880148495473E-2</c:v>
                </c:pt>
                <c:pt idx="122">
                  <c:v>-0.95035483254833775</c:v>
                </c:pt>
                <c:pt idx="123">
                  <c:v>-0.95035483254833775</c:v>
                </c:pt>
                <c:pt idx="124">
                  <c:v>-0.95035483254833775</c:v>
                </c:pt>
                <c:pt idx="125">
                  <c:v>-0.95035483254833775</c:v>
                </c:pt>
                <c:pt idx="126">
                  <c:v>-0.35413899129988669</c:v>
                </c:pt>
                <c:pt idx="127">
                  <c:v>-0.35413899129988669</c:v>
                </c:pt>
                <c:pt idx="128">
                  <c:v>-0.95035483254833775</c:v>
                </c:pt>
                <c:pt idx="129">
                  <c:v>-0.95035483254833775</c:v>
                </c:pt>
                <c:pt idx="130">
                  <c:v>-0.95035483254833775</c:v>
                </c:pt>
                <c:pt idx="131">
                  <c:v>-0.95035483254833775</c:v>
                </c:pt>
                <c:pt idx="132">
                  <c:v>-0.95035483254833775</c:v>
                </c:pt>
                <c:pt idx="133">
                  <c:v>-0.35413899129988669</c:v>
                </c:pt>
                <c:pt idx="134">
                  <c:v>-0.95035483254833775</c:v>
                </c:pt>
                <c:pt idx="135">
                  <c:v>-0.95035483254833775</c:v>
                </c:pt>
                <c:pt idx="136">
                  <c:v>6.8882880148495473E-2</c:v>
                </c:pt>
                <c:pt idx="137">
                  <c:v>0.39700413523433969</c:v>
                </c:pt>
                <c:pt idx="138">
                  <c:v>-0.35413899129988669</c:v>
                </c:pt>
                <c:pt idx="139">
                  <c:v>-0.95035483254833775</c:v>
                </c:pt>
                <c:pt idx="140">
                  <c:v>-0.95035483254833775</c:v>
                </c:pt>
                <c:pt idx="141">
                  <c:v>0.39700413523433969</c:v>
                </c:pt>
                <c:pt idx="142">
                  <c:v>-0.95035483254833775</c:v>
                </c:pt>
                <c:pt idx="143">
                  <c:v>-0.35413899129988669</c:v>
                </c:pt>
                <c:pt idx="144">
                  <c:v>-0.35413899129988669</c:v>
                </c:pt>
                <c:pt idx="145">
                  <c:v>-0.35413899129988669</c:v>
                </c:pt>
                <c:pt idx="146">
                  <c:v>-0.95035483254833775</c:v>
                </c:pt>
                <c:pt idx="147">
                  <c:v>-0.35413899129988669</c:v>
                </c:pt>
                <c:pt idx="148">
                  <c:v>-0.95035483254833775</c:v>
                </c:pt>
                <c:pt idx="149">
                  <c:v>-0.95035483254833775</c:v>
                </c:pt>
                <c:pt idx="150">
                  <c:v>-0.95035483254833775</c:v>
                </c:pt>
                <c:pt idx="151">
                  <c:v>0.39700413523433969</c:v>
                </c:pt>
                <c:pt idx="152">
                  <c:v>-0.95035483254833775</c:v>
                </c:pt>
                <c:pt idx="153">
                  <c:v>0.39700413523433969</c:v>
                </c:pt>
                <c:pt idx="154">
                  <c:v>6.8882880148495473E-2</c:v>
                </c:pt>
                <c:pt idx="155">
                  <c:v>-0.95035483254833775</c:v>
                </c:pt>
                <c:pt idx="156">
                  <c:v>-0.35413899129988669</c:v>
                </c:pt>
                <c:pt idx="157">
                  <c:v>-0.95035483254833775</c:v>
                </c:pt>
                <c:pt idx="158">
                  <c:v>-0.35413899129988669</c:v>
                </c:pt>
                <c:pt idx="159">
                  <c:v>-0.95035483254833775</c:v>
                </c:pt>
                <c:pt idx="160">
                  <c:v>-0.95035483254833775</c:v>
                </c:pt>
                <c:pt idx="161">
                  <c:v>0.66509872139694637</c:v>
                </c:pt>
                <c:pt idx="162">
                  <c:v>-0.35413899129988669</c:v>
                </c:pt>
                <c:pt idx="163">
                  <c:v>0.66509872139694637</c:v>
                </c:pt>
                <c:pt idx="164">
                  <c:v>-0.95035483254833775</c:v>
                </c:pt>
                <c:pt idx="165">
                  <c:v>-0.95035483254833775</c:v>
                </c:pt>
                <c:pt idx="166">
                  <c:v>-0.35413899129988669</c:v>
                </c:pt>
                <c:pt idx="167">
                  <c:v>-0.95035483254833775</c:v>
                </c:pt>
                <c:pt idx="168">
                  <c:v>-0.95035483254833775</c:v>
                </c:pt>
                <c:pt idx="169">
                  <c:v>-0.35413899129988669</c:v>
                </c:pt>
                <c:pt idx="170">
                  <c:v>-0.95035483254833775</c:v>
                </c:pt>
                <c:pt idx="171">
                  <c:v>-0.95035483254833775</c:v>
                </c:pt>
                <c:pt idx="172">
                  <c:v>-0.35413899129988669</c:v>
                </c:pt>
                <c:pt idx="173">
                  <c:v>-0.95035483254833775</c:v>
                </c:pt>
                <c:pt idx="174">
                  <c:v>-0.95035483254833775</c:v>
                </c:pt>
                <c:pt idx="175">
                  <c:v>-0.35413899129988669</c:v>
                </c:pt>
                <c:pt idx="176">
                  <c:v>-0.95035483254833775</c:v>
                </c:pt>
                <c:pt idx="177">
                  <c:v>-0.35413899129988669</c:v>
                </c:pt>
                <c:pt idx="178">
                  <c:v>-0.95035483254833775</c:v>
                </c:pt>
                <c:pt idx="179">
                  <c:v>-0.95035483254833775</c:v>
                </c:pt>
                <c:pt idx="180">
                  <c:v>-0.35413899129988669</c:v>
                </c:pt>
                <c:pt idx="181">
                  <c:v>-0.35413899129988669</c:v>
                </c:pt>
                <c:pt idx="182">
                  <c:v>-0.95035483254833775</c:v>
                </c:pt>
                <c:pt idx="183">
                  <c:v>-0.35413899129988669</c:v>
                </c:pt>
                <c:pt idx="184">
                  <c:v>6.8882880148495473E-2</c:v>
                </c:pt>
                <c:pt idx="185">
                  <c:v>-0.35413899129988669</c:v>
                </c:pt>
                <c:pt idx="186">
                  <c:v>-0.95035483254833775</c:v>
                </c:pt>
                <c:pt idx="187">
                  <c:v>-0.95035483254833775</c:v>
                </c:pt>
                <c:pt idx="188">
                  <c:v>-0.95035483254833775</c:v>
                </c:pt>
                <c:pt idx="189">
                  <c:v>-0.35413899129988669</c:v>
                </c:pt>
                <c:pt idx="190">
                  <c:v>-0.95035483254833775</c:v>
                </c:pt>
                <c:pt idx="191">
                  <c:v>-0.95035483254833775</c:v>
                </c:pt>
                <c:pt idx="192">
                  <c:v>-0.95035483254833775</c:v>
                </c:pt>
                <c:pt idx="193">
                  <c:v>-0.95035483254833775</c:v>
                </c:pt>
                <c:pt idx="194">
                  <c:v>-0.95035483254833775</c:v>
                </c:pt>
                <c:pt idx="195">
                  <c:v>6.8882880148495473E-2</c:v>
                </c:pt>
                <c:pt idx="196">
                  <c:v>6.8882880148495473E-2</c:v>
                </c:pt>
                <c:pt idx="197">
                  <c:v>6.8882880148495473E-2</c:v>
                </c:pt>
                <c:pt idx="198">
                  <c:v>6.8882880148495473E-2</c:v>
                </c:pt>
                <c:pt idx="199">
                  <c:v>0.39700413523433969</c:v>
                </c:pt>
                <c:pt idx="200">
                  <c:v>-0.95035483254833775</c:v>
                </c:pt>
                <c:pt idx="201">
                  <c:v>-0.95035483254833775</c:v>
                </c:pt>
                <c:pt idx="202">
                  <c:v>-0.35413899129988669</c:v>
                </c:pt>
                <c:pt idx="203">
                  <c:v>0.39700413523433969</c:v>
                </c:pt>
                <c:pt idx="204">
                  <c:v>6.8882880148495473E-2</c:v>
                </c:pt>
                <c:pt idx="205">
                  <c:v>-0.95035483254833775</c:v>
                </c:pt>
                <c:pt idx="206">
                  <c:v>-0.95035483254833775</c:v>
                </c:pt>
                <c:pt idx="207">
                  <c:v>-0.95035483254833775</c:v>
                </c:pt>
                <c:pt idx="208">
                  <c:v>-0.95035483254833775</c:v>
                </c:pt>
                <c:pt idx="209">
                  <c:v>-0.95035483254833775</c:v>
                </c:pt>
                <c:pt idx="210">
                  <c:v>-0.35413899129988669</c:v>
                </c:pt>
                <c:pt idx="211">
                  <c:v>-0.35413899129988669</c:v>
                </c:pt>
                <c:pt idx="212">
                  <c:v>6.8882880148495473E-2</c:v>
                </c:pt>
                <c:pt idx="213">
                  <c:v>-0.35413899129988669</c:v>
                </c:pt>
                <c:pt idx="214">
                  <c:v>6.8882880148495473E-2</c:v>
                </c:pt>
                <c:pt idx="215">
                  <c:v>-0.35413899129988669</c:v>
                </c:pt>
                <c:pt idx="216">
                  <c:v>-0.95035483254833775</c:v>
                </c:pt>
                <c:pt idx="217">
                  <c:v>-0.95035483254833775</c:v>
                </c:pt>
                <c:pt idx="218">
                  <c:v>6.8882880148495473E-2</c:v>
                </c:pt>
                <c:pt idx="219">
                  <c:v>-0.95035483254833775</c:v>
                </c:pt>
                <c:pt idx="220">
                  <c:v>6.8882880148495473E-2</c:v>
                </c:pt>
                <c:pt idx="221">
                  <c:v>6.8882880148495473E-2</c:v>
                </c:pt>
                <c:pt idx="222">
                  <c:v>-0.35413899129988669</c:v>
                </c:pt>
                <c:pt idx="223">
                  <c:v>6.8882880148495473E-2</c:v>
                </c:pt>
                <c:pt idx="224">
                  <c:v>-0.95035483254833775</c:v>
                </c:pt>
                <c:pt idx="225">
                  <c:v>-0.95035483254833775</c:v>
                </c:pt>
                <c:pt idx="226">
                  <c:v>-0.95035483254833775</c:v>
                </c:pt>
                <c:pt idx="227">
                  <c:v>-0.35413899129988669</c:v>
                </c:pt>
                <c:pt idx="228">
                  <c:v>-0.95035483254833775</c:v>
                </c:pt>
                <c:pt idx="229">
                  <c:v>0.39700413523433969</c:v>
                </c:pt>
                <c:pt idx="230">
                  <c:v>-0.35413899129988669</c:v>
                </c:pt>
                <c:pt idx="231">
                  <c:v>-0.35413899129988669</c:v>
                </c:pt>
                <c:pt idx="232">
                  <c:v>6.8882880148495473E-2</c:v>
                </c:pt>
                <c:pt idx="233">
                  <c:v>6.8882880148495473E-2</c:v>
                </c:pt>
                <c:pt idx="234">
                  <c:v>-0.95035483254833775</c:v>
                </c:pt>
                <c:pt idx="235">
                  <c:v>-0.95035483254833775</c:v>
                </c:pt>
                <c:pt idx="236">
                  <c:v>-0.95035483254833775</c:v>
                </c:pt>
                <c:pt idx="237">
                  <c:v>0.39700413523433969</c:v>
                </c:pt>
                <c:pt idx="238">
                  <c:v>-0.35413899129988669</c:v>
                </c:pt>
                <c:pt idx="239">
                  <c:v>-0.95035483254833775</c:v>
                </c:pt>
                <c:pt idx="240">
                  <c:v>-0.95035483254833775</c:v>
                </c:pt>
                <c:pt idx="241">
                  <c:v>-0.95035483254833775</c:v>
                </c:pt>
                <c:pt idx="242">
                  <c:v>-0.95035483254833775</c:v>
                </c:pt>
                <c:pt idx="243">
                  <c:v>-0.95035483254833775</c:v>
                </c:pt>
                <c:pt idx="244">
                  <c:v>-0.35413899129988669</c:v>
                </c:pt>
                <c:pt idx="245">
                  <c:v>-0.95035483254833775</c:v>
                </c:pt>
                <c:pt idx="246">
                  <c:v>-0.95035483254833775</c:v>
                </c:pt>
                <c:pt idx="247">
                  <c:v>-0.95035483254833775</c:v>
                </c:pt>
                <c:pt idx="248">
                  <c:v>-0.35413899129988669</c:v>
                </c:pt>
                <c:pt idx="249">
                  <c:v>-0.95035483254833775</c:v>
                </c:pt>
                <c:pt idx="250">
                  <c:v>-0.95035483254833775</c:v>
                </c:pt>
                <c:pt idx="251">
                  <c:v>0.39700413523433969</c:v>
                </c:pt>
                <c:pt idx="252">
                  <c:v>-0.35413899129988669</c:v>
                </c:pt>
                <c:pt idx="253">
                  <c:v>-0.35413899129988669</c:v>
                </c:pt>
                <c:pt idx="254">
                  <c:v>-0.95035483254833775</c:v>
                </c:pt>
                <c:pt idx="255">
                  <c:v>0.66509872139694637</c:v>
                </c:pt>
                <c:pt idx="256">
                  <c:v>-0.95035483254833775</c:v>
                </c:pt>
                <c:pt idx="257">
                  <c:v>-0.95035483254833775</c:v>
                </c:pt>
                <c:pt idx="258">
                  <c:v>-0.95035483254833775</c:v>
                </c:pt>
                <c:pt idx="259">
                  <c:v>0.39700413523433969</c:v>
                </c:pt>
                <c:pt idx="260">
                  <c:v>-0.95035483254833775</c:v>
                </c:pt>
                <c:pt idx="261">
                  <c:v>-0.95035483254833775</c:v>
                </c:pt>
                <c:pt idx="262">
                  <c:v>-0.95035483254833775</c:v>
                </c:pt>
                <c:pt idx="263">
                  <c:v>6.8882880148495473E-2</c:v>
                </c:pt>
                <c:pt idx="264">
                  <c:v>-0.35413899129988669</c:v>
                </c:pt>
                <c:pt idx="265">
                  <c:v>-0.95035483254833775</c:v>
                </c:pt>
                <c:pt idx="266">
                  <c:v>0.39700413523433969</c:v>
                </c:pt>
                <c:pt idx="267">
                  <c:v>-0.35413899129988669</c:v>
                </c:pt>
                <c:pt idx="268">
                  <c:v>-0.95035483254833775</c:v>
                </c:pt>
                <c:pt idx="269">
                  <c:v>-0.35413899129988669</c:v>
                </c:pt>
                <c:pt idx="270">
                  <c:v>-0.95035483254833775</c:v>
                </c:pt>
                <c:pt idx="271">
                  <c:v>-0.35413899129988669</c:v>
                </c:pt>
                <c:pt idx="272">
                  <c:v>-0.95035483254833775</c:v>
                </c:pt>
                <c:pt idx="273">
                  <c:v>-0.95035483254833775</c:v>
                </c:pt>
                <c:pt idx="274">
                  <c:v>-0.95035483254833775</c:v>
                </c:pt>
                <c:pt idx="275">
                  <c:v>-0.95035483254833775</c:v>
                </c:pt>
                <c:pt idx="276">
                  <c:v>-0.95035483254833775</c:v>
                </c:pt>
                <c:pt idx="277">
                  <c:v>-0.95035483254833775</c:v>
                </c:pt>
                <c:pt idx="278">
                  <c:v>-0.95035483254833775</c:v>
                </c:pt>
                <c:pt idx="279">
                  <c:v>-0.35413899129988669</c:v>
                </c:pt>
                <c:pt idx="280">
                  <c:v>-0.95035483254833775</c:v>
                </c:pt>
                <c:pt idx="281">
                  <c:v>-0.95035483254833775</c:v>
                </c:pt>
                <c:pt idx="282">
                  <c:v>-0.35413899129988669</c:v>
                </c:pt>
                <c:pt idx="283">
                  <c:v>-0.35413899129988669</c:v>
                </c:pt>
                <c:pt idx="284">
                  <c:v>-0.95035483254833775</c:v>
                </c:pt>
                <c:pt idx="285">
                  <c:v>-0.35413899129988669</c:v>
                </c:pt>
                <c:pt idx="286">
                  <c:v>-0.95035483254833775</c:v>
                </c:pt>
                <c:pt idx="287">
                  <c:v>-0.95035483254833775</c:v>
                </c:pt>
                <c:pt idx="288">
                  <c:v>-0.95035483254833775</c:v>
                </c:pt>
                <c:pt idx="289">
                  <c:v>-0.95035483254833775</c:v>
                </c:pt>
                <c:pt idx="290">
                  <c:v>-0.35413899129988669</c:v>
                </c:pt>
                <c:pt idx="291">
                  <c:v>-0.95035483254833775</c:v>
                </c:pt>
                <c:pt idx="292">
                  <c:v>-0.95035483254833775</c:v>
                </c:pt>
                <c:pt idx="293">
                  <c:v>0.66509872139694637</c:v>
                </c:pt>
                <c:pt idx="294">
                  <c:v>-0.95035483254833775</c:v>
                </c:pt>
                <c:pt idx="295">
                  <c:v>-0.95035483254833775</c:v>
                </c:pt>
                <c:pt idx="296">
                  <c:v>-0.95035483254833775</c:v>
                </c:pt>
                <c:pt idx="297">
                  <c:v>-0.95035483254833775</c:v>
                </c:pt>
                <c:pt idx="298">
                  <c:v>6.8882880148495473E-2</c:v>
                </c:pt>
                <c:pt idx="299">
                  <c:v>0.39700413523433969</c:v>
                </c:pt>
                <c:pt idx="300">
                  <c:v>6.8882880148495473E-2</c:v>
                </c:pt>
                <c:pt idx="301">
                  <c:v>0.39700413523433969</c:v>
                </c:pt>
                <c:pt idx="302">
                  <c:v>-0.95035483254833775</c:v>
                </c:pt>
                <c:pt idx="303">
                  <c:v>-0.35413899129988669</c:v>
                </c:pt>
                <c:pt idx="304">
                  <c:v>-0.95035483254833775</c:v>
                </c:pt>
                <c:pt idx="305">
                  <c:v>-0.35413899129988669</c:v>
                </c:pt>
                <c:pt idx="306">
                  <c:v>-0.95035483254833775</c:v>
                </c:pt>
                <c:pt idx="307">
                  <c:v>-0.95035483254833775</c:v>
                </c:pt>
                <c:pt idx="308">
                  <c:v>-0.35413899129988669</c:v>
                </c:pt>
                <c:pt idx="309">
                  <c:v>-0.35413899129988669</c:v>
                </c:pt>
                <c:pt idx="310">
                  <c:v>-0.95035483254833775</c:v>
                </c:pt>
                <c:pt idx="311">
                  <c:v>-0.35413899129988669</c:v>
                </c:pt>
                <c:pt idx="312">
                  <c:v>-0.95035483254833775</c:v>
                </c:pt>
                <c:pt idx="313">
                  <c:v>-0.95035483254833775</c:v>
                </c:pt>
                <c:pt idx="314">
                  <c:v>6.8882880148495473E-2</c:v>
                </c:pt>
                <c:pt idx="315">
                  <c:v>6.8882880148495473E-2</c:v>
                </c:pt>
                <c:pt idx="316">
                  <c:v>6.8882880148495473E-2</c:v>
                </c:pt>
                <c:pt idx="317">
                  <c:v>-0.95035483254833775</c:v>
                </c:pt>
                <c:pt idx="318">
                  <c:v>-0.35413899129988669</c:v>
                </c:pt>
                <c:pt idx="319">
                  <c:v>0.39700413523433969</c:v>
                </c:pt>
                <c:pt idx="320">
                  <c:v>-0.95035483254833775</c:v>
                </c:pt>
                <c:pt idx="321">
                  <c:v>-0.95035483254833775</c:v>
                </c:pt>
                <c:pt idx="322">
                  <c:v>-0.35413899129988669</c:v>
                </c:pt>
                <c:pt idx="323">
                  <c:v>-0.95035483254833775</c:v>
                </c:pt>
                <c:pt idx="324">
                  <c:v>-0.35413899129988669</c:v>
                </c:pt>
                <c:pt idx="325">
                  <c:v>-0.35413899129988669</c:v>
                </c:pt>
                <c:pt idx="326">
                  <c:v>-0.35413899129988669</c:v>
                </c:pt>
                <c:pt idx="327">
                  <c:v>-0.95035483254833775</c:v>
                </c:pt>
                <c:pt idx="328">
                  <c:v>-0.35413899129988669</c:v>
                </c:pt>
                <c:pt idx="329">
                  <c:v>-0.95035483254833775</c:v>
                </c:pt>
                <c:pt idx="330">
                  <c:v>-0.35413899129988669</c:v>
                </c:pt>
                <c:pt idx="331">
                  <c:v>6.8882880148495473E-2</c:v>
                </c:pt>
                <c:pt idx="332">
                  <c:v>-0.95035483254833775</c:v>
                </c:pt>
                <c:pt idx="333">
                  <c:v>-0.35413899129988669</c:v>
                </c:pt>
                <c:pt idx="334">
                  <c:v>-0.95035483254833775</c:v>
                </c:pt>
                <c:pt idx="335">
                  <c:v>6.8882880148495473E-2</c:v>
                </c:pt>
                <c:pt idx="336">
                  <c:v>-0.95035483254833775</c:v>
                </c:pt>
                <c:pt idx="337">
                  <c:v>-0.35413899129988669</c:v>
                </c:pt>
                <c:pt idx="338">
                  <c:v>-0.95035483254833775</c:v>
                </c:pt>
                <c:pt idx="339">
                  <c:v>6.8882880148495473E-2</c:v>
                </c:pt>
                <c:pt idx="340">
                  <c:v>-0.95035483254833775</c:v>
                </c:pt>
                <c:pt idx="341">
                  <c:v>6.8882880148495473E-2</c:v>
                </c:pt>
                <c:pt idx="342">
                  <c:v>-0.35413899129988669</c:v>
                </c:pt>
                <c:pt idx="343">
                  <c:v>-0.95035483254833775</c:v>
                </c:pt>
                <c:pt idx="344">
                  <c:v>-0.35413899129988669</c:v>
                </c:pt>
                <c:pt idx="345">
                  <c:v>-0.95035483254833775</c:v>
                </c:pt>
                <c:pt idx="346">
                  <c:v>-0.95035483254833775</c:v>
                </c:pt>
                <c:pt idx="347">
                  <c:v>-0.95035483254833775</c:v>
                </c:pt>
                <c:pt idx="348">
                  <c:v>-0.95035483254833775</c:v>
                </c:pt>
                <c:pt idx="349">
                  <c:v>-0.95035483254833775</c:v>
                </c:pt>
                <c:pt idx="350">
                  <c:v>-0.35413899129988669</c:v>
                </c:pt>
                <c:pt idx="351">
                  <c:v>-0.95035483254833775</c:v>
                </c:pt>
                <c:pt idx="352">
                  <c:v>-0.95035483254833775</c:v>
                </c:pt>
                <c:pt idx="353">
                  <c:v>-0.35413899129988669</c:v>
                </c:pt>
                <c:pt idx="354">
                  <c:v>-0.35413899129988669</c:v>
                </c:pt>
                <c:pt idx="355">
                  <c:v>-0.95035483254833775</c:v>
                </c:pt>
                <c:pt idx="356">
                  <c:v>-0.95035483254833775</c:v>
                </c:pt>
                <c:pt idx="357">
                  <c:v>-0.95035483254833775</c:v>
                </c:pt>
                <c:pt idx="358">
                  <c:v>-0.95035483254833775</c:v>
                </c:pt>
                <c:pt idx="359">
                  <c:v>-0.95035483254833775</c:v>
                </c:pt>
                <c:pt idx="360">
                  <c:v>-0.35413899129988669</c:v>
                </c:pt>
                <c:pt idx="361">
                  <c:v>-0.95035483254833775</c:v>
                </c:pt>
                <c:pt idx="362">
                  <c:v>-0.95035483254833775</c:v>
                </c:pt>
                <c:pt idx="363">
                  <c:v>-0.95035483254833775</c:v>
                </c:pt>
                <c:pt idx="364">
                  <c:v>-0.95035483254833775</c:v>
                </c:pt>
                <c:pt idx="365">
                  <c:v>-0.35413899129988669</c:v>
                </c:pt>
                <c:pt idx="366">
                  <c:v>-0.35413899129988669</c:v>
                </c:pt>
                <c:pt idx="367">
                  <c:v>-0.35413899129988669</c:v>
                </c:pt>
                <c:pt idx="368">
                  <c:v>-0.95035483254833775</c:v>
                </c:pt>
                <c:pt idx="369">
                  <c:v>6.8882880148495473E-2</c:v>
                </c:pt>
                <c:pt idx="370">
                  <c:v>-0.95035483254833775</c:v>
                </c:pt>
                <c:pt idx="371">
                  <c:v>-0.95035483254833775</c:v>
                </c:pt>
                <c:pt idx="372">
                  <c:v>-0.95035483254833775</c:v>
                </c:pt>
                <c:pt idx="373">
                  <c:v>-0.95035483254833775</c:v>
                </c:pt>
                <c:pt idx="374">
                  <c:v>-0.95035483254833775</c:v>
                </c:pt>
                <c:pt idx="375">
                  <c:v>-0.95035483254833775</c:v>
                </c:pt>
                <c:pt idx="376">
                  <c:v>-0.95035483254833775</c:v>
                </c:pt>
                <c:pt idx="377">
                  <c:v>-0.95035483254833775</c:v>
                </c:pt>
                <c:pt idx="378">
                  <c:v>-0.35413899129988669</c:v>
                </c:pt>
                <c:pt idx="379">
                  <c:v>-0.95035483254833775</c:v>
                </c:pt>
                <c:pt idx="380">
                  <c:v>-0.35413899129988669</c:v>
                </c:pt>
                <c:pt idx="381">
                  <c:v>-0.95035483254833775</c:v>
                </c:pt>
                <c:pt idx="382">
                  <c:v>-0.95035483254833775</c:v>
                </c:pt>
                <c:pt idx="383">
                  <c:v>-0.35413899129988669</c:v>
                </c:pt>
                <c:pt idx="384">
                  <c:v>-0.35413899129988669</c:v>
                </c:pt>
                <c:pt idx="385">
                  <c:v>-0.95035483254833775</c:v>
                </c:pt>
                <c:pt idx="386">
                  <c:v>-0.95035483254833775</c:v>
                </c:pt>
                <c:pt idx="387">
                  <c:v>0.39700413523433969</c:v>
                </c:pt>
                <c:pt idx="388">
                  <c:v>-0.35413899129988669</c:v>
                </c:pt>
                <c:pt idx="389">
                  <c:v>6.8882880148495473E-2</c:v>
                </c:pt>
                <c:pt idx="390">
                  <c:v>6.8882880148495473E-2</c:v>
                </c:pt>
                <c:pt idx="391">
                  <c:v>0.39700413523433969</c:v>
                </c:pt>
                <c:pt idx="392">
                  <c:v>-0.95035483254833775</c:v>
                </c:pt>
                <c:pt idx="393">
                  <c:v>-0.35413899129988669</c:v>
                </c:pt>
                <c:pt idx="394">
                  <c:v>0.39700413523433969</c:v>
                </c:pt>
                <c:pt idx="395">
                  <c:v>-0.35413899129988669</c:v>
                </c:pt>
                <c:pt idx="396">
                  <c:v>-0.35413899129988669</c:v>
                </c:pt>
                <c:pt idx="397">
                  <c:v>-0.95035483254833775</c:v>
                </c:pt>
                <c:pt idx="398">
                  <c:v>6.8882880148495473E-2</c:v>
                </c:pt>
                <c:pt idx="399">
                  <c:v>-0.35413899129988669</c:v>
                </c:pt>
                <c:pt idx="400">
                  <c:v>6.8882880148495473E-2</c:v>
                </c:pt>
                <c:pt idx="401">
                  <c:v>-0.35413899129988669</c:v>
                </c:pt>
                <c:pt idx="402">
                  <c:v>6.8882880148495473E-2</c:v>
                </c:pt>
                <c:pt idx="403">
                  <c:v>-0.95035483254833775</c:v>
                </c:pt>
                <c:pt idx="404">
                  <c:v>-0.35413899129988669</c:v>
                </c:pt>
                <c:pt idx="405">
                  <c:v>-0.35413899129988669</c:v>
                </c:pt>
                <c:pt idx="406">
                  <c:v>0.66509872139694637</c:v>
                </c:pt>
                <c:pt idx="407">
                  <c:v>6.8882880148495473E-2</c:v>
                </c:pt>
                <c:pt idx="408">
                  <c:v>-0.35413899129988669</c:v>
                </c:pt>
                <c:pt idx="409">
                  <c:v>6.8882880148495473E-2</c:v>
                </c:pt>
                <c:pt idx="410">
                  <c:v>-0.95035483254833775</c:v>
                </c:pt>
                <c:pt idx="411">
                  <c:v>-0.35413899129988669</c:v>
                </c:pt>
                <c:pt idx="412">
                  <c:v>-0.95035483254833775</c:v>
                </c:pt>
                <c:pt idx="413">
                  <c:v>-0.35413899129988669</c:v>
                </c:pt>
                <c:pt idx="414">
                  <c:v>6.8882880148495473E-2</c:v>
                </c:pt>
                <c:pt idx="415">
                  <c:v>6.8882880148495473E-2</c:v>
                </c:pt>
                <c:pt idx="416">
                  <c:v>-0.35413899129988669</c:v>
                </c:pt>
                <c:pt idx="417">
                  <c:v>-0.35413899129988669</c:v>
                </c:pt>
                <c:pt idx="418">
                  <c:v>-0.95035483254833775</c:v>
                </c:pt>
                <c:pt idx="419">
                  <c:v>6.8882880148495473E-2</c:v>
                </c:pt>
                <c:pt idx="420">
                  <c:v>-0.95035483254833775</c:v>
                </c:pt>
                <c:pt idx="421">
                  <c:v>-0.35413899129988669</c:v>
                </c:pt>
                <c:pt idx="422">
                  <c:v>-0.35413899129988669</c:v>
                </c:pt>
                <c:pt idx="423">
                  <c:v>6.8882880148495473E-2</c:v>
                </c:pt>
                <c:pt idx="424">
                  <c:v>-0.35413899129988669</c:v>
                </c:pt>
                <c:pt idx="425">
                  <c:v>-0.95035483254833775</c:v>
                </c:pt>
                <c:pt idx="426">
                  <c:v>-0.95035483254833775</c:v>
                </c:pt>
                <c:pt idx="427">
                  <c:v>-0.95035483254833775</c:v>
                </c:pt>
                <c:pt idx="428">
                  <c:v>-0.35413899129988669</c:v>
                </c:pt>
                <c:pt idx="429">
                  <c:v>-0.95035483254833775</c:v>
                </c:pt>
                <c:pt idx="430">
                  <c:v>-0.95035483254833775</c:v>
                </c:pt>
                <c:pt idx="431">
                  <c:v>-0.95035483254833775</c:v>
                </c:pt>
                <c:pt idx="432">
                  <c:v>6.8882880148495473E-2</c:v>
                </c:pt>
                <c:pt idx="433">
                  <c:v>6.8882880148495473E-2</c:v>
                </c:pt>
                <c:pt idx="434">
                  <c:v>-0.95035483254833775</c:v>
                </c:pt>
                <c:pt idx="435">
                  <c:v>-0.95035483254833775</c:v>
                </c:pt>
                <c:pt idx="436">
                  <c:v>-0.95035483254833775</c:v>
                </c:pt>
                <c:pt idx="437">
                  <c:v>-0.95035483254833775</c:v>
                </c:pt>
                <c:pt idx="438">
                  <c:v>-0.35413899129988669</c:v>
                </c:pt>
                <c:pt idx="439">
                  <c:v>-0.95035483254833775</c:v>
                </c:pt>
                <c:pt idx="440">
                  <c:v>-0.95035483254833775</c:v>
                </c:pt>
                <c:pt idx="441">
                  <c:v>-0.35413899129988669</c:v>
                </c:pt>
                <c:pt idx="442">
                  <c:v>-0.35413899129988669</c:v>
                </c:pt>
                <c:pt idx="443">
                  <c:v>-0.35413899129988669</c:v>
                </c:pt>
                <c:pt idx="444">
                  <c:v>-0.95035483254833775</c:v>
                </c:pt>
                <c:pt idx="445">
                  <c:v>-0.95035483254833775</c:v>
                </c:pt>
                <c:pt idx="446">
                  <c:v>-0.35413899129988669</c:v>
                </c:pt>
                <c:pt idx="447">
                  <c:v>-0.95035483254833775</c:v>
                </c:pt>
                <c:pt idx="448">
                  <c:v>-0.95035483254833775</c:v>
                </c:pt>
                <c:pt idx="449">
                  <c:v>6.8882880148495473E-2</c:v>
                </c:pt>
                <c:pt idx="450">
                  <c:v>6.8882880148495473E-2</c:v>
                </c:pt>
                <c:pt idx="451">
                  <c:v>-0.95035483254833775</c:v>
                </c:pt>
                <c:pt idx="452">
                  <c:v>0.39700413523433969</c:v>
                </c:pt>
                <c:pt idx="453">
                  <c:v>-0.35413899129988669</c:v>
                </c:pt>
                <c:pt idx="454">
                  <c:v>-0.95035483254833775</c:v>
                </c:pt>
                <c:pt idx="455">
                  <c:v>-0.35413899129988669</c:v>
                </c:pt>
                <c:pt idx="456">
                  <c:v>-0.35413899129988669</c:v>
                </c:pt>
                <c:pt idx="457">
                  <c:v>-0.95035483254833775</c:v>
                </c:pt>
                <c:pt idx="458">
                  <c:v>-0.95035483254833775</c:v>
                </c:pt>
                <c:pt idx="459">
                  <c:v>6.8882880148495473E-2</c:v>
                </c:pt>
                <c:pt idx="460">
                  <c:v>-0.35413899129988669</c:v>
                </c:pt>
                <c:pt idx="461">
                  <c:v>-0.95035483254833775</c:v>
                </c:pt>
                <c:pt idx="462">
                  <c:v>-0.35413899129988669</c:v>
                </c:pt>
                <c:pt idx="463">
                  <c:v>-0.95035483254833775</c:v>
                </c:pt>
                <c:pt idx="464">
                  <c:v>-0.95035483254833775</c:v>
                </c:pt>
                <c:pt idx="465">
                  <c:v>-0.35413899129988669</c:v>
                </c:pt>
                <c:pt idx="466">
                  <c:v>-0.95035483254833775</c:v>
                </c:pt>
                <c:pt idx="467">
                  <c:v>-0.95035483254833775</c:v>
                </c:pt>
                <c:pt idx="468">
                  <c:v>-0.95035483254833775</c:v>
                </c:pt>
                <c:pt idx="469">
                  <c:v>-0.35413899129988669</c:v>
                </c:pt>
                <c:pt idx="470">
                  <c:v>-0.95035483254833775</c:v>
                </c:pt>
                <c:pt idx="471">
                  <c:v>-0.35413899129988669</c:v>
                </c:pt>
                <c:pt idx="472">
                  <c:v>-0.35413899129988669</c:v>
                </c:pt>
                <c:pt idx="473">
                  <c:v>-0.35413899129988669</c:v>
                </c:pt>
                <c:pt idx="474">
                  <c:v>-0.95035483254833775</c:v>
                </c:pt>
                <c:pt idx="475">
                  <c:v>-0.95035483254833775</c:v>
                </c:pt>
                <c:pt idx="476">
                  <c:v>-0.95035483254833775</c:v>
                </c:pt>
                <c:pt idx="477">
                  <c:v>-0.35413899129988669</c:v>
                </c:pt>
                <c:pt idx="478">
                  <c:v>-0.95035483254833775</c:v>
                </c:pt>
                <c:pt idx="479">
                  <c:v>-0.95035483254833775</c:v>
                </c:pt>
                <c:pt idx="480">
                  <c:v>-0.95035483254833775</c:v>
                </c:pt>
                <c:pt idx="481">
                  <c:v>-0.35413899129988669</c:v>
                </c:pt>
                <c:pt idx="482">
                  <c:v>-0.95035483254833775</c:v>
                </c:pt>
                <c:pt idx="483">
                  <c:v>-0.95035483254833775</c:v>
                </c:pt>
                <c:pt idx="484">
                  <c:v>-0.35413899129988669</c:v>
                </c:pt>
                <c:pt idx="485">
                  <c:v>-0.95035483254833775</c:v>
                </c:pt>
                <c:pt idx="486">
                  <c:v>-0.95035483254833775</c:v>
                </c:pt>
                <c:pt idx="487">
                  <c:v>6.8882880148495473E-2</c:v>
                </c:pt>
                <c:pt idx="488">
                  <c:v>-0.35413899129988669</c:v>
                </c:pt>
                <c:pt idx="489">
                  <c:v>-0.95035483254833775</c:v>
                </c:pt>
                <c:pt idx="490">
                  <c:v>-0.95035483254833775</c:v>
                </c:pt>
                <c:pt idx="491">
                  <c:v>6.8882880148495473E-2</c:v>
                </c:pt>
                <c:pt idx="492">
                  <c:v>-0.35413899129988669</c:v>
                </c:pt>
                <c:pt idx="493">
                  <c:v>-0.95035483254833775</c:v>
                </c:pt>
                <c:pt idx="494">
                  <c:v>-0.95035483254833775</c:v>
                </c:pt>
                <c:pt idx="495">
                  <c:v>-0.95035483254833775</c:v>
                </c:pt>
                <c:pt idx="496">
                  <c:v>-0.35413899129988669</c:v>
                </c:pt>
                <c:pt idx="497">
                  <c:v>-0.35413899129988669</c:v>
                </c:pt>
                <c:pt idx="498">
                  <c:v>-0.95035483254833775</c:v>
                </c:pt>
                <c:pt idx="499">
                  <c:v>-0.35413899129988669</c:v>
                </c:pt>
                <c:pt idx="500">
                  <c:v>-0.35413899129988669</c:v>
                </c:pt>
                <c:pt idx="501">
                  <c:v>-0.35413899129988669</c:v>
                </c:pt>
                <c:pt idx="502">
                  <c:v>-0.95035483254833775</c:v>
                </c:pt>
                <c:pt idx="503">
                  <c:v>6.8882880148495473E-2</c:v>
                </c:pt>
                <c:pt idx="504">
                  <c:v>-0.95035483254833775</c:v>
                </c:pt>
                <c:pt idx="505">
                  <c:v>-0.95035483254833775</c:v>
                </c:pt>
                <c:pt idx="506">
                  <c:v>6.8882880148495473E-2</c:v>
                </c:pt>
                <c:pt idx="507">
                  <c:v>-0.95035483254833775</c:v>
                </c:pt>
                <c:pt idx="508">
                  <c:v>-0.95035483254833775</c:v>
                </c:pt>
                <c:pt idx="509">
                  <c:v>-0.95035483254833775</c:v>
                </c:pt>
                <c:pt idx="510">
                  <c:v>-0.95035483254833775</c:v>
                </c:pt>
                <c:pt idx="511">
                  <c:v>-0.95035483254833775</c:v>
                </c:pt>
                <c:pt idx="512">
                  <c:v>-0.35413899129988669</c:v>
                </c:pt>
                <c:pt idx="513">
                  <c:v>-0.95035483254833775</c:v>
                </c:pt>
                <c:pt idx="514">
                  <c:v>6.8882880148495473E-2</c:v>
                </c:pt>
                <c:pt idx="515">
                  <c:v>-0.95035483254833775</c:v>
                </c:pt>
                <c:pt idx="516">
                  <c:v>-0.35413899129988669</c:v>
                </c:pt>
                <c:pt idx="517">
                  <c:v>-0.35413899129988669</c:v>
                </c:pt>
                <c:pt idx="518">
                  <c:v>-0.95035483254833775</c:v>
                </c:pt>
                <c:pt idx="519">
                  <c:v>6.8882880148495473E-2</c:v>
                </c:pt>
                <c:pt idx="520">
                  <c:v>0.39700413523433969</c:v>
                </c:pt>
                <c:pt idx="521">
                  <c:v>-0.95035483254833775</c:v>
                </c:pt>
                <c:pt idx="522">
                  <c:v>-0.35413899129988669</c:v>
                </c:pt>
                <c:pt idx="523">
                  <c:v>-0.35413899129988669</c:v>
                </c:pt>
                <c:pt idx="524">
                  <c:v>-0.35413899129988669</c:v>
                </c:pt>
                <c:pt idx="525">
                  <c:v>-0.95035483254833775</c:v>
                </c:pt>
                <c:pt idx="526">
                  <c:v>-0.95035483254833775</c:v>
                </c:pt>
                <c:pt idx="527">
                  <c:v>-0.95035483254833775</c:v>
                </c:pt>
                <c:pt idx="528">
                  <c:v>-0.95035483254833775</c:v>
                </c:pt>
                <c:pt idx="529">
                  <c:v>-0.95035483254833775</c:v>
                </c:pt>
                <c:pt idx="530">
                  <c:v>-0.95035483254833775</c:v>
                </c:pt>
                <c:pt idx="531">
                  <c:v>-0.35413899129988669</c:v>
                </c:pt>
                <c:pt idx="532">
                  <c:v>-0.35413899129988669</c:v>
                </c:pt>
                <c:pt idx="533">
                  <c:v>-0.95035483254833775</c:v>
                </c:pt>
                <c:pt idx="534">
                  <c:v>-0.95035483254833775</c:v>
                </c:pt>
                <c:pt idx="535">
                  <c:v>-0.95035483254833775</c:v>
                </c:pt>
                <c:pt idx="536">
                  <c:v>6.8882880148495473E-2</c:v>
                </c:pt>
                <c:pt idx="537">
                  <c:v>-0.95035483254833775</c:v>
                </c:pt>
                <c:pt idx="538">
                  <c:v>6.8882880148495473E-2</c:v>
                </c:pt>
                <c:pt idx="539">
                  <c:v>-0.95035483254833775</c:v>
                </c:pt>
                <c:pt idx="540">
                  <c:v>-0.35413899129988669</c:v>
                </c:pt>
                <c:pt idx="541">
                  <c:v>-0.95035483254833775</c:v>
                </c:pt>
                <c:pt idx="542">
                  <c:v>-0.95035483254833775</c:v>
                </c:pt>
                <c:pt idx="543">
                  <c:v>6.8882880148495473E-2</c:v>
                </c:pt>
                <c:pt idx="544">
                  <c:v>-0.95035483254833775</c:v>
                </c:pt>
                <c:pt idx="545">
                  <c:v>-0.95035483254833775</c:v>
                </c:pt>
                <c:pt idx="546">
                  <c:v>-0.35413899129988669</c:v>
                </c:pt>
                <c:pt idx="547">
                  <c:v>-0.35413899129988669</c:v>
                </c:pt>
                <c:pt idx="548">
                  <c:v>-0.95035483254833775</c:v>
                </c:pt>
                <c:pt idx="549">
                  <c:v>-0.95035483254833775</c:v>
                </c:pt>
                <c:pt idx="550">
                  <c:v>-0.35413899129988669</c:v>
                </c:pt>
                <c:pt idx="551">
                  <c:v>-0.35413899129988669</c:v>
                </c:pt>
                <c:pt idx="552">
                  <c:v>6.8882880148495473E-2</c:v>
                </c:pt>
                <c:pt idx="553">
                  <c:v>-0.95035483254833775</c:v>
                </c:pt>
                <c:pt idx="554">
                  <c:v>-0.95035483254833775</c:v>
                </c:pt>
                <c:pt idx="555">
                  <c:v>-0.95035483254833775</c:v>
                </c:pt>
                <c:pt idx="556">
                  <c:v>-0.95035483254833775</c:v>
                </c:pt>
                <c:pt idx="557">
                  <c:v>6.8882880148495473E-2</c:v>
                </c:pt>
                <c:pt idx="558">
                  <c:v>-0.95035483254833775</c:v>
                </c:pt>
                <c:pt idx="559">
                  <c:v>-0.95035483254833775</c:v>
                </c:pt>
                <c:pt idx="560">
                  <c:v>-0.95035483254833775</c:v>
                </c:pt>
                <c:pt idx="561">
                  <c:v>-0.35413899129988669</c:v>
                </c:pt>
                <c:pt idx="562">
                  <c:v>-0.95035483254833775</c:v>
                </c:pt>
                <c:pt idx="563">
                  <c:v>-0.95035483254833775</c:v>
                </c:pt>
                <c:pt idx="564">
                  <c:v>6.8882880148495473E-2</c:v>
                </c:pt>
                <c:pt idx="565">
                  <c:v>6.8882880148495473E-2</c:v>
                </c:pt>
                <c:pt idx="566">
                  <c:v>6.8882880148495473E-2</c:v>
                </c:pt>
                <c:pt idx="567">
                  <c:v>-0.95035483254833775</c:v>
                </c:pt>
                <c:pt idx="568">
                  <c:v>-0.95035483254833775</c:v>
                </c:pt>
                <c:pt idx="569">
                  <c:v>-0.35413899129988669</c:v>
                </c:pt>
                <c:pt idx="570">
                  <c:v>-0.35413899129988669</c:v>
                </c:pt>
                <c:pt idx="571">
                  <c:v>6.8882880148495473E-2</c:v>
                </c:pt>
                <c:pt idx="572">
                  <c:v>-0.95035483254833775</c:v>
                </c:pt>
                <c:pt idx="573">
                  <c:v>-0.95035483254833775</c:v>
                </c:pt>
                <c:pt idx="574">
                  <c:v>-0.35413899129988669</c:v>
                </c:pt>
                <c:pt idx="575">
                  <c:v>-0.95035483254833775</c:v>
                </c:pt>
                <c:pt idx="576">
                  <c:v>-0.35413899129988669</c:v>
                </c:pt>
                <c:pt idx="577">
                  <c:v>-0.95035483254833775</c:v>
                </c:pt>
                <c:pt idx="578">
                  <c:v>0.39700413523433969</c:v>
                </c:pt>
                <c:pt idx="579">
                  <c:v>-0.95035483254833775</c:v>
                </c:pt>
                <c:pt idx="580">
                  <c:v>-0.35413899129988669</c:v>
                </c:pt>
                <c:pt idx="581">
                  <c:v>-0.95035483254833775</c:v>
                </c:pt>
                <c:pt idx="582">
                  <c:v>-0.35413899129988669</c:v>
                </c:pt>
                <c:pt idx="583">
                  <c:v>-0.95035483254833775</c:v>
                </c:pt>
                <c:pt idx="584">
                  <c:v>-0.95035483254833775</c:v>
                </c:pt>
                <c:pt idx="585">
                  <c:v>-0.95035483254833775</c:v>
                </c:pt>
                <c:pt idx="586">
                  <c:v>-0.95035483254833775</c:v>
                </c:pt>
                <c:pt idx="587">
                  <c:v>-0.95035483254833775</c:v>
                </c:pt>
                <c:pt idx="588">
                  <c:v>-0.35413899129988669</c:v>
                </c:pt>
                <c:pt idx="589">
                  <c:v>-0.95035483254833775</c:v>
                </c:pt>
                <c:pt idx="590">
                  <c:v>-0.95035483254833775</c:v>
                </c:pt>
                <c:pt idx="591">
                  <c:v>-0.95035483254833775</c:v>
                </c:pt>
                <c:pt idx="592">
                  <c:v>-0.95035483254833775</c:v>
                </c:pt>
                <c:pt idx="593">
                  <c:v>-0.95035483254833775</c:v>
                </c:pt>
                <c:pt idx="594">
                  <c:v>-0.95035483254833775</c:v>
                </c:pt>
                <c:pt idx="595">
                  <c:v>-0.35413899129988669</c:v>
                </c:pt>
                <c:pt idx="596">
                  <c:v>-0.95035483254833775</c:v>
                </c:pt>
                <c:pt idx="597">
                  <c:v>-0.35413899129988669</c:v>
                </c:pt>
                <c:pt idx="598">
                  <c:v>6.8882880148495473E-2</c:v>
                </c:pt>
                <c:pt idx="599">
                  <c:v>-0.35413899129988669</c:v>
                </c:pt>
                <c:pt idx="600">
                  <c:v>-0.95035483254833775</c:v>
                </c:pt>
                <c:pt idx="601">
                  <c:v>-0.95035483254833775</c:v>
                </c:pt>
                <c:pt idx="602">
                  <c:v>-0.35413899129988669</c:v>
                </c:pt>
                <c:pt idx="603">
                  <c:v>-0.95035483254833775</c:v>
                </c:pt>
                <c:pt idx="604">
                  <c:v>-0.95035483254833775</c:v>
                </c:pt>
                <c:pt idx="605">
                  <c:v>-0.95035483254833775</c:v>
                </c:pt>
                <c:pt idx="606">
                  <c:v>-0.95035483254833775</c:v>
                </c:pt>
                <c:pt idx="607">
                  <c:v>-0.95035483254833775</c:v>
                </c:pt>
                <c:pt idx="608">
                  <c:v>-0.35413899129988669</c:v>
                </c:pt>
                <c:pt idx="609">
                  <c:v>-0.95035483254833775</c:v>
                </c:pt>
                <c:pt idx="610">
                  <c:v>-0.95035483254833775</c:v>
                </c:pt>
                <c:pt idx="611">
                  <c:v>6.8882880148495473E-2</c:v>
                </c:pt>
                <c:pt idx="612">
                  <c:v>-0.35413899129988669</c:v>
                </c:pt>
                <c:pt idx="613">
                  <c:v>-0.35413899129988669</c:v>
                </c:pt>
                <c:pt idx="614">
                  <c:v>-0.95035483254833775</c:v>
                </c:pt>
                <c:pt idx="615">
                  <c:v>-0.95035483254833775</c:v>
                </c:pt>
                <c:pt idx="616">
                  <c:v>-0.95035483254833775</c:v>
                </c:pt>
                <c:pt idx="617">
                  <c:v>-0.95035483254833775</c:v>
                </c:pt>
                <c:pt idx="618">
                  <c:v>0.39700413523433969</c:v>
                </c:pt>
                <c:pt idx="619">
                  <c:v>-0.35413899129988669</c:v>
                </c:pt>
                <c:pt idx="620">
                  <c:v>-0.95035483254833775</c:v>
                </c:pt>
                <c:pt idx="621">
                  <c:v>-0.95035483254833775</c:v>
                </c:pt>
                <c:pt idx="622">
                  <c:v>0.39700413523433969</c:v>
                </c:pt>
                <c:pt idx="623">
                  <c:v>-0.35413899129988669</c:v>
                </c:pt>
                <c:pt idx="624">
                  <c:v>6.8882880148495473E-2</c:v>
                </c:pt>
                <c:pt idx="625">
                  <c:v>-0.95035483254833775</c:v>
                </c:pt>
                <c:pt idx="626">
                  <c:v>6.8882880148495473E-2</c:v>
                </c:pt>
                <c:pt idx="627">
                  <c:v>-0.95035483254833775</c:v>
                </c:pt>
                <c:pt idx="628">
                  <c:v>-0.95035483254833775</c:v>
                </c:pt>
                <c:pt idx="629">
                  <c:v>-0.95035483254833775</c:v>
                </c:pt>
                <c:pt idx="630">
                  <c:v>-0.95035483254833775</c:v>
                </c:pt>
                <c:pt idx="631">
                  <c:v>-0.95035483254833775</c:v>
                </c:pt>
                <c:pt idx="632">
                  <c:v>-0.35413899129988669</c:v>
                </c:pt>
                <c:pt idx="633">
                  <c:v>-0.95035483254833775</c:v>
                </c:pt>
                <c:pt idx="634">
                  <c:v>-0.35413899129988669</c:v>
                </c:pt>
                <c:pt idx="635">
                  <c:v>6.8882880148495473E-2</c:v>
                </c:pt>
                <c:pt idx="636">
                  <c:v>-0.35413899129988669</c:v>
                </c:pt>
                <c:pt idx="637">
                  <c:v>6.8882880148495473E-2</c:v>
                </c:pt>
                <c:pt idx="638">
                  <c:v>-0.35413899129988669</c:v>
                </c:pt>
                <c:pt idx="639">
                  <c:v>-0.35413899129988669</c:v>
                </c:pt>
                <c:pt idx="640">
                  <c:v>-0.35413899129988669</c:v>
                </c:pt>
                <c:pt idx="641">
                  <c:v>-0.35413899129988669</c:v>
                </c:pt>
                <c:pt idx="642">
                  <c:v>-0.35413899129988669</c:v>
                </c:pt>
                <c:pt idx="643">
                  <c:v>-0.35413899129988669</c:v>
                </c:pt>
                <c:pt idx="644">
                  <c:v>-0.95035483254833775</c:v>
                </c:pt>
                <c:pt idx="645">
                  <c:v>-0.95035483254833775</c:v>
                </c:pt>
                <c:pt idx="646">
                  <c:v>-0.35413899129988669</c:v>
                </c:pt>
                <c:pt idx="647">
                  <c:v>-0.35413899129988669</c:v>
                </c:pt>
                <c:pt idx="648">
                  <c:v>-0.95035483254833775</c:v>
                </c:pt>
                <c:pt idx="649">
                  <c:v>6.8882880148495473E-2</c:v>
                </c:pt>
                <c:pt idx="650">
                  <c:v>-0.95035483254833775</c:v>
                </c:pt>
                <c:pt idx="651">
                  <c:v>-0.95035483254833775</c:v>
                </c:pt>
                <c:pt idx="652">
                  <c:v>-0.35413899129988669</c:v>
                </c:pt>
                <c:pt idx="653">
                  <c:v>-0.95035483254833775</c:v>
                </c:pt>
                <c:pt idx="654">
                  <c:v>-0.95035483254833775</c:v>
                </c:pt>
                <c:pt idx="655">
                  <c:v>6.8882880148495473E-2</c:v>
                </c:pt>
                <c:pt idx="656">
                  <c:v>6.8882880148495473E-2</c:v>
                </c:pt>
                <c:pt idx="657">
                  <c:v>-0.35413899129988669</c:v>
                </c:pt>
                <c:pt idx="658">
                  <c:v>-0.95035483254833775</c:v>
                </c:pt>
                <c:pt idx="659">
                  <c:v>-0.35413899129988669</c:v>
                </c:pt>
                <c:pt idx="660">
                  <c:v>-0.35413899129988669</c:v>
                </c:pt>
                <c:pt idx="661">
                  <c:v>-0.95035483254833775</c:v>
                </c:pt>
                <c:pt idx="662">
                  <c:v>-0.95035483254833775</c:v>
                </c:pt>
                <c:pt idx="663">
                  <c:v>6.8882880148495473E-2</c:v>
                </c:pt>
                <c:pt idx="664">
                  <c:v>-0.95035483254833775</c:v>
                </c:pt>
                <c:pt idx="665">
                  <c:v>-0.95035483254833775</c:v>
                </c:pt>
                <c:pt idx="666">
                  <c:v>-0.95035483254833775</c:v>
                </c:pt>
                <c:pt idx="667">
                  <c:v>-0.35413899129988669</c:v>
                </c:pt>
                <c:pt idx="668">
                  <c:v>-0.95035483254833775</c:v>
                </c:pt>
                <c:pt idx="669">
                  <c:v>-0.35413899129988669</c:v>
                </c:pt>
                <c:pt idx="670">
                  <c:v>6.8882880148495473E-2</c:v>
                </c:pt>
                <c:pt idx="671">
                  <c:v>-0.95035483254833775</c:v>
                </c:pt>
                <c:pt idx="672">
                  <c:v>-0.35413899129988669</c:v>
                </c:pt>
                <c:pt idx="673">
                  <c:v>-0.35413899129988669</c:v>
                </c:pt>
                <c:pt idx="674">
                  <c:v>-0.95035483254833775</c:v>
                </c:pt>
                <c:pt idx="675">
                  <c:v>-0.95035483254833775</c:v>
                </c:pt>
                <c:pt idx="676">
                  <c:v>-0.35413899129988669</c:v>
                </c:pt>
                <c:pt idx="677">
                  <c:v>-0.95035483254833775</c:v>
                </c:pt>
                <c:pt idx="678">
                  <c:v>-0.95035483254833775</c:v>
                </c:pt>
                <c:pt idx="679">
                  <c:v>-0.95035483254833775</c:v>
                </c:pt>
                <c:pt idx="680">
                  <c:v>-0.95035483254833775</c:v>
                </c:pt>
                <c:pt idx="681">
                  <c:v>-0.35413899129988669</c:v>
                </c:pt>
                <c:pt idx="682">
                  <c:v>-0.95035483254833775</c:v>
                </c:pt>
                <c:pt idx="683">
                  <c:v>-0.35413899129988669</c:v>
                </c:pt>
                <c:pt idx="684">
                  <c:v>0.39700413523433969</c:v>
                </c:pt>
                <c:pt idx="685">
                  <c:v>-0.95035483254833775</c:v>
                </c:pt>
                <c:pt idx="686">
                  <c:v>-0.35413899129988669</c:v>
                </c:pt>
                <c:pt idx="687">
                  <c:v>-0.95035483254833775</c:v>
                </c:pt>
                <c:pt idx="688">
                  <c:v>-0.95035483254833775</c:v>
                </c:pt>
                <c:pt idx="689">
                  <c:v>-0.95035483254833775</c:v>
                </c:pt>
                <c:pt idx="690">
                  <c:v>-0.95035483254833775</c:v>
                </c:pt>
                <c:pt idx="691">
                  <c:v>6.8882880148495473E-2</c:v>
                </c:pt>
                <c:pt idx="692">
                  <c:v>-0.95035483254833775</c:v>
                </c:pt>
                <c:pt idx="693">
                  <c:v>-0.35413899129988669</c:v>
                </c:pt>
                <c:pt idx="694">
                  <c:v>-0.35413899129988669</c:v>
                </c:pt>
                <c:pt idx="695">
                  <c:v>-0.35413899129988669</c:v>
                </c:pt>
                <c:pt idx="696">
                  <c:v>-0.95035483254833775</c:v>
                </c:pt>
                <c:pt idx="697">
                  <c:v>-0.95035483254833775</c:v>
                </c:pt>
                <c:pt idx="698">
                  <c:v>-0.95035483254833775</c:v>
                </c:pt>
                <c:pt idx="699">
                  <c:v>-0.95035483254833775</c:v>
                </c:pt>
                <c:pt idx="700">
                  <c:v>-0.95035483254833775</c:v>
                </c:pt>
                <c:pt idx="701">
                  <c:v>-0.35413899129988669</c:v>
                </c:pt>
                <c:pt idx="702">
                  <c:v>-0.95035483254833775</c:v>
                </c:pt>
                <c:pt idx="703">
                  <c:v>6.8882880148495473E-2</c:v>
                </c:pt>
                <c:pt idx="704">
                  <c:v>-0.95035483254833775</c:v>
                </c:pt>
                <c:pt idx="705">
                  <c:v>-0.95035483254833775</c:v>
                </c:pt>
                <c:pt idx="706">
                  <c:v>6.8882880148495473E-2</c:v>
                </c:pt>
                <c:pt idx="707">
                  <c:v>-0.95035483254833775</c:v>
                </c:pt>
                <c:pt idx="708">
                  <c:v>-0.95035483254833775</c:v>
                </c:pt>
                <c:pt idx="709">
                  <c:v>-0.35413899129988669</c:v>
                </c:pt>
                <c:pt idx="710">
                  <c:v>-0.35413899129988669</c:v>
                </c:pt>
                <c:pt idx="711">
                  <c:v>-0.95035483254833775</c:v>
                </c:pt>
                <c:pt idx="712">
                  <c:v>-0.35413899129988669</c:v>
                </c:pt>
                <c:pt idx="713">
                  <c:v>-0.95035483254833775</c:v>
                </c:pt>
                <c:pt idx="714">
                  <c:v>-0.95035483254833775</c:v>
                </c:pt>
                <c:pt idx="715">
                  <c:v>-0.35413899129988669</c:v>
                </c:pt>
                <c:pt idx="716">
                  <c:v>-0.35413899129988669</c:v>
                </c:pt>
                <c:pt idx="717">
                  <c:v>-0.95035483254833775</c:v>
                </c:pt>
                <c:pt idx="718">
                  <c:v>-0.95035483254833775</c:v>
                </c:pt>
                <c:pt idx="719">
                  <c:v>-0.35413899129988669</c:v>
                </c:pt>
                <c:pt idx="720">
                  <c:v>0.39700413523433969</c:v>
                </c:pt>
                <c:pt idx="721">
                  <c:v>-0.35413899129988669</c:v>
                </c:pt>
                <c:pt idx="722">
                  <c:v>6.8882880148495473E-2</c:v>
                </c:pt>
                <c:pt idx="723">
                  <c:v>6.8882880148495473E-2</c:v>
                </c:pt>
                <c:pt idx="724">
                  <c:v>-0.95035483254833775</c:v>
                </c:pt>
                <c:pt idx="725">
                  <c:v>-0.95035483254833775</c:v>
                </c:pt>
                <c:pt idx="726">
                  <c:v>-0.35413899129988669</c:v>
                </c:pt>
                <c:pt idx="727">
                  <c:v>-0.35413899129988669</c:v>
                </c:pt>
                <c:pt idx="728">
                  <c:v>-0.95035483254833775</c:v>
                </c:pt>
              </c:numCache>
            </c:numRef>
          </c:yVal>
          <c:smooth val="0"/>
          <c:extLst>
            <c:ext xmlns:c16="http://schemas.microsoft.com/office/drawing/2014/chart" uri="{C3380CC4-5D6E-409C-BE32-E72D297353CC}">
              <c16:uniqueId val="{00000001-4D17-46B1-9596-10B74632A872}"/>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title>
          <c:tx>
            <c:rich>
              <a:bodyPr/>
              <a:lstStyle/>
              <a:p>
                <a:r>
                  <a:rPr lang="en-IN" sz="1000" b="0">
                    <a:solidFill>
                      <a:srgbClr val="5B6075"/>
                    </a:solidFill>
                    <a:latin typeface="Calibri"/>
                  </a:rPr>
                  <a:t>Recency (z)</a:t>
                </a:r>
              </a:p>
            </c:rich>
          </c:tx>
          <c:overlay val="0"/>
        </c:title>
        <c:numFmt formatCode="General" sourceLinked="1"/>
        <c:majorTickMark val="out"/>
        <c:minorTickMark val="none"/>
        <c:tickLblPos val="low"/>
        <c:spPr>
          <a:ln>
            <a:solidFill>
              <a:srgbClr val="D5DBE8"/>
            </a:solidFill>
          </a:ln>
        </c:spPr>
        <c:txPr>
          <a:bodyPr/>
          <a:lstStyle/>
          <a:p>
            <a:pPr>
              <a:defRPr sz="1000">
                <a:solidFill>
                  <a:srgbClr val="5B6075"/>
                </a:solidFill>
              </a:defRPr>
            </a:pPr>
            <a:endParaRPr lang="en-US"/>
          </a:p>
        </c:txPr>
        <c:crossAx val="-2129643912"/>
        <c:crosses val="autoZero"/>
        <c:crossBetween val="midCat"/>
      </c:valAx>
      <c:valAx>
        <c:axId val="-2129643912"/>
        <c:scaling>
          <c:orientation val="minMax"/>
        </c:scaling>
        <c:delete val="0"/>
        <c:axPos val="l"/>
        <c:majorGridlines>
          <c:spPr>
            <a:ln w="9525">
              <a:solidFill>
                <a:srgbClr val="D5DBE8"/>
              </a:solidFill>
            </a:ln>
          </c:spPr>
        </c:majorGridlines>
        <c:title>
          <c:tx>
            <c:rich>
              <a:bodyPr/>
              <a:lstStyle/>
              <a:p>
                <a:r>
                  <a:rPr lang="en-IN" sz="1000" b="0">
                    <a:solidFill>
                      <a:srgbClr val="5B6075"/>
                    </a:solidFill>
                    <a:latin typeface="Calibri"/>
                  </a:rPr>
                  <a:t>Frequency (z)</a:t>
                </a:r>
              </a:p>
            </c:rich>
          </c:tx>
          <c:overlay val="0"/>
        </c:title>
        <c:numFmt formatCode="General" sourceLinked="1"/>
        <c:majorTickMark val="out"/>
        <c:minorTickMark val="none"/>
        <c:tickLblPos val="low"/>
        <c:spPr>
          <a:ln>
            <a:noFill/>
          </a:ln>
        </c:spPr>
        <c:txPr>
          <a:bodyPr/>
          <a:lstStyle/>
          <a:p>
            <a:pPr>
              <a:defRPr sz="1000">
                <a:solidFill>
                  <a:srgbClr val="5B6075"/>
                </a:solidFill>
              </a:defRPr>
            </a:pPr>
            <a:endParaRPr lang="en-US"/>
          </a:p>
        </c:txPr>
        <c:crossAx val="-2128940872"/>
        <c:crosses val="autoZero"/>
        <c:crossBetween val="midCat"/>
      </c:valAx>
    </c:plotArea>
    <c:legend>
      <c:legendPos val="b"/>
      <c:overlay val="0"/>
      <c:txPr>
        <a:bodyPr/>
        <a:lstStyle/>
        <a:p>
          <a:pPr>
            <a:defRPr sz="1000"/>
          </a:pPr>
          <a:endParaRPr lang="en-US"/>
        </a:p>
      </c:txPr>
    </c:legend>
    <c:plotVisOnly val="1"/>
    <c:dispBlanksAs val="gap"/>
    <c:showDLblsOverMax val="0"/>
  </c:chart>
  <c:txPr>
    <a:bodyPr/>
    <a:lstStyle/>
    <a:p>
      <a:pPr>
        <a:defRPr sz="1000">
          <a:solidFill>
            <a:srgbClr val="5B6075"/>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a:solidFill>
                  <a:srgbClr val="222433"/>
                </a:solidFill>
                <a:latin typeface="Calibri"/>
              </a:rPr>
              <a:t>Adjusted Rand index vs full-data labels</a:t>
            </a:r>
          </a:p>
        </c:rich>
      </c:tx>
      <c:overlay val="0"/>
    </c:title>
    <c:autoTitleDeleted val="0"/>
    <c:plotArea>
      <c:layout/>
      <c:barChart>
        <c:barDir val="col"/>
        <c:grouping val="clustered"/>
        <c:varyColors val="1"/>
        <c:ser>
          <c:idx val="0"/>
          <c:order val="0"/>
          <c:tx>
            <c:strRef>
              <c:f>Sheet1!$B$1</c:f>
              <c:strCache>
                <c:ptCount val="1"/>
                <c:pt idx="0">
                  <c:v>Mean ARI</c:v>
                </c:pt>
              </c:strCache>
            </c:strRef>
          </c:tx>
          <c:spPr>
            <a:solidFill>
              <a:srgbClr val="1D1B58"/>
            </a:solidFill>
          </c:spPr>
          <c:invertIfNegative val="1"/>
          <c:dLbls>
            <c:numFmt formatCode="0.000" sourceLinked="0"/>
            <c:spPr>
              <a:noFill/>
              <a:ln>
                <a:noFill/>
              </a:ln>
              <a:effectLst/>
            </c:spPr>
            <c:txPr>
              <a:bodyPr/>
              <a:lstStyle/>
              <a:p>
                <a:pPr>
                  <a:defRPr sz="1100" b="0">
                    <a:solidFill>
                      <a:srgbClr val="2224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Seeds (20 × single init)</c:v>
                </c:pt>
                <c:pt idx="1">
                  <c:v>Bootstrap (20 × 80% sample)</c:v>
                </c:pt>
              </c:strCache>
            </c:strRef>
          </c:cat>
          <c:val>
            <c:numRef>
              <c:f>Sheet1!$B$2:$B$3</c:f>
              <c:numCache>
                <c:formatCode>General</c:formatCode>
                <c:ptCount val="2"/>
                <c:pt idx="0">
                  <c:v>0.99433936051284877</c:v>
                </c:pt>
                <c:pt idx="1">
                  <c:v>0.98865416029952224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088-4956-8B97-59E73E43C284}"/>
            </c:ext>
          </c:extLst>
        </c:ser>
        <c:ser>
          <c:idx val="1"/>
          <c:order val="1"/>
          <c:tx>
            <c:strRef>
              <c:f>Sheet1!$C$1</c:f>
              <c:strCache>
                <c:ptCount val="1"/>
                <c:pt idx="0">
                  <c:v>Minimum ARI</c:v>
                </c:pt>
              </c:strCache>
            </c:strRef>
          </c:tx>
          <c:spPr>
            <a:solidFill>
              <a:srgbClr val="7FB8EA"/>
            </a:solidFill>
          </c:spPr>
          <c:invertIfNegative val="1"/>
          <c:dLbls>
            <c:numFmt formatCode="0.000" sourceLinked="0"/>
            <c:spPr>
              <a:noFill/>
              <a:ln>
                <a:noFill/>
              </a:ln>
              <a:effectLst/>
            </c:spPr>
            <c:txPr>
              <a:bodyPr/>
              <a:lstStyle/>
              <a:p>
                <a:pPr>
                  <a:defRPr sz="1100" b="0">
                    <a:solidFill>
                      <a:srgbClr val="2224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Seeds (20 × single init)</c:v>
                </c:pt>
                <c:pt idx="1">
                  <c:v>Bootstrap (20 × 80% sample)</c:v>
                </c:pt>
              </c:strCache>
            </c:strRef>
          </c:cat>
          <c:val>
            <c:numRef>
              <c:f>Sheet1!$C$2:$C$3</c:f>
              <c:numCache>
                <c:formatCode>General</c:formatCode>
                <c:ptCount val="2"/>
                <c:pt idx="0">
                  <c:v>0.98979566461512702</c:v>
                </c:pt>
                <c:pt idx="1">
                  <c:v>0.97686127877558937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088-4956-8B97-59E73E43C284}"/>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5B6075"/>
            </a:solidFill>
          </a:ln>
        </c:spPr>
        <c:txPr>
          <a:bodyPr/>
          <a:lstStyle/>
          <a:p>
            <a:pPr>
              <a:defRPr sz="1100">
                <a:solidFill>
                  <a:srgbClr val="5B6075"/>
                </a:solidFill>
              </a:defRPr>
            </a:pPr>
            <a:endParaRPr lang="en-US"/>
          </a:p>
        </c:txPr>
        <c:crossAx val="-2113994440"/>
        <c:crosses val="autoZero"/>
        <c:auto val="1"/>
        <c:lblAlgn val="ctr"/>
        <c:lblOffset val="100"/>
        <c:noMultiLvlLbl val="0"/>
      </c:catAx>
      <c:valAx>
        <c:axId val="-2113994440"/>
        <c:scaling>
          <c:orientation val="minMax"/>
          <c:max val="1.1000000000000001"/>
          <c:min val="0"/>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solidFill>
            <a:srgbClr val="5B6075"/>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29-09-2026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[~15s · running 0:15]</a:t>
            </a:r>
          </a:p>
          <a:p>
            <a:r>
              <a:t>OPEN: “Good [morning/afternoon]. I'm [name], and my capstone asks one question: who actually drives the revenue in an online retail business?”</a:t>
            </a:r>
          </a:p>
          <a:p>
            <a:r>
              <a:t>• Fill in [Presenter name] and [Date] on the slide before presenting.</a:t>
            </a:r>
          </a:p>
          <a:p>
            <a:r>
              <a:t>NEXT: “Here's how the next ten minutes are organised.”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[~20s · running 0:35]</a:t>
            </a:r>
          </a:p>
          <a:p>
            <a:r>
              <a:t>OPEN: “I'll move through five parts, from the business problem to what the business should do next.”</a:t>
            </a:r>
          </a:p>
          <a:p>
            <a:r>
              <a:t>• Problem &amp; data → customer behaviour → building segments → segments &amp; drivers → acting on it.</a:t>
            </a:r>
          </a:p>
          <a:p>
            <a:r>
              <a:t>• Methodology deep dives are in an FAQ appendix after the close; invite the panel to use it in Q&amp;A.</a:t>
            </a:r>
          </a:p>
          <a:p>
            <a:r>
              <a:t>NEXT: “Let me start with the problem.”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[~40s · running 1:15]</a:t>
            </a:r>
          </a:p>
          <a:p>
            <a:r>
              <a:t>OPEN: “An e-commerce company wants to spend its marketing and retention budget where it matters, but it doesn't yet know which customers matter.”</a:t>
            </a:r>
          </a:p>
          <a:p>
            <a:r>
              <a:t>• Four objectives straight from the brief: segment, explain, operationalise, act.</a:t>
            </a:r>
          </a:p>
          <a:p>
            <a:r>
              <a:t>• Segment means comparing K-means, hierarchical clustering and DBSCAN on purchasing behaviour.</a:t>
            </a:r>
          </a:p>
          <a:p>
            <a:r>
              <a:t>• Success is an actionable segmentation, not just a high metric.</a:t>
            </a:r>
          </a:p>
          <a:p>
            <a:r>
              <a:t>NEXT: “To answer that, I needed clean, customer-level data.”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[~35s · running 1:50]</a:t>
            </a:r>
          </a:p>
          <a:p>
            <a:r>
              <a:t>OPEN: “I used the public UCI Online Retail dataset: one year of transactions from a UK gift retailer.”</a:t>
            </a:r>
          </a:p>
          <a:p>
            <a:r>
              <a:t>• 541,909 rows → 358,277 after five cleaning rules; 4,314 customers.</a:t>
            </a:r>
          </a:p>
          <a:p>
            <a:r>
              <a:t>• Biggest cut: 135,080 rows with no CustomerID, unavoidable for customer-level analysis.</a:t>
            </a:r>
          </a:p>
          <a:p>
            <a:r>
              <a:t>• Step-by-step detail is FAQ 5 (slide 23).</a:t>
            </a:r>
          </a:p>
          <a:p>
            <a:r>
              <a:t>NEXT: “Before modelling, I looked at what the transactions tell us.”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[~45s · running 2:35]</a:t>
            </a:r>
          </a:p>
          <a:p>
            <a:r>
              <a:t>OPEN: “Three patterns shaped everything that followed.”</a:t>
            </a:r>
          </a:p>
          <a:p>
            <a:r>
              <a:t>• Seasonality: revenue climbs from September to a £1.05M peak in November: gift buying.</a:t>
            </a:r>
          </a:p>
          <a:p>
            <a:r>
              <a:t>• Concentration: about 89% of transactions (83% of revenue) are from the UK.</a:t>
            </a:r>
          </a:p>
          <a:p>
            <a:r>
              <a:t>• Skew: the median customer spends £614, the mean is £1,853, the largest about £265k.</a:t>
            </a:r>
          </a:p>
          <a:p>
            <a:r>
              <a:t>• If asked: December 2011 is low only because the data stops on 9 December.</a:t>
            </a:r>
          </a:p>
          <a:p>
            <a:r>
              <a:t>NEXT: “That skew is exactly why I didn't cluster the raw numbers.”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[~40s · running 3:15]</a:t>
            </a:r>
          </a:p>
          <a:p>
            <a:r>
              <a:t>OPEN: “I summarised each customer with three behavioural features: Recency, Frequency and Monetary value.”</a:t>
            </a:r>
          </a:p>
          <a:p>
            <a:r>
              <a:t>• Medians: 51 days since last purchase, 2 orders, £614 spend.</a:t>
            </a:r>
          </a:p>
          <a:p>
            <a:r>
              <a:t>• log1p then StandardScaler: Monetary skewness falls from 20.4 to 0.4, so no single feature or big spender dominates the distance.</a:t>
            </a:r>
          </a:p>
          <a:p>
            <a:r>
              <a:t>• Why this order: FAQ 1 (slide 19).</a:t>
            </a:r>
          </a:p>
          <a:p>
            <a:r>
              <a:t>NEXT: “With comparable features, the next question was how many segments.”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[~55s · running 4:10]</a:t>
            </a:r>
          </a:p>
          <a:p>
            <a:r>
              <a:t>OPEN: “I let the data choose the number of segments rather than picking one that sounded good.”</a:t>
            </a:r>
          </a:p>
          <a:p>
            <a:r>
              <a:t>• K-means for k = 2 to 10, n_init 10, fixed seed.</a:t>
            </a:r>
          </a:p>
          <a:p>
            <a:r>
              <a:t>• Silhouette peaks at k = 2 with 0.43, then drops to 0.34 at k = 3 and keeps declining.</a:t>
            </a:r>
          </a:p>
          <a:p>
            <a:r>
              <a:t>• The elbow curve is smooth with no sharp bend, so the silhouette decides.</a:t>
            </a:r>
          </a:p>
          <a:p>
            <a:r>
              <a:t>• I keep k = 4 as a finer operational view: FAQ 3 (slide 21).</a:t>
            </a:r>
          </a:p>
          <a:p>
            <a:r>
              <a:t>NEXT: “Next, I checked whether K-means was the right algorithm at all.”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[~55s · running 5:05]</a:t>
            </a:r>
          </a:p>
          <a:p>
            <a:r>
              <a:t>OPEN: “The brief asked me to compare three families of clustering, so I ran all three on the same features.”</a:t>
            </a:r>
          </a:p>
          <a:p>
            <a:r>
              <a:t>• Silhouette: K-means 0.431, Ward hierarchical 0.384, DBSCAN 0.294.</a:t>
            </a:r>
          </a:p>
          <a:p>
            <a:r>
              <a:t>• Davies-Bouldin agrees: K-means is lowest at 0.89.</a:t>
            </a:r>
          </a:p>
          <a:p>
            <a:r>
              <a:t>• DBSCAN finds one dominant dense region plus 52 noise points: behaviour is a continuum, not separate islands.</a:t>
            </a:r>
          </a:p>
          <a:p>
            <a:r>
              <a:t>• Practical tie-breaker: only K-means can score a new customer without refitting.</a:t>
            </a:r>
          </a:p>
          <a:p>
            <a:r>
              <a:t>NEXT: “So what do the two K-means segments actually look like?”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[~70s · running 6:15]</a:t>
            </a:r>
          </a:p>
          <a:p>
            <a:r>
              <a:t>OPEN: “Two segments, and they are very unequal.”</a:t>
            </a:r>
          </a:p>
          <a:p>
            <a:r>
              <a:t>• High-Value Active: 1,665 customers, last order about 26 days ago, about 8 orders, about £4,083 each.</a:t>
            </a:r>
          </a:p>
          <a:p>
            <a:r>
              <a:t>• Low-Value Lapsing: 2,649 customers, about 135 days since last order, 1–2 orders, about £451.</a:t>
            </a:r>
          </a:p>
          <a:p>
            <a:r>
              <a:t>• Headline: 39% of customers generate 85% of revenue, £6.80M of £7.99M. Pause here.</a:t>
            </a:r>
          </a:p>
          <a:p>
            <a:r>
              <a:t>• Names come from each cluster's centroid (value tier + activity status), not chosen by hand; the split is stable, ARI ≈ 0.99 (FAQ 8).</a:t>
            </a:r>
          </a:p>
          <a:p>
            <a:r>
              <a:t>NEXT: “The natural follow-up is: what separates these two groups?”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[~45s · running 7:00]</a:t>
            </a:r>
          </a:p>
          <a:p>
            <a:r>
              <a:t>OPEN: “I looked at that from two independent angles, and they agree.”</a:t>
            </a:r>
          </a:p>
          <a:p>
            <a:r>
              <a:t>• Centroid gap in standard units: Frequency 1.57, Monetary 1.47, Recency 1.31.</a:t>
            </a:r>
          </a:p>
          <a:p>
            <a:r>
              <a:t>• Random Forest importance: Frequency 37%, Monetary 35%, Recency 28%.</a:t>
            </a:r>
          </a:p>
          <a:p>
            <a:r>
              <a:t>• Business translation: earning the second and third order is the lever that moves a customer up.</a:t>
            </a:r>
          </a:p>
          <a:p>
            <a:r>
              <a:t>NEXT: “That Random Forest also solves a practical problem: scoring new customers.”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[~50s · running 7:50]</a:t>
            </a:r>
          </a:p>
          <a:p>
            <a:r>
              <a:t>OPEN: “Once segments exist, the business needs to assign tomorrow's customers to them.”</a:t>
            </a:r>
          </a:p>
          <a:p>
            <a:r>
              <a:t>• 200-tree Random Forest, stratified 80/20 split: 858 of 863 held-out customers match K-means, 99.4%.</a:t>
            </a:r>
          </a:p>
          <a:p>
            <a:r>
              <a:t>• Say this before the panel does: the labels came from K-means on the same features, so this measures reproducibility, not future purchases (FAQ 6, 7 on slides 24–25).</a:t>
            </a:r>
          </a:p>
          <a:p>
            <a:r>
              <a:t>• If asked: accuracy varies slightly between runs, 99.4–99.7%.</a:t>
            </a:r>
          </a:p>
          <a:p>
            <a:r>
              <a:t>NEXT: “So how should the business act on these segments?”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[~70s · running 9:00]</a:t>
            </a:r>
          </a:p>
          <a:p>
            <a:r>
              <a:t>OPEN: “My core recommendation: the business should protect the 39% before chasing the 61%.”</a:t>
            </a:r>
          </a:p>
          <a:p>
            <a:r>
              <a:t>• Risk: losing just 5% of High-Value Active, about 83 customers, puts about £340k at risk.</a:t>
            </a:r>
          </a:p>
          <a:p>
            <a:r>
              <a:t>• Upside: winning back 10% of Lapsing, about 265 customers, for one more order adds about £72k.</a:t>
            </a:r>
          </a:p>
          <a:p>
            <a:r>
              <a:t>• Actions: a loyalty tier and a ~60-day no-order trigger for the top segment; low-cost automated win-back for the rest.</a:t>
            </a:r>
          </a:p>
          <a:p>
            <a:r>
              <a:t>• These are illustrative sizes from segment averages; every action should be A/B-tested against a control group.</a:t>
            </a:r>
          </a:p>
          <a:p>
            <a:r>
              <a:t>NEXT: “All of this is available to the business in an interactive dashboard.”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[~25s · running 9:25]</a:t>
            </a:r>
          </a:p>
          <a:p>
            <a:r>
              <a:t>OPEN: “The dashboard is the interactive deliverable from the brief.”</a:t>
            </a:r>
          </a:p>
          <a:p>
            <a:r>
              <a:t>• Four views: Overview, Segments, Model review, Method &amp; notes. It reads the pipeline's JSON, so a rerun refreshes it.</a:t>
            </a:r>
          </a:p>
          <a:p>
            <a:r>
              <a:t>• OPTIONAL LIVE DEMO (~60s): only if the clock shows 8:30 or less on arriving here.</a:t>
            </a:r>
          </a:p>
          <a:p>
            <a:r>
              <a:t>•    Before the talk: from CapstoneEcommerceSegmentation run  python -m http.server 8000  and open http://localhost:8000/dashboards/index.html in a browser tab.</a:t>
            </a:r>
          </a:p>
          <a:p>
            <a:r>
              <a:t>•    Click path: Overview KPIs → Segments → Model review (confusion matrix) → back to the slides.</a:t>
            </a:r>
          </a:p>
          <a:p>
            <a:r>
              <a:t>•    If anything fails: “I'll leave you with the screenshot” and move on.</a:t>
            </a:r>
          </a:p>
          <a:p>
            <a:r>
              <a:t>NEXT: “Finally, what this work doesn't do yet, and what I'd do next.”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[~35s · running 10:00]</a:t>
            </a:r>
          </a:p>
          <a:p>
            <a:r>
              <a:t>OPEN: “I want to be clear about the limits of this work.”</a:t>
            </a:r>
          </a:p>
          <a:p>
            <a:r>
              <a:t>• Retrospective; coarse at k = 2; circular classifier target; one UK-heavy year; RFM only.</a:t>
            </a:r>
          </a:p>
          <a:p>
            <a:r>
              <a:t>• The most valuable next step is a time-split repurchase model: FAQ 7 (slide 25).</a:t>
            </a:r>
          </a:p>
          <a:p>
            <a:r>
              <a:t>• CLOSE, word for word: “To sum up: 39% of customers drive 85% of revenue, so protecting them is worth far more than chasing the rest. Thank you. I'm happy to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Q&amp;A HABITS</a:t>
            </a:r>
          </a:p>
          <a:p>
            <a:r>
              <a:t>1. Repeat or rephrase the question so the whole panel hears it.</a:t>
            </a:r>
          </a:p>
          <a:p>
            <a:r>
              <a:t>2. Give the one-sentence answer first; stop and let them ask for more.</a:t>
            </a:r>
          </a:p>
          <a:p>
            <a:r>
              <a:t>3. Offer evidence: “I have a backup slide on that. Shall I show it?”</a:t>
            </a:r>
          </a:p>
          <a:p>
            <a:r>
              <a:t>4. Jump by typing the slide number and pressing Enter; come back with 15 + Enter.</a:t>
            </a:r>
          </a:p>
          <a:p>
            <a:endParaRPr/>
          </a:p>
          <a:p>
            <a:r>
              <a:t>ROUTING CHEAT SHEET (question → slide)</a:t>
            </a:r>
          </a:p>
          <a:p>
            <a:r>
              <a:t>• Why log / why scale / why these features? → FAQ 1 · slide 19</a:t>
            </a:r>
          </a:p>
          <a:p>
            <a:r>
              <a:t>• Why only 2 segments? Isn't that too few? → FAQ 2 · slide 20, then FAQ 3 · slide 21</a:t>
            </a:r>
          </a:p>
          <a:p>
            <a:r>
              <a:t>• Why K-means? Why not DBSCAN, hierarchical or GMM? → slide 8, then FAQ 4 · slide 22</a:t>
            </a:r>
          </a:p>
          <a:p>
            <a:r>
              <a:t>• How did you clean the data? What about returns? → FAQ 5 · slide 23</a:t>
            </a:r>
          </a:p>
          <a:p>
            <a:r>
              <a:t>• 99% accuracy: leakage? overfitting? → FAQ 6 · slide 24</a:t>
            </a:r>
          </a:p>
          <a:p>
            <a:r>
              <a:t>• Can you predict churn or future purchases? → FAQ 7 · slide 25</a:t>
            </a:r>
          </a:p>
          <a:p>
            <a:r>
              <a:t>• Are the clusters stable or reproducible? → FAQ 8 · slide 26</a:t>
            </a:r>
          </a:p>
          <a:p>
            <a:r>
              <a:t>• Why not product / country features? PCA? → FAQ 9 · slide 27</a:t>
            </a:r>
          </a:p>
          <a:p>
            <a:r>
              <a:t>• How were the £340k / £72k figures calculated? → slide 12 footnote</a:t>
            </a:r>
          </a:p>
          <a:p>
            <a:r>
              <a:t>• How were the segment names decided? → slide 9: centroid value tier + activity status</a:t>
            </a:r>
          </a:p>
          <a:p>
            <a:r>
              <a:t>• Can we see the dashboard? → live demo, or slide 13</a:t>
            </a:r>
          </a:p>
          <a:p>
            <a:endParaRPr/>
          </a:p>
          <a:p>
            <a:r>
              <a:t>UNPREPARED QUESTION FALLBACK</a:t>
            </a:r>
          </a:p>
          <a:p>
            <a:r>
              <a:t>“That's a good question I haven't tested directly. My expectation is …, and the way I'd check it is ….” Never guess a number.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ASKED TO SUM UP (~20s, word for word):</a:t>
            </a:r>
          </a:p>
          <a:p>
            <a:r>
              <a:t>“Using RFM features and K-means, I found two stable customer segments. 39% of customers generate 85% of revenue, so the business case says: protect that group first, win back the rest cheaply, and test every action against a control group.”</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Only enter the appendix when asked. Go straight to the relevant FAQ by typing its slide number + Enter; the FAQ index is slide 18.</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NAVIGATION</a:t>
            </a:r>
          </a:p>
          <a:p>
            <a:r>
              <a:t>• Click a card to jump to that FAQ.</a:t>
            </a:r>
          </a:p>
          <a:p>
            <a:r>
              <a:t>• On any FAQ slide, click “↩ FAQ index” (bottom left of the navy panel), or type 18 + Enter.</a:t>
            </a:r>
          </a:p>
          <a:p>
            <a:r>
              <a:t>• FAQ n is slide n + 18  (FAQ 1 = slide 19, FAQ 9 = slide 27).</a:t>
            </a:r>
          </a:p>
          <a:p>
            <a:r>
              <a:t>• Back to the Questions slide: 15 + Enter.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 ONE-LINE ANSWER (say first): “Because K-means uses distance, and without the log and scaling a handful of big spenders and the pound scale would decide the clusters.”</a:t>
            </a:r>
          </a:p>
          <a:p>
            <a:endParaRPr/>
          </a:p>
          <a:p>
            <a:r>
              <a:t>2 · IF THEY WANT MORE (~30s): Raw skewness is 20.4 for Monetary and 11.8 for Frequency; after log1p it's 0.4 and 1.2. StandardScaler then gives each feature mean 0 and standard deviation 1, so all three weigh equally. The log comes first because scaling alone doesn't change the shape of a distribution.</a:t>
            </a:r>
          </a:p>
          <a:p>
            <a:endParaRPr/>
          </a:p>
          <a:p>
            <a:r>
              <a:t>3 · IF THEY PUSH FURTHER:</a:t>
            </a:r>
          </a:p>
          <a:p>
            <a:r>
              <a:t>• Q: Why not remove outliers or use RobustScaler?</a:t>
            </a:r>
          </a:p>
          <a:p>
            <a:r>
              <a:t>   A: “The outliers are my most valuable wholesale customers; removing them would hide the segment that matters most. The log tames them while keeping them. RobustScaler would be a reasonable sensitivity check.”</a:t>
            </a:r>
          </a:p>
          <a:p>
            <a:endParaRPr/>
          </a:p>
          <a:p>
            <a:r>
              <a:t>DON'T SAY: that the log makes the data normal: Frequency is still skewed (1.2).</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 ONE-LINE ANSWER (say first): “Because the silhouette clearly peaks at two, and I didn't want to overrule my own metric for a nicer story.”</a:t>
            </a:r>
          </a:p>
          <a:p>
            <a:endParaRPr/>
          </a:p>
          <a:p>
            <a:r>
              <a:t>2 · IF THEY WANT MORE (~30s): I tested k from 2 to 10: 0.43 at k = 2, 0.34 at k = 3, declining to 0.28 at k = 10. The elbow is smooth. Davies-Bouldin also favours k = 2 (0.89 vs 1.02 at k = 4), and the split is stable (ARI ≈ 0.99). For finer targeting there's k = 4 on the next slide.</a:t>
            </a:r>
          </a:p>
          <a:p>
            <a:endParaRPr/>
          </a:p>
          <a:p>
            <a:r>
              <a:t>3 · IF THEY PUSH FURTHER:</a:t>
            </a:r>
          </a:p>
          <a:p>
            <a:r>
              <a:t>• Q: Isn't k = 2 usually highest on silhouette anyway?</a:t>
            </a:r>
          </a:p>
          <a:p>
            <a:r>
              <a:t>   A: “Often, yes. That's why I also checked Davies-Bouldin and stability, and present k = 4 as the operational option.”</a:t>
            </a:r>
          </a:p>
          <a:p>
            <a:endParaRPr/>
          </a:p>
          <a:p>
            <a:r>
              <a:t>DON'T SAY: that two is the 'true' number of customer types.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 ONE-LINE ANSWER (say first): “Four readable segments with a lower silhouette, 0.33, useful as an operational sub-segmentation.”</a:t>
            </a:r>
          </a:p>
          <a:p>
            <a:endParaRPr/>
          </a:p>
          <a:p>
            <a:r>
              <a:t>2 · IF THEY WANT MORE (~30s): High-Value Active 709 customers (about 65% of revenue), Mid-Value Cooling 1,179 (24%), Mid-Value Active 855 (5%, recent but about 2 orders), Low-Value Lapsing 1,571 (6%). The top 709 and bottom 1,571 sit entirely inside the k = 2 groups; the two mid groups straddle the k = 2 boundary, which shows behaviour is a gradient. Mid-Value Cooling is the natural retention watch-list.</a:t>
            </a:r>
          </a:p>
          <a:p>
            <a:endParaRPr/>
          </a:p>
          <a:p>
            <a:r>
              <a:t>3 · IF THEY PUSH FURTHER:</a:t>
            </a:r>
          </a:p>
          <a:p>
            <a:r>
              <a:t>• Q: Then why not present k = 4 as the main result?</a:t>
            </a:r>
          </a:p>
          <a:p>
            <a:r>
              <a:t>   A: “Because the evidence favours k = 2. k = 4 is a business refinement, and I'd validate it with stakeholders and a stability check first.”</a:t>
            </a:r>
          </a:p>
          <a:p>
            <a:endParaRPr/>
          </a:p>
          <a:p>
            <a:r>
              <a:t>DON'T SAY: that k = 4 nests neatly inside k = 2, or that its stability was tested.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 ONE-LINE ANSWER (say first): “Customer behaviour is one continuous cloud, which suits centroid methods and defeats density methods.”</a:t>
            </a:r>
          </a:p>
          <a:p>
            <a:endParaRPr/>
          </a:p>
          <a:p>
            <a:r>
              <a:t>2 · IF THEY WANT MORE (~30s): Silhouette 0.431 / 0.384 / 0.294; Davies-Bouldin 0.89 / 0.96 / 1.07; at k = 4, K-means 0.333 vs Ward 0.252. DBSCAN with eps 0.5 and min_samples 5 finds one dominant region plus 52 noise points. Ward is close at k = 2 but merges greedily, needs O(n²) memory, and can't score new customers.</a:t>
            </a:r>
          </a:p>
          <a:p>
            <a:endParaRPr/>
          </a:p>
          <a:p>
            <a:r>
              <a:t>3 · IF THEY PUSH FURTHER:</a:t>
            </a:r>
          </a:p>
          <a:p>
            <a:r>
              <a:t>• Q: Did you tune DBSCAN?</a:t>
            </a:r>
          </a:p>
          <a:p>
            <a:r>
              <a:t>   A: “I used standard defaults. A k-distance plot to choose eps is the right next step, but on a continuous cloud tuning mostly trades noise points for one giant cluster.”</a:t>
            </a:r>
          </a:p>
          <a:p>
            <a:r>
              <a:t>• Q: Why not a Gaussian mixture model?</a:t>
            </a:r>
          </a:p>
          <a:p>
            <a:r>
              <a:t>   A: “It's a good extension: soft membership would show how confident each assignment is. It's on my next-steps list.”</a:t>
            </a:r>
          </a:p>
          <a:p>
            <a:endParaRPr/>
          </a:p>
          <a:p>
            <a:r>
              <a:t>DON'T SAY: that DBSCAN is a bad algorithm. It's the wrong fit for this data shape.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 ONE-LINE ANSWER (say first): “Five transparent rules took 541,909 rows to 358,277, and each step is logged.”</a:t>
            </a:r>
          </a:p>
          <a:p>
            <a:endParaRPr/>
          </a:p>
          <a:p>
            <a:r>
              <a:t>2 · IF THEY WANT MORE (~30s): Missing CustomerID 135,080 (about a quarter), cancellations 8,905, invalid prices 44, non-numeric stock codes 34,793, exact duplicates 4,810.</a:t>
            </a:r>
          </a:p>
          <a:p>
            <a:endParaRPr/>
          </a:p>
          <a:p>
            <a:r>
              <a:t>3 · IF THEY PUSH FURTHER:</a:t>
            </a:r>
          </a:p>
          <a:p>
            <a:r>
              <a:t>• Q: Doesn't dropping cancellations overstate spend?</a:t>
            </a:r>
          </a:p>
          <a:p>
            <a:r>
              <a:t>   A: “Slightly. Netting returns against the original purchases would be more precise; cancellations were 1.6% of rows.”</a:t>
            </a:r>
          </a:p>
          <a:p>
            <a:r>
              <a:t>• Q: Why keep only numeric stock codes?</a:t>
            </a:r>
          </a:p>
          <a:p>
            <a:r>
              <a:t>   A: “It removes service codes such as POST, M, D and BANK CHARGES, but it also drops real product variants with letter suffixes, like 85123A. That's the cleaning rule I'd revisit first.”</a:t>
            </a:r>
          </a:p>
          <a:p>
            <a:endParaRPr/>
          </a:p>
          <a:p>
            <a:r>
              <a:t>DON'T SAY: that all 34,793 stock-code rows were non-products.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 ONE-LINE ANSWER (say first): “It's circular by design: the score shows the K-means labels are reproducible, not that I can predict future purchases.”</a:t>
            </a:r>
          </a:p>
          <a:p>
            <a:endParaRPr/>
          </a:p>
          <a:p>
            <a:r>
              <a:t>2 · IF THEY WANT MORE (~30s): The target was created by K-means from the same scaled R, F and M, and K-means boundaries are straight lines in that space, so a Random Forest recovers them almost perfectly: 5 errors in 863, all near the boundary. It's a stratified held-out test, so it isn't memorisation. Its value is a fixed, fast scoring rule for new customers.</a:t>
            </a:r>
          </a:p>
          <a:p>
            <a:endParaRPr/>
          </a:p>
          <a:p>
            <a:r>
              <a:t>3 · IF THEY PUSH FURTHER:</a:t>
            </a:r>
          </a:p>
          <a:p>
            <a:r>
              <a:t>• Q: Then why train a classifier at all?</a:t>
            </a:r>
          </a:p>
          <a:p>
            <a:r>
              <a:t>   A: “K-means' own predict could assign new customers too. The Random Forest adds feature importance and lets me add non-RFM features later. The honest predictive version is FAQ 7.”</a:t>
            </a:r>
          </a:p>
          <a:p>
            <a:r>
              <a:t>• Q: Why does accuracy change between runs?</a:t>
            </a:r>
          </a:p>
          <a:p>
            <a:r>
              <a:t>   A: “It moves slightly, 99.4 to 99.7%, because a handful of boundary customers flip. It doesn't change any conclusion.”</a:t>
            </a:r>
          </a:p>
          <a:p>
            <a:endParaRPr/>
          </a:p>
          <a:p>
            <a:r>
              <a:t>DON'T SAY: “99.4% accuracy shows the model predicts customer behaviour.”</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 ONE-LINE ANSWER (say first): “Split by time: build features only from before a cutoff date and predict purchases in a later window.”</a:t>
            </a:r>
          </a:p>
          <a:p>
            <a:endParaRPr/>
          </a:p>
          <a:p>
            <a:r>
              <a:t>2 · IF THEY WANT MORE (~30s): Features from 1 Dec 2010 to 31 Aug 2011; target is whether the customer buys between 1 Sep and 30 Nov 2011, a 90-day window. Validate forward in time, never shuffled, and measure ROC-AUC, precision-recall AUC and top-decile lift against a simple 'most recent buyers' baseline.</a:t>
            </a:r>
          </a:p>
          <a:p>
            <a:endParaRPr/>
          </a:p>
          <a:p>
            <a:r>
              <a:t>3 · IF THEY PUSH FURTHER:</a:t>
            </a:r>
          </a:p>
          <a:p>
            <a:r>
              <a:t>• Q: Why haven't you built it?</a:t>
            </a:r>
          </a:p>
          <a:p>
            <a:r>
              <a:t>   A: “About 12 months of data with a strong Q4 season makes one clean train/test pair tight. I prioritised a sound segmentation first; it's my top next step.”</a:t>
            </a:r>
          </a:p>
          <a:p>
            <a:r>
              <a:t>• Q: Wouldn't Q4 seasonality bias it?</a:t>
            </a:r>
          </a:p>
          <a:p>
            <a:r>
              <a:t>   A: “Yes. The outcome window includes the peak, so I'd compare against a same-season baseline, or use several cutoffs once more data exists.”</a:t>
            </a:r>
          </a:p>
          <a:p>
            <a:endParaRPr/>
          </a:p>
          <a:p>
            <a:r>
              <a:t>DON'T SAY: that this model has been built or evaluated.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 ONE-LINE ANSWER (say first): “Very stable: 40 refits across seeds and subsamples reproduce almost exactly the same split.”</a:t>
            </a:r>
          </a:p>
          <a:p>
            <a:endParaRPr/>
          </a:p>
          <a:p>
            <a:r>
              <a:t>2 · IF THEY WANT MORE (~30s): 20 seeds with a single initialisation each: mean ARI 0.994, minimum 0.990. 20 bootstrap samples of 80%: mean 0.989, minimum 0.977. ARI 1 means identical grouping; 0 means chance.</a:t>
            </a:r>
          </a:p>
          <a:p>
            <a:endParaRPr/>
          </a:p>
          <a:p>
            <a:r>
              <a:t>3 · IF THEY PUSH FURTHER:</a:t>
            </a:r>
          </a:p>
          <a:p>
            <a:r>
              <a:t>• Q: Is k = 4 as stable?</a:t>
            </a:r>
          </a:p>
          <a:p>
            <a:r>
              <a:t>   A: “I haven't measured it; that's the first check before adopting k = 4 operationally.”</a:t>
            </a:r>
          </a:p>
          <a:p>
            <a:endParaRPr/>
          </a:p>
          <a:p>
            <a:r>
              <a:t>DON'T SAY: that k = 4 is equally stable.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 ONE-LINE ANSWER (say first): “Because the brief asked about recency, frequency and monetary value, they exist for every customer, and marketers can act on them.”</a:t>
            </a:r>
          </a:p>
          <a:p>
            <a:endParaRPr/>
          </a:p>
          <a:p>
            <a:r>
              <a:t>2 · IF THEY WANT MORE (~30s): Correlations: Frequency–Monetary 0.53, Recency–Frequency −0.26, Recency–Monetary −0.12, so they're related but not redundant. More features dilute distance-based clustering and make segments harder to name. Country adds little: about 89% of transactions are from the UK.</a:t>
            </a:r>
          </a:p>
          <a:p>
            <a:endParaRPr/>
          </a:p>
          <a:p>
            <a:r>
              <a:t>3 · IF THEY PUSH FURTHER:</a:t>
            </a:r>
          </a:p>
          <a:p>
            <a:r>
              <a:t>• Q: Would PCA help?</a:t>
            </a:r>
          </a:p>
          <a:p>
            <a:r>
              <a:t>   A: “With three features, no. With a richer set of product and basket features, PCA or feature selection before clustering would make sense.”</a:t>
            </a:r>
          </a:p>
          <a:p>
            <a:endParaRPr/>
          </a:p>
          <a:p>
            <a:r>
              <a:t>DON'T SAY: that RFM captures everything about a customer.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chart" Target="../charts/char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8" Type="http://schemas.openxmlformats.org/officeDocument/2006/relationships/slide" Target="slide24.xml"/><Relationship Id="rId3" Type="http://schemas.openxmlformats.org/officeDocument/2006/relationships/slide" Target="slide19.xml"/><Relationship Id="rId7" Type="http://schemas.openxmlformats.org/officeDocument/2006/relationships/slide" Target="slide23.xml"/><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slide" Target="slide22.xml"/><Relationship Id="rId11" Type="http://schemas.openxmlformats.org/officeDocument/2006/relationships/slide" Target="slide27.xml"/><Relationship Id="rId5" Type="http://schemas.openxmlformats.org/officeDocument/2006/relationships/slide" Target="slide21.xml"/><Relationship Id="rId10" Type="http://schemas.openxmlformats.org/officeDocument/2006/relationships/slide" Target="slide26.xml"/><Relationship Id="rId4" Type="http://schemas.openxmlformats.org/officeDocument/2006/relationships/slide" Target="slide20.xml"/><Relationship Id="rId9" Type="http://schemas.openxmlformats.org/officeDocument/2006/relationships/slide" Target="slide25.xml"/></Relationships>
</file>

<file path=ppt/slides/_rels/slide19.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chart" Target="../charts/chart10.xml"/></Relationships>
</file>

<file path=ppt/slides/_rels/slide20.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chart" Target="../charts/chart11.xml"/></Relationships>
</file>

<file path=ppt/slides/_rels/slide21.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chart" Target="../charts/chart12.xml"/></Relationships>
</file>

<file path=ppt/slides/_rels/slide27.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Who Drives the Revenue?</a:t>
            </a:r>
          </a:p>
        </p:txBody>
      </p:sp>
      <p:sp>
        <p:nvSpPr>
          <p:cNvPr id="3" name="TextBox 2"/>
          <p:cNvSpPr txBox="1"/>
          <p:nvPr/>
        </p:nvSpPr>
        <p:spPr>
          <a:xfrm>
            <a:off x="914400" y="3703320"/>
            <a:ext cx="10360152" cy="457200"/>
          </a:xfrm>
          <a:prstGeom prst="rect">
            <a:avLst/>
          </a:prstGeom>
          <a:noFill/>
        </p:spPr>
        <p:txBody>
          <a:bodyPr wrap="square" lIns="0" tIns="0" rIns="0" bIns="0" anchor="t">
            <a:spAutoFit/>
          </a:bodyPr>
          <a:lstStyle/>
          <a:p>
            <a:pPr algn="ctr"/>
            <a:r>
              <a:rPr sz="2200" b="0" i="0">
                <a:solidFill>
                  <a:srgbClr val="FFFFFF"/>
                </a:solidFill>
                <a:latin typeface="Calibri"/>
              </a:rPr>
              <a:t>RFM-Based Customer Segmentation for a UK Online Retailer</a:t>
            </a:r>
          </a:p>
        </p:txBody>
      </p:sp>
      <p:sp>
        <p:nvSpPr>
          <p:cNvPr id="4" name="TextBox 3"/>
          <p:cNvSpPr txBox="1"/>
          <p:nvPr/>
        </p:nvSpPr>
        <p:spPr>
          <a:xfrm>
            <a:off x="914400" y="4343400"/>
            <a:ext cx="10360152" cy="215444"/>
          </a:xfrm>
          <a:prstGeom prst="rect">
            <a:avLst/>
          </a:prstGeom>
          <a:noFill/>
        </p:spPr>
        <p:txBody>
          <a:bodyPr wrap="square" lIns="0" tIns="0" rIns="0" bIns="0" anchor="t">
            <a:spAutoFit/>
          </a:bodyPr>
          <a:lstStyle/>
          <a:p>
            <a:pPr algn="ctr"/>
            <a:r>
              <a:rPr sz="1400" b="0" i="0" dirty="0">
                <a:solidFill>
                  <a:srgbClr val="B9C2E6"/>
                </a:solidFill>
                <a:latin typeface="Calibri"/>
              </a:rPr>
              <a:t>Capstone Project  ·  </a:t>
            </a:r>
            <a:r>
              <a:rPr lang="en-IN" sz="1400" b="0" i="0" dirty="0">
                <a:solidFill>
                  <a:srgbClr val="B9C2E6"/>
                </a:solidFill>
                <a:latin typeface="Calibri"/>
              </a:rPr>
              <a:t>Swastik Mukherjee </a:t>
            </a:r>
            <a:r>
              <a:rPr sz="1400" b="0" i="0" dirty="0">
                <a:solidFill>
                  <a:srgbClr val="B9C2E6"/>
                </a:solidFill>
                <a:latin typeface="Calibri"/>
              </a:rPr>
              <a:t>·  </a:t>
            </a:r>
            <a:r>
              <a:rPr lang="en-IN" sz="1400" b="0" i="0">
                <a:solidFill>
                  <a:srgbClr val="B9C2E6"/>
                </a:solidFill>
                <a:latin typeface="Calibri"/>
              </a:rPr>
              <a:t>29/09/2026</a:t>
            </a:r>
            <a:endParaRPr sz="1400" b="0" i="0" dirty="0">
              <a:solidFill>
                <a:srgbClr val="B9C2E6"/>
              </a:solidFill>
              <a:latin typeface="Calibri"/>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lstStyle/>
          <a:p>
            <a:endParaRPr lang="en-IN" dirty="0"/>
          </a:p>
        </p:txBody>
      </p:sp>
      <p:sp>
        <p:nvSpPr>
          <p:cNvPr id="4" name="Rounded Rectangle 3"/>
          <p:cNvSpPr/>
          <p:nvPr/>
        </p:nvSpPr>
        <p:spPr>
          <a:xfrm>
            <a:off x="676656" y="1874519"/>
            <a:ext cx="1993392" cy="301752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950976" y="2194560"/>
            <a:ext cx="658368" cy="658368"/>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01</a:t>
            </a:r>
          </a:p>
        </p:txBody>
      </p:sp>
      <p:sp>
        <p:nvSpPr>
          <p:cNvPr id="6" name="TextBox 5"/>
          <p:cNvSpPr txBox="1"/>
          <p:nvPr/>
        </p:nvSpPr>
        <p:spPr>
          <a:xfrm>
            <a:off x="950976" y="3108960"/>
            <a:ext cx="1490472" cy="731520"/>
          </a:xfrm>
          <a:prstGeom prst="rect">
            <a:avLst/>
          </a:prstGeom>
          <a:noFill/>
        </p:spPr>
        <p:txBody>
          <a:bodyPr wrap="square" lIns="0" tIns="0" rIns="0" bIns="0" anchor="t">
            <a:spAutoFit/>
          </a:bodyPr>
          <a:lstStyle/>
          <a:p>
            <a:pPr algn="l"/>
            <a:r>
              <a:rPr sz="1800" b="1" i="0">
                <a:solidFill>
                  <a:srgbClr val="1D1B58"/>
                </a:solidFill>
                <a:latin typeface="Calibri"/>
              </a:rPr>
              <a:t>Problem &amp; data</a:t>
            </a:r>
          </a:p>
        </p:txBody>
      </p:sp>
      <p:sp>
        <p:nvSpPr>
          <p:cNvPr id="7" name="TextBox 6"/>
          <p:cNvSpPr txBox="1"/>
          <p:nvPr/>
        </p:nvSpPr>
        <p:spPr>
          <a:xfrm>
            <a:off x="950976" y="3886200"/>
            <a:ext cx="1490472" cy="822960"/>
          </a:xfrm>
          <a:prstGeom prst="rect">
            <a:avLst/>
          </a:prstGeom>
          <a:noFill/>
        </p:spPr>
        <p:txBody>
          <a:bodyPr wrap="square" lIns="0" tIns="0" rIns="0" bIns="0" anchor="t">
            <a:spAutoFit/>
          </a:bodyPr>
          <a:lstStyle/>
          <a:p>
            <a:pPr algn="l"/>
            <a:r>
              <a:rPr sz="1300" b="0" i="0">
                <a:solidFill>
                  <a:srgbClr val="5B6075"/>
                </a:solidFill>
                <a:latin typeface="Calibri"/>
              </a:rPr>
              <a:t>Business question, dataset, cleaning</a:t>
            </a:r>
          </a:p>
        </p:txBody>
      </p:sp>
      <p:sp>
        <p:nvSpPr>
          <p:cNvPr id="8" name="Rounded Rectangle 7"/>
          <p:cNvSpPr/>
          <p:nvPr/>
        </p:nvSpPr>
        <p:spPr>
          <a:xfrm>
            <a:off x="2889504" y="1874519"/>
            <a:ext cx="1993392" cy="301752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3163824" y="2194560"/>
            <a:ext cx="658368" cy="658368"/>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02</a:t>
            </a:r>
          </a:p>
        </p:txBody>
      </p:sp>
      <p:sp>
        <p:nvSpPr>
          <p:cNvPr id="10" name="TextBox 9"/>
          <p:cNvSpPr txBox="1"/>
          <p:nvPr/>
        </p:nvSpPr>
        <p:spPr>
          <a:xfrm>
            <a:off x="3163824" y="3108960"/>
            <a:ext cx="1490472" cy="731520"/>
          </a:xfrm>
          <a:prstGeom prst="rect">
            <a:avLst/>
          </a:prstGeom>
          <a:noFill/>
        </p:spPr>
        <p:txBody>
          <a:bodyPr wrap="square" lIns="0" tIns="0" rIns="0" bIns="0" anchor="t">
            <a:spAutoFit/>
          </a:bodyPr>
          <a:lstStyle/>
          <a:p>
            <a:pPr algn="l"/>
            <a:r>
              <a:rPr sz="1800" b="1" i="0">
                <a:solidFill>
                  <a:srgbClr val="1D1B58"/>
                </a:solidFill>
                <a:latin typeface="Calibri"/>
              </a:rPr>
              <a:t>Customer behaviour</a:t>
            </a:r>
          </a:p>
        </p:txBody>
      </p:sp>
      <p:sp>
        <p:nvSpPr>
          <p:cNvPr id="11" name="TextBox 10"/>
          <p:cNvSpPr txBox="1"/>
          <p:nvPr/>
        </p:nvSpPr>
        <p:spPr>
          <a:xfrm>
            <a:off x="3163824" y="3886200"/>
            <a:ext cx="1490472" cy="822960"/>
          </a:xfrm>
          <a:prstGeom prst="rect">
            <a:avLst/>
          </a:prstGeom>
          <a:noFill/>
        </p:spPr>
        <p:txBody>
          <a:bodyPr wrap="square" lIns="0" tIns="0" rIns="0" bIns="0" anchor="t">
            <a:spAutoFit/>
          </a:bodyPr>
          <a:lstStyle/>
          <a:p>
            <a:pPr algn="l"/>
            <a:r>
              <a:rPr sz="1300" b="0" i="0">
                <a:solidFill>
                  <a:srgbClr val="5B6075"/>
                </a:solidFill>
                <a:latin typeface="Calibri"/>
              </a:rPr>
              <a:t>EDA and RFM feature engineering</a:t>
            </a:r>
          </a:p>
        </p:txBody>
      </p:sp>
      <p:sp>
        <p:nvSpPr>
          <p:cNvPr id="12" name="Rounded Rectangle 11"/>
          <p:cNvSpPr/>
          <p:nvPr/>
        </p:nvSpPr>
        <p:spPr>
          <a:xfrm>
            <a:off x="5102352" y="1874519"/>
            <a:ext cx="1993392" cy="301752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5376672" y="2194560"/>
            <a:ext cx="658368" cy="658368"/>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03</a:t>
            </a:r>
          </a:p>
        </p:txBody>
      </p:sp>
      <p:sp>
        <p:nvSpPr>
          <p:cNvPr id="14" name="TextBox 13"/>
          <p:cNvSpPr txBox="1"/>
          <p:nvPr/>
        </p:nvSpPr>
        <p:spPr>
          <a:xfrm>
            <a:off x="5376672" y="3108960"/>
            <a:ext cx="1490472" cy="731520"/>
          </a:xfrm>
          <a:prstGeom prst="rect">
            <a:avLst/>
          </a:prstGeom>
          <a:noFill/>
        </p:spPr>
        <p:txBody>
          <a:bodyPr wrap="square" lIns="0" tIns="0" rIns="0" bIns="0" anchor="t">
            <a:spAutoFit/>
          </a:bodyPr>
          <a:lstStyle/>
          <a:p>
            <a:pPr algn="l"/>
            <a:r>
              <a:rPr sz="1800" b="1" i="0">
                <a:solidFill>
                  <a:srgbClr val="1D1B58"/>
                </a:solidFill>
                <a:latin typeface="Calibri"/>
              </a:rPr>
              <a:t>Building segments</a:t>
            </a:r>
          </a:p>
        </p:txBody>
      </p:sp>
      <p:sp>
        <p:nvSpPr>
          <p:cNvPr id="15" name="TextBox 14"/>
          <p:cNvSpPr txBox="1"/>
          <p:nvPr/>
        </p:nvSpPr>
        <p:spPr>
          <a:xfrm>
            <a:off x="5376672" y="3886200"/>
            <a:ext cx="1490472" cy="822960"/>
          </a:xfrm>
          <a:prstGeom prst="rect">
            <a:avLst/>
          </a:prstGeom>
          <a:noFill/>
        </p:spPr>
        <p:txBody>
          <a:bodyPr wrap="square" lIns="0" tIns="0" rIns="0" bIns="0" anchor="t">
            <a:spAutoFit/>
          </a:bodyPr>
          <a:lstStyle/>
          <a:p>
            <a:pPr algn="l"/>
            <a:r>
              <a:rPr sz="1300" b="0" i="0">
                <a:solidFill>
                  <a:srgbClr val="5B6075"/>
                </a:solidFill>
                <a:latin typeface="Calibri"/>
              </a:rPr>
              <a:t>Choosing k and comparing algorithms</a:t>
            </a:r>
          </a:p>
        </p:txBody>
      </p:sp>
      <p:sp>
        <p:nvSpPr>
          <p:cNvPr id="16" name="Rounded Rectangle 15"/>
          <p:cNvSpPr/>
          <p:nvPr/>
        </p:nvSpPr>
        <p:spPr>
          <a:xfrm>
            <a:off x="7315200" y="1874519"/>
            <a:ext cx="1993392" cy="301752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7589520" y="2194560"/>
            <a:ext cx="658368" cy="658368"/>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04</a:t>
            </a:r>
          </a:p>
        </p:txBody>
      </p:sp>
      <p:sp>
        <p:nvSpPr>
          <p:cNvPr id="18" name="TextBox 17"/>
          <p:cNvSpPr txBox="1"/>
          <p:nvPr/>
        </p:nvSpPr>
        <p:spPr>
          <a:xfrm>
            <a:off x="7589520" y="3108960"/>
            <a:ext cx="1490472" cy="731520"/>
          </a:xfrm>
          <a:prstGeom prst="rect">
            <a:avLst/>
          </a:prstGeom>
          <a:noFill/>
        </p:spPr>
        <p:txBody>
          <a:bodyPr wrap="square" lIns="0" tIns="0" rIns="0" bIns="0" anchor="t">
            <a:spAutoFit/>
          </a:bodyPr>
          <a:lstStyle/>
          <a:p>
            <a:pPr algn="l"/>
            <a:r>
              <a:rPr sz="1800" b="1" i="0">
                <a:solidFill>
                  <a:srgbClr val="1D1B58"/>
                </a:solidFill>
                <a:latin typeface="Calibri"/>
              </a:rPr>
              <a:t>Segments &amp; drivers</a:t>
            </a:r>
          </a:p>
        </p:txBody>
      </p:sp>
      <p:sp>
        <p:nvSpPr>
          <p:cNvPr id="19" name="TextBox 18"/>
          <p:cNvSpPr txBox="1"/>
          <p:nvPr/>
        </p:nvSpPr>
        <p:spPr>
          <a:xfrm>
            <a:off x="7589520" y="3886200"/>
            <a:ext cx="1490472" cy="822960"/>
          </a:xfrm>
          <a:prstGeom prst="rect">
            <a:avLst/>
          </a:prstGeom>
          <a:noFill/>
        </p:spPr>
        <p:txBody>
          <a:bodyPr wrap="square" lIns="0" tIns="0" rIns="0" bIns="0" anchor="t">
            <a:spAutoFit/>
          </a:bodyPr>
          <a:lstStyle/>
          <a:p>
            <a:pPr algn="l"/>
            <a:r>
              <a:rPr sz="1300" b="0" i="0">
                <a:solidFill>
                  <a:srgbClr val="5B6075"/>
                </a:solidFill>
                <a:latin typeface="Calibri"/>
              </a:rPr>
              <a:t>Who they are and what separates them</a:t>
            </a:r>
          </a:p>
        </p:txBody>
      </p:sp>
      <p:sp>
        <p:nvSpPr>
          <p:cNvPr id="20" name="Rounded Rectangle 19"/>
          <p:cNvSpPr/>
          <p:nvPr/>
        </p:nvSpPr>
        <p:spPr>
          <a:xfrm>
            <a:off x="9528048" y="1874519"/>
            <a:ext cx="1993392" cy="301752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9802368" y="2194560"/>
            <a:ext cx="658368" cy="658368"/>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05</a:t>
            </a:r>
          </a:p>
        </p:txBody>
      </p:sp>
      <p:sp>
        <p:nvSpPr>
          <p:cNvPr id="22" name="TextBox 21"/>
          <p:cNvSpPr txBox="1"/>
          <p:nvPr/>
        </p:nvSpPr>
        <p:spPr>
          <a:xfrm>
            <a:off x="9802368" y="3108960"/>
            <a:ext cx="1490472" cy="731520"/>
          </a:xfrm>
          <a:prstGeom prst="rect">
            <a:avLst/>
          </a:prstGeom>
          <a:noFill/>
        </p:spPr>
        <p:txBody>
          <a:bodyPr wrap="square" lIns="0" tIns="0" rIns="0" bIns="0" anchor="t">
            <a:spAutoFit/>
          </a:bodyPr>
          <a:lstStyle/>
          <a:p>
            <a:pPr algn="l"/>
            <a:r>
              <a:rPr sz="1800" b="1" i="0">
                <a:solidFill>
                  <a:srgbClr val="1D1B58"/>
                </a:solidFill>
                <a:latin typeface="Calibri"/>
              </a:rPr>
              <a:t>Acting on it</a:t>
            </a:r>
          </a:p>
        </p:txBody>
      </p:sp>
      <p:sp>
        <p:nvSpPr>
          <p:cNvPr id="23" name="TextBox 22"/>
          <p:cNvSpPr txBox="1"/>
          <p:nvPr/>
        </p:nvSpPr>
        <p:spPr>
          <a:xfrm>
            <a:off x="9802368" y="3886200"/>
            <a:ext cx="1490472" cy="822960"/>
          </a:xfrm>
          <a:prstGeom prst="rect">
            <a:avLst/>
          </a:prstGeom>
          <a:noFill/>
        </p:spPr>
        <p:txBody>
          <a:bodyPr wrap="square" lIns="0" tIns="0" rIns="0" bIns="0" anchor="t">
            <a:spAutoFit/>
          </a:bodyPr>
          <a:lstStyle/>
          <a:p>
            <a:pPr algn="l"/>
            <a:r>
              <a:rPr sz="1300" b="0" i="0">
                <a:solidFill>
                  <a:srgbClr val="5B6075"/>
                </a:solidFill>
                <a:latin typeface="Calibri"/>
              </a:rPr>
              <a:t>Scoring, recommendations, dashboard, next steps</a:t>
            </a:r>
          </a:p>
        </p:txBody>
      </p:sp>
      <p:sp>
        <p:nvSpPr>
          <p:cNvPr id="24" name="TextBox 23"/>
          <p:cNvSpPr txBox="1"/>
          <p:nvPr/>
        </p:nvSpPr>
        <p:spPr>
          <a:xfrm>
            <a:off x="676656" y="5138928"/>
            <a:ext cx="10789920" cy="274320"/>
          </a:xfrm>
          <a:prstGeom prst="rect">
            <a:avLst/>
          </a:prstGeom>
          <a:noFill/>
        </p:spPr>
        <p:txBody>
          <a:bodyPr wrap="square" lIns="0" tIns="0" rIns="0" bIns="0" anchor="t">
            <a:spAutoFit/>
          </a:bodyPr>
          <a:lstStyle/>
          <a:p>
            <a:pPr algn="l"/>
            <a:r>
              <a:rPr sz="1200" b="0" i="1">
                <a:solidFill>
                  <a:srgbClr val="5B6075"/>
                </a:solidFill>
                <a:latin typeface="Calibri"/>
              </a:rPr>
              <a:t>Backup: an appendix of anticipated methodology questions (FAQ 1–9) follows the close.</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The business problem</a:t>
            </a:r>
          </a:p>
        </p:txBody>
      </p:sp>
      <p:sp>
        <p:nvSpPr>
          <p:cNvPr id="4" name="TextBox 3"/>
          <p:cNvSpPr txBox="1"/>
          <p:nvPr/>
        </p:nvSpPr>
        <p:spPr>
          <a:xfrm>
            <a:off x="4663440" y="777240"/>
            <a:ext cx="6766560" cy="914400"/>
          </a:xfrm>
          <a:prstGeom prst="rect">
            <a:avLst/>
          </a:prstGeom>
          <a:noFill/>
        </p:spPr>
        <p:txBody>
          <a:bodyPr wrap="square" lIns="0" tIns="0" rIns="0" bIns="0" anchor="t">
            <a:spAutoFit/>
          </a:bodyPr>
          <a:lstStyle/>
          <a:p>
            <a:pPr algn="l"/>
            <a:r>
              <a:rPr sz="2000" b="0" i="1">
                <a:solidFill>
                  <a:srgbClr val="1D1B58"/>
                </a:solidFill>
                <a:latin typeface="Calibri"/>
              </a:rPr>
              <a:t>“Which customers generate our revenue, which are we losing, and how should marketing treat each group differently?”</a:t>
            </a:r>
          </a:p>
        </p:txBody>
      </p:sp>
      <p:sp>
        <p:nvSpPr>
          <p:cNvPr id="5" name="Oval 4"/>
          <p:cNvSpPr/>
          <p:nvPr/>
        </p:nvSpPr>
        <p:spPr>
          <a:xfrm>
            <a:off x="4663440" y="2011680"/>
            <a:ext cx="502920" cy="50292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1</a:t>
            </a:r>
          </a:p>
        </p:txBody>
      </p:sp>
      <p:sp>
        <p:nvSpPr>
          <p:cNvPr id="6" name="TextBox 5"/>
          <p:cNvSpPr txBox="1"/>
          <p:nvPr/>
        </p:nvSpPr>
        <p:spPr>
          <a:xfrm>
            <a:off x="5394960" y="1993392"/>
            <a:ext cx="6035040" cy="320040"/>
          </a:xfrm>
          <a:prstGeom prst="rect">
            <a:avLst/>
          </a:prstGeom>
          <a:noFill/>
        </p:spPr>
        <p:txBody>
          <a:bodyPr wrap="square" lIns="0" tIns="0" rIns="0" bIns="0" anchor="t">
            <a:spAutoFit/>
          </a:bodyPr>
          <a:lstStyle/>
          <a:p>
            <a:pPr algn="l"/>
            <a:r>
              <a:rPr sz="1600" b="1" i="0">
                <a:solidFill>
                  <a:srgbClr val="1D1B58"/>
                </a:solidFill>
                <a:latin typeface="Calibri"/>
              </a:rPr>
              <a:t>Segment</a:t>
            </a:r>
          </a:p>
        </p:txBody>
      </p:sp>
      <p:sp>
        <p:nvSpPr>
          <p:cNvPr id="7" name="TextBox 6"/>
          <p:cNvSpPr txBox="1"/>
          <p:nvPr/>
        </p:nvSpPr>
        <p:spPr>
          <a:xfrm>
            <a:off x="5394960" y="2286000"/>
            <a:ext cx="6035040" cy="548640"/>
          </a:xfrm>
          <a:prstGeom prst="rect">
            <a:avLst/>
          </a:prstGeom>
          <a:noFill/>
        </p:spPr>
        <p:txBody>
          <a:bodyPr wrap="square" lIns="0" tIns="0" rIns="0" bIns="0" anchor="t">
            <a:spAutoFit/>
          </a:bodyPr>
          <a:lstStyle/>
          <a:p>
            <a:pPr algn="l"/>
            <a:r>
              <a:rPr sz="1300" b="0" i="0">
                <a:solidFill>
                  <a:srgbClr val="5B6075"/>
                </a:solidFill>
                <a:latin typeface="Calibri"/>
              </a:rPr>
              <a:t>Group customers by purchasing behaviour (Recency, Frequency, Monetary) and compare K-means, hierarchical clustering and DBSCAN.</a:t>
            </a:r>
          </a:p>
        </p:txBody>
      </p:sp>
      <p:sp>
        <p:nvSpPr>
          <p:cNvPr id="8" name="Oval 7"/>
          <p:cNvSpPr/>
          <p:nvPr/>
        </p:nvSpPr>
        <p:spPr>
          <a:xfrm>
            <a:off x="4663440" y="2880360"/>
            <a:ext cx="502920" cy="50292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2</a:t>
            </a:r>
          </a:p>
        </p:txBody>
      </p:sp>
      <p:sp>
        <p:nvSpPr>
          <p:cNvPr id="9" name="TextBox 8"/>
          <p:cNvSpPr txBox="1"/>
          <p:nvPr/>
        </p:nvSpPr>
        <p:spPr>
          <a:xfrm>
            <a:off x="5394960" y="2862072"/>
            <a:ext cx="6035040" cy="320040"/>
          </a:xfrm>
          <a:prstGeom prst="rect">
            <a:avLst/>
          </a:prstGeom>
          <a:noFill/>
        </p:spPr>
        <p:txBody>
          <a:bodyPr wrap="square" lIns="0" tIns="0" rIns="0" bIns="0" anchor="t">
            <a:spAutoFit/>
          </a:bodyPr>
          <a:lstStyle/>
          <a:p>
            <a:pPr algn="l"/>
            <a:r>
              <a:rPr sz="1600" b="1" i="0" dirty="0">
                <a:solidFill>
                  <a:srgbClr val="1D1B58"/>
                </a:solidFill>
                <a:latin typeface="Calibri"/>
              </a:rPr>
              <a:t>Explain</a:t>
            </a:r>
          </a:p>
        </p:txBody>
      </p:sp>
      <p:sp>
        <p:nvSpPr>
          <p:cNvPr id="10" name="TextBox 9"/>
          <p:cNvSpPr txBox="1"/>
          <p:nvPr/>
        </p:nvSpPr>
        <p:spPr>
          <a:xfrm>
            <a:off x="5394960" y="3154680"/>
            <a:ext cx="6035040" cy="548640"/>
          </a:xfrm>
          <a:prstGeom prst="rect">
            <a:avLst/>
          </a:prstGeom>
          <a:noFill/>
        </p:spPr>
        <p:txBody>
          <a:bodyPr wrap="square" lIns="0" tIns="0" rIns="0" bIns="0" anchor="t">
            <a:spAutoFit/>
          </a:bodyPr>
          <a:lstStyle/>
          <a:p>
            <a:pPr algn="l"/>
            <a:r>
              <a:rPr sz="1300" b="0" i="0" dirty="0">
                <a:solidFill>
                  <a:srgbClr val="5B6075"/>
                </a:solidFill>
                <a:latin typeface="Calibri"/>
              </a:rPr>
              <a:t>Show which attributes drive the segments and how much revenue each segment holds.</a:t>
            </a:r>
          </a:p>
        </p:txBody>
      </p:sp>
      <p:sp>
        <p:nvSpPr>
          <p:cNvPr id="11" name="Oval 10"/>
          <p:cNvSpPr/>
          <p:nvPr/>
        </p:nvSpPr>
        <p:spPr>
          <a:xfrm>
            <a:off x="4663440" y="3749039"/>
            <a:ext cx="502920" cy="50292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3</a:t>
            </a:r>
          </a:p>
        </p:txBody>
      </p:sp>
      <p:sp>
        <p:nvSpPr>
          <p:cNvPr id="12" name="TextBox 11"/>
          <p:cNvSpPr txBox="1"/>
          <p:nvPr/>
        </p:nvSpPr>
        <p:spPr>
          <a:xfrm>
            <a:off x="5394960" y="3730752"/>
            <a:ext cx="6035040" cy="320040"/>
          </a:xfrm>
          <a:prstGeom prst="rect">
            <a:avLst/>
          </a:prstGeom>
          <a:noFill/>
        </p:spPr>
        <p:txBody>
          <a:bodyPr wrap="square" lIns="0" tIns="0" rIns="0" bIns="0" anchor="t">
            <a:spAutoFit/>
          </a:bodyPr>
          <a:lstStyle/>
          <a:p>
            <a:pPr algn="l"/>
            <a:r>
              <a:rPr sz="1600" b="1" i="0">
                <a:solidFill>
                  <a:srgbClr val="1D1B58"/>
                </a:solidFill>
                <a:latin typeface="Calibri"/>
              </a:rPr>
              <a:t>Operationalise</a:t>
            </a:r>
          </a:p>
        </p:txBody>
      </p:sp>
      <p:sp>
        <p:nvSpPr>
          <p:cNvPr id="13" name="TextBox 12"/>
          <p:cNvSpPr txBox="1"/>
          <p:nvPr/>
        </p:nvSpPr>
        <p:spPr>
          <a:xfrm>
            <a:off x="5394960" y="4023359"/>
            <a:ext cx="6035040" cy="548640"/>
          </a:xfrm>
          <a:prstGeom prst="rect">
            <a:avLst/>
          </a:prstGeom>
          <a:noFill/>
        </p:spPr>
        <p:txBody>
          <a:bodyPr wrap="square" lIns="0" tIns="0" rIns="0" bIns="0" anchor="t">
            <a:spAutoFit/>
          </a:bodyPr>
          <a:lstStyle/>
          <a:p>
            <a:pPr algn="l"/>
            <a:r>
              <a:rPr sz="1300" b="0" i="0" dirty="0">
                <a:solidFill>
                  <a:srgbClr val="5B6075"/>
                </a:solidFill>
                <a:latin typeface="Calibri"/>
              </a:rPr>
              <a:t>Score new customers into a segment with a classifier and surface results in an interactive dashboard.</a:t>
            </a:r>
          </a:p>
        </p:txBody>
      </p:sp>
      <p:sp>
        <p:nvSpPr>
          <p:cNvPr id="14" name="Oval 13"/>
          <p:cNvSpPr/>
          <p:nvPr/>
        </p:nvSpPr>
        <p:spPr>
          <a:xfrm>
            <a:off x="4663440" y="4617720"/>
            <a:ext cx="502920" cy="50292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4</a:t>
            </a:r>
          </a:p>
        </p:txBody>
      </p:sp>
      <p:sp>
        <p:nvSpPr>
          <p:cNvPr id="15" name="TextBox 14"/>
          <p:cNvSpPr txBox="1"/>
          <p:nvPr/>
        </p:nvSpPr>
        <p:spPr>
          <a:xfrm>
            <a:off x="5394960" y="4599432"/>
            <a:ext cx="6035040" cy="320040"/>
          </a:xfrm>
          <a:prstGeom prst="rect">
            <a:avLst/>
          </a:prstGeom>
          <a:noFill/>
        </p:spPr>
        <p:txBody>
          <a:bodyPr wrap="square" lIns="0" tIns="0" rIns="0" bIns="0" anchor="t">
            <a:spAutoFit/>
          </a:bodyPr>
          <a:lstStyle/>
          <a:p>
            <a:pPr algn="l"/>
            <a:r>
              <a:rPr sz="1600" b="1" i="0">
                <a:solidFill>
                  <a:srgbClr val="1D1B58"/>
                </a:solidFill>
                <a:latin typeface="Calibri"/>
              </a:rPr>
              <a:t>Act</a:t>
            </a:r>
          </a:p>
        </p:txBody>
      </p:sp>
      <p:sp>
        <p:nvSpPr>
          <p:cNvPr id="16" name="TextBox 15"/>
          <p:cNvSpPr txBox="1"/>
          <p:nvPr/>
        </p:nvSpPr>
        <p:spPr>
          <a:xfrm>
            <a:off x="5394960" y="4892040"/>
            <a:ext cx="6035040" cy="548640"/>
          </a:xfrm>
          <a:prstGeom prst="rect">
            <a:avLst/>
          </a:prstGeom>
          <a:noFill/>
        </p:spPr>
        <p:txBody>
          <a:bodyPr wrap="square" lIns="0" tIns="0" rIns="0" bIns="0" anchor="t">
            <a:spAutoFit/>
          </a:bodyPr>
          <a:lstStyle/>
          <a:p>
            <a:pPr algn="l"/>
            <a:r>
              <a:rPr sz="1300" b="0" i="0">
                <a:solidFill>
                  <a:srgbClr val="5B6075"/>
                </a:solidFill>
                <a:latin typeface="Calibri"/>
              </a:rPr>
              <a:t>Recommend targeted retention and marketing strategies, sized and testable.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one year of UK online retail transactions</a:t>
            </a:r>
          </a:p>
        </p:txBody>
      </p:sp>
      <p:sp>
        <p:nvSpPr>
          <p:cNvPr id="3" name="Rounded Rectangle 2"/>
          <p:cNvSpPr/>
          <p:nvPr/>
        </p:nvSpPr>
        <p:spPr>
          <a:xfrm>
            <a:off x="676656" y="1463040"/>
            <a:ext cx="3566160" cy="3977639"/>
          </a:xfrm>
          <a:prstGeom prst="roundRect">
            <a:avLst>
              <a:gd name="adj" fmla="val 6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960120" y="1691640"/>
            <a:ext cx="3017520" cy="320040"/>
          </a:xfrm>
          <a:prstGeom prst="rect">
            <a:avLst/>
          </a:prstGeom>
          <a:noFill/>
        </p:spPr>
        <p:txBody>
          <a:bodyPr wrap="square" lIns="0" tIns="0" rIns="0" bIns="0" anchor="t">
            <a:spAutoFit/>
          </a:bodyPr>
          <a:lstStyle/>
          <a:p>
            <a:pPr algn="l"/>
            <a:r>
              <a:rPr sz="1100" b="1" i="0">
                <a:solidFill>
                  <a:srgbClr val="B9C2E6"/>
                </a:solidFill>
                <a:latin typeface="Calibri"/>
              </a:rPr>
              <a:t>SOURCE</a:t>
            </a:r>
          </a:p>
        </p:txBody>
      </p:sp>
      <p:sp>
        <p:nvSpPr>
          <p:cNvPr id="5" name="TextBox 4"/>
          <p:cNvSpPr txBox="1"/>
          <p:nvPr/>
        </p:nvSpPr>
        <p:spPr>
          <a:xfrm>
            <a:off x="960120" y="1965960"/>
            <a:ext cx="3017520" cy="822960"/>
          </a:xfrm>
          <a:prstGeom prst="rect">
            <a:avLst/>
          </a:prstGeom>
          <a:noFill/>
        </p:spPr>
        <p:txBody>
          <a:bodyPr wrap="square" lIns="0" tIns="0" rIns="0" bIns="0" anchor="t">
            <a:spAutoFit/>
          </a:bodyPr>
          <a:lstStyle/>
          <a:p>
            <a:pPr algn="l"/>
            <a:r>
              <a:rPr sz="2000" b="1" i="0">
                <a:solidFill>
                  <a:srgbClr val="FFFFFF"/>
                </a:solidFill>
                <a:latin typeface="Calibri"/>
              </a:rPr>
              <a:t>UCI Online Retail dataset</a:t>
            </a:r>
          </a:p>
        </p:txBody>
      </p:sp>
      <p:sp>
        <p:nvSpPr>
          <p:cNvPr id="6" name="TextBox 5"/>
          <p:cNvSpPr txBox="1"/>
          <p:nvPr/>
        </p:nvSpPr>
        <p:spPr>
          <a:xfrm>
            <a:off x="960120" y="2606040"/>
            <a:ext cx="3017520" cy="1097280"/>
          </a:xfrm>
          <a:prstGeom prst="rect">
            <a:avLst/>
          </a:prstGeom>
          <a:noFill/>
        </p:spPr>
        <p:txBody>
          <a:bodyPr wrap="square" lIns="0" tIns="0" rIns="0" bIns="0" anchor="t">
            <a:spAutoFit/>
          </a:bodyPr>
          <a:lstStyle/>
          <a:p>
            <a:pPr algn="l"/>
            <a:r>
              <a:rPr sz="1300" b="0" i="0">
                <a:solidFill>
                  <a:srgbClr val="B9C2E6"/>
                </a:solidFill>
                <a:latin typeface="Calibri"/>
              </a:rPr>
              <a:t>UK-based online gift retailer; many customers are wholesalers.
1 Dec 2010 – 9 Dec 2011 · 8 columns</a:t>
            </a:r>
          </a:p>
        </p:txBody>
      </p:sp>
      <p:sp>
        <p:nvSpPr>
          <p:cNvPr id="7" name="TextBox 6"/>
          <p:cNvSpPr txBox="1"/>
          <p:nvPr/>
        </p:nvSpPr>
        <p:spPr>
          <a:xfrm>
            <a:off x="960120" y="3703320"/>
            <a:ext cx="3017520" cy="525780"/>
          </a:xfrm>
          <a:prstGeom prst="rect">
            <a:avLst/>
          </a:prstGeom>
          <a:noFill/>
        </p:spPr>
        <p:txBody>
          <a:bodyPr wrap="square" lIns="0" tIns="0" rIns="0" bIns="0" anchor="t">
            <a:spAutoFit/>
          </a:bodyPr>
          <a:lstStyle/>
          <a:p>
            <a:pPr algn="l"/>
            <a:r>
              <a:rPr sz="3600" b="1" i="0">
                <a:solidFill>
                  <a:srgbClr val="FFFFFF"/>
                </a:solidFill>
                <a:latin typeface="Calibri"/>
              </a:rPr>
              <a:t>4,314</a:t>
            </a:r>
          </a:p>
        </p:txBody>
      </p:sp>
      <p:sp>
        <p:nvSpPr>
          <p:cNvPr id="8" name="TextBox 7"/>
          <p:cNvSpPr txBox="1"/>
          <p:nvPr/>
        </p:nvSpPr>
        <p:spPr>
          <a:xfrm>
            <a:off x="960120" y="4251959"/>
            <a:ext cx="3017520" cy="548640"/>
          </a:xfrm>
          <a:prstGeom prst="rect">
            <a:avLst/>
          </a:prstGeom>
          <a:noFill/>
        </p:spPr>
        <p:txBody>
          <a:bodyPr wrap="square" lIns="0" tIns="0" rIns="0" bIns="0" anchor="t">
            <a:spAutoFit/>
          </a:bodyPr>
          <a:lstStyle/>
          <a:p>
            <a:pPr algn="l"/>
            <a:r>
              <a:rPr sz="1200" b="0" i="0">
                <a:solidFill>
                  <a:srgbClr val="B9C2E6"/>
                </a:solidFill>
                <a:latin typeface="Calibri"/>
              </a:rPr>
              <a:t>customers after cleaning</a:t>
            </a:r>
          </a:p>
        </p:txBody>
      </p:sp>
      <p:graphicFrame>
        <p:nvGraphicFramePr>
          <p:cNvPr id="9" name="Chart 8"/>
          <p:cNvGraphicFramePr>
            <a:graphicFrameLocks noGrp="1"/>
          </p:cNvGraphicFramePr>
          <p:nvPr/>
        </p:nvGraphicFramePr>
        <p:xfrm>
          <a:off x="4572000" y="1371600"/>
          <a:ext cx="69494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4572000" y="5074920"/>
            <a:ext cx="6949440" cy="365760"/>
          </a:xfrm>
          <a:prstGeom prst="rect">
            <a:avLst/>
          </a:prstGeom>
          <a:noFill/>
        </p:spPr>
        <p:txBody>
          <a:bodyPr wrap="square" lIns="0" tIns="0" rIns="0" bIns="0" anchor="t">
            <a:spAutoFit/>
          </a:bodyPr>
          <a:lstStyle/>
          <a:p>
            <a:pPr algn="l"/>
            <a:r>
              <a:rPr sz="1200" b="0" i="0">
                <a:solidFill>
                  <a:srgbClr val="5B6075"/>
                </a:solidFill>
                <a:latin typeface="Calibri"/>
              </a:rPr>
              <a:t>541,909 → 358,277 rows (66% kept). The biggest cut, missing CustomerID (135,080 rows), is unavoidable: RFM needs a customer.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transactions tell us</a:t>
            </a:r>
          </a:p>
        </p:txBody>
      </p:sp>
      <p:graphicFrame>
        <p:nvGraphicFramePr>
          <p:cNvPr id="3" name="Chart 2"/>
          <p:cNvGraphicFramePr>
            <a:graphicFrameLocks noGrp="1"/>
          </p:cNvGraphicFramePr>
          <p:nvPr/>
        </p:nvGraphicFramePr>
        <p:xfrm>
          <a:off x="676656" y="1371600"/>
          <a:ext cx="6858000" cy="3749039"/>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822960" y="5212080"/>
            <a:ext cx="6583680" cy="274320"/>
          </a:xfrm>
          <a:prstGeom prst="rect">
            <a:avLst/>
          </a:prstGeom>
          <a:noFill/>
        </p:spPr>
        <p:txBody>
          <a:bodyPr wrap="square" lIns="0" tIns="0" rIns="0" bIns="0" anchor="t">
            <a:spAutoFit/>
          </a:bodyPr>
          <a:lstStyle/>
          <a:p>
            <a:pPr algn="l"/>
            <a:r>
              <a:rPr sz="1100" b="0" i="1">
                <a:solidFill>
                  <a:srgbClr val="5B6075"/>
                </a:solidFill>
                <a:latin typeface="Calibri"/>
              </a:rPr>
              <a:t>Dec '11 covers 1–9 December only.</a:t>
            </a:r>
          </a:p>
        </p:txBody>
      </p:sp>
      <p:sp>
        <p:nvSpPr>
          <p:cNvPr id="5" name="Rounded Rectangle 4"/>
          <p:cNvSpPr/>
          <p:nvPr/>
        </p:nvSpPr>
        <p:spPr>
          <a:xfrm>
            <a:off x="7863840" y="1417320"/>
            <a:ext cx="3657600" cy="1207008"/>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092440" y="1527048"/>
            <a:ext cx="3291840" cy="457200"/>
          </a:xfrm>
          <a:prstGeom prst="rect">
            <a:avLst/>
          </a:prstGeom>
          <a:noFill/>
        </p:spPr>
        <p:txBody>
          <a:bodyPr wrap="square" lIns="0" tIns="0" rIns="0" bIns="0" anchor="t">
            <a:spAutoFit/>
          </a:bodyPr>
          <a:lstStyle/>
          <a:p>
            <a:pPr algn="l"/>
            <a:r>
              <a:rPr sz="2400" b="1" i="0">
                <a:solidFill>
                  <a:srgbClr val="1D1B58"/>
                </a:solidFill>
                <a:latin typeface="Calibri"/>
              </a:rPr>
              <a:t>89%</a:t>
            </a:r>
          </a:p>
        </p:txBody>
      </p:sp>
      <p:sp>
        <p:nvSpPr>
          <p:cNvPr id="7" name="TextBox 6"/>
          <p:cNvSpPr txBox="1"/>
          <p:nvPr/>
        </p:nvSpPr>
        <p:spPr>
          <a:xfrm>
            <a:off x="8092440" y="1984248"/>
            <a:ext cx="3291840" cy="594360"/>
          </a:xfrm>
          <a:prstGeom prst="rect">
            <a:avLst/>
          </a:prstGeom>
          <a:noFill/>
        </p:spPr>
        <p:txBody>
          <a:bodyPr wrap="square" lIns="0" tIns="0" rIns="0" bIns="0" anchor="t">
            <a:spAutoFit/>
          </a:bodyPr>
          <a:lstStyle/>
          <a:p>
            <a:pPr algn="l"/>
            <a:r>
              <a:rPr sz="1200" b="0" i="0">
                <a:solidFill>
                  <a:srgbClr val="222433"/>
                </a:solidFill>
                <a:latin typeface="Calibri"/>
              </a:rPr>
              <a:t>of transactions come from the UK</a:t>
            </a:r>
          </a:p>
          <a:p>
            <a:pPr algn="l"/>
            <a:r>
              <a:rPr sz="1200" b="0" i="0">
                <a:solidFill>
                  <a:srgbClr val="5B6075"/>
                </a:solidFill>
                <a:latin typeface="Calibri"/>
              </a:rPr>
              <a:t>(83% of revenue)</a:t>
            </a:r>
          </a:p>
        </p:txBody>
      </p:sp>
      <p:sp>
        <p:nvSpPr>
          <p:cNvPr id="8" name="Rounded Rectangle 7"/>
          <p:cNvSpPr/>
          <p:nvPr/>
        </p:nvSpPr>
        <p:spPr>
          <a:xfrm>
            <a:off x="7863840" y="2788920"/>
            <a:ext cx="3657600" cy="1207008"/>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092440" y="2898648"/>
            <a:ext cx="3291840" cy="457200"/>
          </a:xfrm>
          <a:prstGeom prst="rect">
            <a:avLst/>
          </a:prstGeom>
          <a:noFill/>
        </p:spPr>
        <p:txBody>
          <a:bodyPr wrap="square" lIns="0" tIns="0" rIns="0" bIns="0" anchor="t">
            <a:spAutoFit/>
          </a:bodyPr>
          <a:lstStyle/>
          <a:p>
            <a:pPr algn="l"/>
            <a:r>
              <a:rPr sz="2400" b="1" i="0">
                <a:solidFill>
                  <a:srgbClr val="1D1B58"/>
                </a:solidFill>
                <a:latin typeface="Calibri"/>
              </a:rPr>
              <a:t>Q4 peak</a:t>
            </a:r>
          </a:p>
        </p:txBody>
      </p:sp>
      <p:sp>
        <p:nvSpPr>
          <p:cNvPr id="10" name="TextBox 9"/>
          <p:cNvSpPr txBox="1"/>
          <p:nvPr/>
        </p:nvSpPr>
        <p:spPr>
          <a:xfrm>
            <a:off x="8092440" y="3355848"/>
            <a:ext cx="3291840" cy="594360"/>
          </a:xfrm>
          <a:prstGeom prst="rect">
            <a:avLst/>
          </a:prstGeom>
          <a:noFill/>
        </p:spPr>
        <p:txBody>
          <a:bodyPr wrap="square" lIns="0" tIns="0" rIns="0" bIns="0" anchor="t">
            <a:spAutoFit/>
          </a:bodyPr>
          <a:lstStyle/>
          <a:p>
            <a:pPr algn="l"/>
            <a:r>
              <a:rPr sz="1200" b="0" i="0">
                <a:solidFill>
                  <a:srgbClr val="222433"/>
                </a:solidFill>
                <a:latin typeface="Calibri"/>
              </a:rPr>
              <a:t>Sep–Nov 2011 revenue climbs to</a:t>
            </a:r>
          </a:p>
          <a:p>
            <a:pPr algn="l"/>
            <a:r>
              <a:rPr sz="1200" b="0" i="0">
                <a:solidFill>
                  <a:srgbClr val="5B6075"/>
                </a:solidFill>
                <a:latin typeface="Calibri"/>
              </a:rPr>
              <a:t>£1.05M in Nov: seasonal gifting</a:t>
            </a:r>
          </a:p>
        </p:txBody>
      </p:sp>
      <p:sp>
        <p:nvSpPr>
          <p:cNvPr id="11" name="Rounded Rectangle 10"/>
          <p:cNvSpPr/>
          <p:nvPr/>
        </p:nvSpPr>
        <p:spPr>
          <a:xfrm>
            <a:off x="7863840" y="4160520"/>
            <a:ext cx="3657600" cy="1207008"/>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092440" y="4270248"/>
            <a:ext cx="3291840" cy="457200"/>
          </a:xfrm>
          <a:prstGeom prst="rect">
            <a:avLst/>
          </a:prstGeom>
          <a:noFill/>
        </p:spPr>
        <p:txBody>
          <a:bodyPr wrap="square" lIns="0" tIns="0" rIns="0" bIns="0" anchor="t">
            <a:spAutoFit/>
          </a:bodyPr>
          <a:lstStyle/>
          <a:p>
            <a:pPr algn="l"/>
            <a:r>
              <a:rPr sz="2400" b="1" i="0">
                <a:solidFill>
                  <a:srgbClr val="1D1B58"/>
                </a:solidFill>
                <a:latin typeface="Calibri"/>
              </a:rPr>
              <a:t>£614 vs £1,853</a:t>
            </a:r>
          </a:p>
        </p:txBody>
      </p:sp>
      <p:sp>
        <p:nvSpPr>
          <p:cNvPr id="13" name="TextBox 12"/>
          <p:cNvSpPr txBox="1"/>
          <p:nvPr/>
        </p:nvSpPr>
        <p:spPr>
          <a:xfrm>
            <a:off x="8092440" y="4727448"/>
            <a:ext cx="3291840" cy="594360"/>
          </a:xfrm>
          <a:prstGeom prst="rect">
            <a:avLst/>
          </a:prstGeom>
          <a:noFill/>
        </p:spPr>
        <p:txBody>
          <a:bodyPr wrap="square" lIns="0" tIns="0" rIns="0" bIns="0" anchor="t">
            <a:spAutoFit/>
          </a:bodyPr>
          <a:lstStyle/>
          <a:p>
            <a:pPr algn="l"/>
            <a:r>
              <a:rPr sz="1200" b="0" i="0">
                <a:solidFill>
                  <a:srgbClr val="222433"/>
                </a:solidFill>
                <a:latin typeface="Calibri"/>
              </a:rPr>
              <a:t>median vs mean spend per customer</a:t>
            </a:r>
          </a:p>
          <a:p>
            <a:pPr algn="l"/>
            <a:r>
              <a:rPr sz="1200" b="0" i="0">
                <a:solidFill>
                  <a:srgbClr val="5B6075"/>
                </a:solidFill>
                <a:latin typeface="Calibri"/>
              </a:rPr>
              <a:t>a long tail of very large buyers (max £265k)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RFM feature engineering</a:t>
            </a:r>
          </a:p>
        </p:txBody>
      </p:sp>
      <p:sp>
        <p:nvSpPr>
          <p:cNvPr id="3" name="Rounded Rectangle 2"/>
          <p:cNvSpPr/>
          <p:nvPr/>
        </p:nvSpPr>
        <p:spPr>
          <a:xfrm>
            <a:off x="676656" y="1508760"/>
            <a:ext cx="6309360" cy="109728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896112" y="1737360"/>
            <a:ext cx="640080" cy="64008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libri"/>
              </a:rPr>
              <a:t>R</a:t>
            </a:r>
          </a:p>
        </p:txBody>
      </p:sp>
      <p:sp>
        <p:nvSpPr>
          <p:cNvPr id="5" name="TextBox 4"/>
          <p:cNvSpPr txBox="1"/>
          <p:nvPr/>
        </p:nvSpPr>
        <p:spPr>
          <a:xfrm>
            <a:off x="1783080" y="1645919"/>
            <a:ext cx="3017520" cy="365760"/>
          </a:xfrm>
          <a:prstGeom prst="rect">
            <a:avLst/>
          </a:prstGeom>
          <a:noFill/>
        </p:spPr>
        <p:txBody>
          <a:bodyPr wrap="square" lIns="0" tIns="0" rIns="0" bIns="0" anchor="t">
            <a:spAutoFit/>
          </a:bodyPr>
          <a:lstStyle/>
          <a:p>
            <a:pPr algn="l"/>
            <a:r>
              <a:rPr sz="1800" b="1" i="0">
                <a:solidFill>
                  <a:srgbClr val="1D1B58"/>
                </a:solidFill>
                <a:latin typeface="Calibri"/>
              </a:rPr>
              <a:t>Recency</a:t>
            </a:r>
          </a:p>
        </p:txBody>
      </p:sp>
      <p:sp>
        <p:nvSpPr>
          <p:cNvPr id="6" name="TextBox 5"/>
          <p:cNvSpPr txBox="1"/>
          <p:nvPr/>
        </p:nvSpPr>
        <p:spPr>
          <a:xfrm>
            <a:off x="1783080" y="2011680"/>
            <a:ext cx="3291840" cy="548640"/>
          </a:xfrm>
          <a:prstGeom prst="rect">
            <a:avLst/>
          </a:prstGeom>
          <a:noFill/>
        </p:spPr>
        <p:txBody>
          <a:bodyPr wrap="square" lIns="0" tIns="0" rIns="0" bIns="0" anchor="t">
            <a:spAutoFit/>
          </a:bodyPr>
          <a:lstStyle/>
          <a:p>
            <a:pPr algn="l"/>
            <a:r>
              <a:rPr sz="1300" b="0" i="0">
                <a:solidFill>
                  <a:srgbClr val="5B6075"/>
                </a:solidFill>
                <a:latin typeface="Calibri"/>
              </a:rPr>
              <a:t>Days since last purchase (snapshot 10 Dec 2011)</a:t>
            </a:r>
          </a:p>
        </p:txBody>
      </p:sp>
      <p:sp>
        <p:nvSpPr>
          <p:cNvPr id="7" name="TextBox 6"/>
          <p:cNvSpPr txBox="1"/>
          <p:nvPr/>
        </p:nvSpPr>
        <p:spPr>
          <a:xfrm>
            <a:off x="4983480" y="1783080"/>
            <a:ext cx="1828800" cy="548640"/>
          </a:xfrm>
          <a:prstGeom prst="rect">
            <a:avLst/>
          </a:prstGeom>
          <a:noFill/>
        </p:spPr>
        <p:txBody>
          <a:bodyPr wrap="square" lIns="0" tIns="0" rIns="0" bIns="0" anchor="ctr">
            <a:spAutoFit/>
          </a:bodyPr>
          <a:lstStyle/>
          <a:p>
            <a:pPr algn="r"/>
            <a:r>
              <a:rPr sz="1500" b="1" i="0">
                <a:solidFill>
                  <a:srgbClr val="1B8FE0"/>
                </a:solidFill>
                <a:latin typeface="Calibri"/>
              </a:rPr>
              <a:t>median 51 days</a:t>
            </a:r>
          </a:p>
        </p:txBody>
      </p:sp>
      <p:sp>
        <p:nvSpPr>
          <p:cNvPr id="8" name="Rounded Rectangle 7"/>
          <p:cNvSpPr/>
          <p:nvPr/>
        </p:nvSpPr>
        <p:spPr>
          <a:xfrm>
            <a:off x="676656" y="2788920"/>
            <a:ext cx="6309360" cy="109728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896112" y="3017520"/>
            <a:ext cx="640080" cy="64008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libri"/>
              </a:rPr>
              <a:t>F</a:t>
            </a:r>
          </a:p>
        </p:txBody>
      </p:sp>
      <p:sp>
        <p:nvSpPr>
          <p:cNvPr id="10" name="TextBox 9"/>
          <p:cNvSpPr txBox="1"/>
          <p:nvPr/>
        </p:nvSpPr>
        <p:spPr>
          <a:xfrm>
            <a:off x="1783080" y="2926079"/>
            <a:ext cx="3017520" cy="365760"/>
          </a:xfrm>
          <a:prstGeom prst="rect">
            <a:avLst/>
          </a:prstGeom>
          <a:noFill/>
        </p:spPr>
        <p:txBody>
          <a:bodyPr wrap="square" lIns="0" tIns="0" rIns="0" bIns="0" anchor="t">
            <a:spAutoFit/>
          </a:bodyPr>
          <a:lstStyle/>
          <a:p>
            <a:pPr algn="l"/>
            <a:r>
              <a:rPr sz="1800" b="1" i="0">
                <a:solidFill>
                  <a:srgbClr val="1D1B58"/>
                </a:solidFill>
                <a:latin typeface="Calibri"/>
              </a:rPr>
              <a:t>Frequency</a:t>
            </a:r>
          </a:p>
        </p:txBody>
      </p:sp>
      <p:sp>
        <p:nvSpPr>
          <p:cNvPr id="11" name="TextBox 10"/>
          <p:cNvSpPr txBox="1"/>
          <p:nvPr/>
        </p:nvSpPr>
        <p:spPr>
          <a:xfrm>
            <a:off x="1783080" y="3291839"/>
            <a:ext cx="3291840" cy="548640"/>
          </a:xfrm>
          <a:prstGeom prst="rect">
            <a:avLst/>
          </a:prstGeom>
          <a:noFill/>
        </p:spPr>
        <p:txBody>
          <a:bodyPr wrap="square" lIns="0" tIns="0" rIns="0" bIns="0" anchor="t">
            <a:spAutoFit/>
          </a:bodyPr>
          <a:lstStyle/>
          <a:p>
            <a:pPr algn="l"/>
            <a:r>
              <a:rPr sz="1300" b="0" i="0">
                <a:solidFill>
                  <a:srgbClr val="5B6075"/>
                </a:solidFill>
                <a:latin typeface="Calibri"/>
              </a:rPr>
              <a:t>Number of distinct invoices</a:t>
            </a:r>
          </a:p>
        </p:txBody>
      </p:sp>
      <p:sp>
        <p:nvSpPr>
          <p:cNvPr id="12" name="TextBox 11"/>
          <p:cNvSpPr txBox="1"/>
          <p:nvPr/>
        </p:nvSpPr>
        <p:spPr>
          <a:xfrm>
            <a:off x="4983480" y="3063239"/>
            <a:ext cx="1828800" cy="548640"/>
          </a:xfrm>
          <a:prstGeom prst="rect">
            <a:avLst/>
          </a:prstGeom>
          <a:noFill/>
        </p:spPr>
        <p:txBody>
          <a:bodyPr wrap="square" lIns="0" tIns="0" rIns="0" bIns="0" anchor="ctr">
            <a:spAutoFit/>
          </a:bodyPr>
          <a:lstStyle/>
          <a:p>
            <a:pPr algn="r"/>
            <a:r>
              <a:rPr sz="1500" b="1" i="0">
                <a:solidFill>
                  <a:srgbClr val="1B8FE0"/>
                </a:solidFill>
                <a:latin typeface="Calibri"/>
              </a:rPr>
              <a:t>median 2 orders</a:t>
            </a:r>
          </a:p>
        </p:txBody>
      </p:sp>
      <p:sp>
        <p:nvSpPr>
          <p:cNvPr id="13" name="Rounded Rectangle 12"/>
          <p:cNvSpPr/>
          <p:nvPr/>
        </p:nvSpPr>
        <p:spPr>
          <a:xfrm>
            <a:off x="676656" y="4069079"/>
            <a:ext cx="6309360" cy="109728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96112" y="4297679"/>
            <a:ext cx="640080" cy="64008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Calibri"/>
              </a:rPr>
              <a:t>M</a:t>
            </a:r>
          </a:p>
        </p:txBody>
      </p:sp>
      <p:sp>
        <p:nvSpPr>
          <p:cNvPr id="15" name="TextBox 14"/>
          <p:cNvSpPr txBox="1"/>
          <p:nvPr/>
        </p:nvSpPr>
        <p:spPr>
          <a:xfrm>
            <a:off x="1783080" y="4206240"/>
            <a:ext cx="3017520" cy="365760"/>
          </a:xfrm>
          <a:prstGeom prst="rect">
            <a:avLst/>
          </a:prstGeom>
          <a:noFill/>
        </p:spPr>
        <p:txBody>
          <a:bodyPr wrap="square" lIns="0" tIns="0" rIns="0" bIns="0" anchor="t">
            <a:spAutoFit/>
          </a:bodyPr>
          <a:lstStyle/>
          <a:p>
            <a:pPr algn="l"/>
            <a:r>
              <a:rPr sz="1800" b="1" i="0">
                <a:solidFill>
                  <a:srgbClr val="1D1B58"/>
                </a:solidFill>
                <a:latin typeface="Calibri"/>
              </a:rPr>
              <a:t>Monetary</a:t>
            </a:r>
          </a:p>
        </p:txBody>
      </p:sp>
      <p:sp>
        <p:nvSpPr>
          <p:cNvPr id="16" name="TextBox 15"/>
          <p:cNvSpPr txBox="1"/>
          <p:nvPr/>
        </p:nvSpPr>
        <p:spPr>
          <a:xfrm>
            <a:off x="1783080" y="4571999"/>
            <a:ext cx="3291840" cy="548640"/>
          </a:xfrm>
          <a:prstGeom prst="rect">
            <a:avLst/>
          </a:prstGeom>
          <a:noFill/>
        </p:spPr>
        <p:txBody>
          <a:bodyPr wrap="square" lIns="0" tIns="0" rIns="0" bIns="0" anchor="t">
            <a:spAutoFit/>
          </a:bodyPr>
          <a:lstStyle/>
          <a:p>
            <a:pPr algn="l"/>
            <a:r>
              <a:rPr sz="1300" b="0" i="0">
                <a:solidFill>
                  <a:srgbClr val="5B6075"/>
                </a:solidFill>
                <a:latin typeface="Calibri"/>
              </a:rPr>
              <a:t>Total spend = Σ Quantity × UnitPrice</a:t>
            </a:r>
          </a:p>
        </p:txBody>
      </p:sp>
      <p:sp>
        <p:nvSpPr>
          <p:cNvPr id="17" name="TextBox 16"/>
          <p:cNvSpPr txBox="1"/>
          <p:nvPr/>
        </p:nvSpPr>
        <p:spPr>
          <a:xfrm>
            <a:off x="4983480" y="4343399"/>
            <a:ext cx="1828800" cy="548640"/>
          </a:xfrm>
          <a:prstGeom prst="rect">
            <a:avLst/>
          </a:prstGeom>
          <a:noFill/>
        </p:spPr>
        <p:txBody>
          <a:bodyPr wrap="square" lIns="0" tIns="0" rIns="0" bIns="0" anchor="ctr">
            <a:spAutoFit/>
          </a:bodyPr>
          <a:lstStyle/>
          <a:p>
            <a:pPr algn="r"/>
            <a:r>
              <a:rPr sz="1500" b="1" i="0">
                <a:solidFill>
                  <a:srgbClr val="1B8FE0"/>
                </a:solidFill>
                <a:latin typeface="Calibri"/>
              </a:rPr>
              <a:t>median £614</a:t>
            </a:r>
          </a:p>
        </p:txBody>
      </p:sp>
      <p:sp>
        <p:nvSpPr>
          <p:cNvPr id="18" name="TextBox 17"/>
          <p:cNvSpPr txBox="1"/>
          <p:nvPr/>
        </p:nvSpPr>
        <p:spPr>
          <a:xfrm>
            <a:off x="8732520" y="1600200"/>
            <a:ext cx="2926080" cy="365760"/>
          </a:xfrm>
          <a:prstGeom prst="rect">
            <a:avLst/>
          </a:prstGeom>
          <a:noFill/>
        </p:spPr>
        <p:txBody>
          <a:bodyPr wrap="square" lIns="0" tIns="0" rIns="0" bIns="0" anchor="t">
            <a:spAutoFit/>
          </a:bodyPr>
          <a:lstStyle/>
          <a:p>
            <a:pPr algn="l"/>
            <a:r>
              <a:rPr sz="1100" b="1" i="0">
                <a:solidFill>
                  <a:srgbClr val="B9C2E6"/>
                </a:solidFill>
                <a:latin typeface="Calibri"/>
              </a:rPr>
              <a:t>THEN TRANSFORM</a:t>
            </a:r>
          </a:p>
        </p:txBody>
      </p:sp>
      <p:sp>
        <p:nvSpPr>
          <p:cNvPr id="19" name="TextBox 18"/>
          <p:cNvSpPr txBox="1"/>
          <p:nvPr/>
        </p:nvSpPr>
        <p:spPr>
          <a:xfrm>
            <a:off x="8732520" y="1920240"/>
            <a:ext cx="2926080" cy="914400"/>
          </a:xfrm>
          <a:prstGeom prst="rect">
            <a:avLst/>
          </a:prstGeom>
          <a:noFill/>
        </p:spPr>
        <p:txBody>
          <a:bodyPr wrap="square" lIns="0" tIns="0" rIns="0" bIns="0" anchor="t">
            <a:spAutoFit/>
          </a:bodyPr>
          <a:lstStyle/>
          <a:p>
            <a:pPr algn="l"/>
            <a:r>
              <a:rPr sz="2200" b="1" i="0">
                <a:solidFill>
                  <a:srgbClr val="FFFFFF"/>
                </a:solidFill>
                <a:latin typeface="Calibri"/>
              </a:rPr>
              <a:t>log1p</a:t>
            </a:r>
          </a:p>
          <a:p>
            <a:pPr algn="l"/>
            <a:r>
              <a:rPr sz="2200" b="1" i="0">
                <a:solidFill>
                  <a:srgbClr val="FFFFFF"/>
                </a:solidFill>
                <a:latin typeface="Calibri"/>
              </a:rPr>
              <a:t>→ StandardScaler</a:t>
            </a:r>
          </a:p>
        </p:txBody>
      </p:sp>
      <p:sp>
        <p:nvSpPr>
          <p:cNvPr id="20" name="TextBox 19"/>
          <p:cNvSpPr txBox="1"/>
          <p:nvPr/>
        </p:nvSpPr>
        <p:spPr>
          <a:xfrm>
            <a:off x="8732520" y="2926080"/>
            <a:ext cx="2834640" cy="2103120"/>
          </a:xfrm>
          <a:prstGeom prst="rect">
            <a:avLst/>
          </a:prstGeom>
          <a:noFill/>
        </p:spPr>
        <p:txBody>
          <a:bodyPr wrap="square" lIns="0" tIns="0" rIns="0" bIns="0" anchor="t">
            <a:spAutoFit/>
          </a:bodyPr>
          <a:lstStyle/>
          <a:p>
            <a:pPr algn="l"/>
            <a:r>
              <a:rPr sz="1300" b="0" i="0">
                <a:solidFill>
                  <a:srgbClr val="B9C2E6"/>
                </a:solidFill>
                <a:latin typeface="Calibri"/>
              </a:rPr>
              <a:t>Monetary skewness falls from 20.4 to 0.4; Frequency from 11.8 to 1.2.</a:t>
            </a:r>
          </a:p>
          <a:p>
            <a:pPr algn="l"/>
            <a:endParaRPr sz="1300" b="0" i="0">
              <a:solidFill>
                <a:srgbClr val="B9C2E6"/>
              </a:solidFill>
              <a:latin typeface="Calibri"/>
            </a:endParaRPr>
          </a:p>
          <a:p>
            <a:pPr algn="l"/>
            <a:r>
              <a:rPr sz="1300" b="0" i="0">
                <a:solidFill>
                  <a:srgbClr val="B9C2E6"/>
                </a:solidFill>
                <a:latin typeface="Calibri"/>
              </a:rPr>
              <a:t>Scaling puts R, F and M on equal footing for distance-based clustering.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Choosing k: the silhouette favours two segments</a:t>
            </a:r>
          </a:p>
        </p:txBody>
      </p:sp>
      <p:graphicFrame>
        <p:nvGraphicFramePr>
          <p:cNvPr id="3" name="Chart 2"/>
          <p:cNvGraphicFramePr>
            <a:graphicFrameLocks noGrp="1"/>
          </p:cNvGraphicFramePr>
          <p:nvPr/>
        </p:nvGraphicFramePr>
        <p:xfrm>
          <a:off x="676656" y="1371600"/>
          <a:ext cx="5303520" cy="3566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p:cNvGraphicFramePr>
            <a:graphicFrameLocks noGrp="1"/>
          </p:cNvGraphicFramePr>
          <p:nvPr/>
        </p:nvGraphicFramePr>
        <p:xfrm>
          <a:off x="6217920" y="1371600"/>
          <a:ext cx="530352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5" name="Rounded Rectangle 4"/>
          <p:cNvSpPr/>
          <p:nvPr/>
        </p:nvSpPr>
        <p:spPr>
          <a:xfrm>
            <a:off x="676656" y="4983480"/>
            <a:ext cx="10835640" cy="50292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68680" y="4983480"/>
            <a:ext cx="10515600" cy="502920"/>
          </a:xfrm>
          <a:prstGeom prst="rect">
            <a:avLst/>
          </a:prstGeom>
          <a:noFill/>
        </p:spPr>
        <p:txBody>
          <a:bodyPr wrap="square" lIns="0" tIns="0" rIns="0" bIns="0" anchor="ctr">
            <a:spAutoFit/>
          </a:bodyPr>
          <a:lstStyle/>
          <a:p>
            <a:pPr algn="l"/>
            <a:r>
              <a:rPr sz="1300" b="1" i="0">
                <a:solidFill>
                  <a:srgbClr val="1D1B58"/>
                </a:solidFill>
                <a:latin typeface="Calibri"/>
              </a:rPr>
              <a:t>k = 2 wins clearly: </a:t>
            </a:r>
            <a:r>
              <a:rPr sz="1300" b="0" i="0">
                <a:solidFill>
                  <a:srgbClr val="222433"/>
                </a:solidFill>
                <a:latin typeface="Calibri"/>
              </a:rPr>
              <a:t>silhouette 0.43 vs 0.34 at k = 3. The elbow has no sharp bend, so the silhouette decides. k = 4 is a finer view (FAQ 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Comparing algorithms: K-means separates best</a:t>
            </a:r>
          </a:p>
        </p:txBody>
      </p:sp>
      <p:graphicFrame>
        <p:nvGraphicFramePr>
          <p:cNvPr id="3" name="Chart 2"/>
          <p:cNvGraphicFramePr>
            <a:graphicFrameLocks noGrp="1"/>
          </p:cNvGraphicFramePr>
          <p:nvPr/>
        </p:nvGraphicFramePr>
        <p:xfrm>
          <a:off x="676656" y="1371600"/>
          <a:ext cx="4846320" cy="2377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p:cNvGraphicFramePr>
            <a:graphicFrameLocks noGrp="1"/>
          </p:cNvGraphicFramePr>
          <p:nvPr/>
        </p:nvGraphicFramePr>
        <p:xfrm>
          <a:off x="676656" y="3749039"/>
          <a:ext cx="4846320" cy="17830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Table 4"/>
          <p:cNvGraphicFramePr>
            <a:graphicFrameLocks noGrp="1"/>
          </p:cNvGraphicFramePr>
          <p:nvPr/>
        </p:nvGraphicFramePr>
        <p:xfrm>
          <a:off x="5852160" y="1463040"/>
          <a:ext cx="5660136" cy="301752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307592">
                  <a:extLst>
                    <a:ext uri="{9D8B030D-6E8A-4147-A177-3AD203B41FA5}">
                      <a16:colId xmlns:a16="http://schemas.microsoft.com/office/drawing/2014/main" val="20001"/>
                    </a:ext>
                  </a:extLst>
                </a:gridCol>
                <a:gridCol w="1307592">
                  <a:extLst>
                    <a:ext uri="{9D8B030D-6E8A-4147-A177-3AD203B41FA5}">
                      <a16:colId xmlns:a16="http://schemas.microsoft.com/office/drawing/2014/main" val="20002"/>
                    </a:ext>
                  </a:extLst>
                </a:gridCol>
                <a:gridCol w="1307592">
                  <a:extLst>
                    <a:ext uri="{9D8B030D-6E8A-4147-A177-3AD203B41FA5}">
                      <a16:colId xmlns:a16="http://schemas.microsoft.com/office/drawing/2014/main" val="20003"/>
                    </a:ext>
                  </a:extLst>
                </a:gridCol>
              </a:tblGrid>
              <a:tr h="502920">
                <a:tc>
                  <a:txBody>
                    <a:bodyPr/>
                    <a:lstStyle/>
                    <a:p>
                      <a:r>
                        <a:rPr sz="1200" b="1">
                          <a:solidFill>
                            <a:srgbClr val="FFFFFF"/>
                          </a:solidFill>
                          <a:latin typeface="Calibri"/>
                        </a:rPr>
                        <a:t> </a:t>
                      </a:r>
                    </a:p>
                  </a:txBody>
                  <a:tcPr marL="73152" marR="73152" anchor="ctr">
                    <a:solidFill>
                      <a:srgbClr val="1D1B58"/>
                    </a:solidFill>
                  </a:tcPr>
                </a:tc>
                <a:tc>
                  <a:txBody>
                    <a:bodyPr/>
                    <a:lstStyle/>
                    <a:p>
                      <a:r>
                        <a:rPr sz="1200" b="1">
                          <a:solidFill>
                            <a:srgbClr val="FFFFFF"/>
                          </a:solidFill>
                          <a:latin typeface="Calibri"/>
                        </a:rPr>
                        <a:t>K-means</a:t>
                      </a:r>
                    </a:p>
                  </a:txBody>
                  <a:tcPr marL="73152" marR="73152" anchor="ctr">
                    <a:solidFill>
                      <a:srgbClr val="1D1B58"/>
                    </a:solidFill>
                  </a:tcPr>
                </a:tc>
                <a:tc>
                  <a:txBody>
                    <a:bodyPr/>
                    <a:lstStyle/>
                    <a:p>
                      <a:r>
                        <a:rPr sz="1200" b="1">
                          <a:solidFill>
                            <a:srgbClr val="FFFFFF"/>
                          </a:solidFill>
                          <a:latin typeface="Calibri"/>
                        </a:rPr>
                        <a:t>Hierarchical</a:t>
                      </a:r>
                    </a:p>
                  </a:txBody>
                  <a:tcPr marL="73152" marR="73152" anchor="ctr">
                    <a:solidFill>
                      <a:srgbClr val="1D1B58"/>
                    </a:solidFill>
                  </a:tcPr>
                </a:tc>
                <a:tc>
                  <a:txBody>
                    <a:bodyPr/>
                    <a:lstStyle/>
                    <a:p>
                      <a:r>
                        <a:rPr sz="1200" b="1">
                          <a:solidFill>
                            <a:srgbClr val="FFFFFF"/>
                          </a:solidFill>
                          <a:latin typeface="Calibri"/>
                        </a:rPr>
                        <a:t>DBSCAN</a:t>
                      </a:r>
                    </a:p>
                  </a:txBody>
                  <a:tcPr marL="73152" marR="73152" anchor="ctr">
                    <a:solidFill>
                      <a:srgbClr val="1D1B58"/>
                    </a:solidFill>
                  </a:tcPr>
                </a:tc>
                <a:extLst>
                  <a:ext uri="{0D108BD9-81ED-4DB2-BD59-A6C34878D82A}">
                    <a16:rowId xmlns:a16="http://schemas.microsoft.com/office/drawing/2014/main" val="10000"/>
                  </a:ext>
                </a:extLst>
              </a:tr>
              <a:tr h="502920">
                <a:tc>
                  <a:txBody>
                    <a:bodyPr/>
                    <a:lstStyle/>
                    <a:p>
                      <a:r>
                        <a:rPr sz="1200" b="1">
                          <a:solidFill>
                            <a:srgbClr val="222433"/>
                          </a:solidFill>
                          <a:latin typeface="Calibri"/>
                        </a:rPr>
                        <a:t>How it groups</a:t>
                      </a:r>
                    </a:p>
                  </a:txBody>
                  <a:tcPr marL="73152" marR="73152" anchor="ctr">
                    <a:solidFill>
                      <a:srgbClr val="ECF1F9"/>
                    </a:solidFill>
                  </a:tcPr>
                </a:tc>
                <a:tc>
                  <a:txBody>
                    <a:bodyPr/>
                    <a:lstStyle/>
                    <a:p>
                      <a:r>
                        <a:rPr sz="1200" b="1">
                          <a:solidFill>
                            <a:srgbClr val="1D1B58"/>
                          </a:solidFill>
                          <a:latin typeface="Calibri"/>
                        </a:rPr>
                        <a:t>Nearest centroid</a:t>
                      </a:r>
                    </a:p>
                  </a:txBody>
                  <a:tcPr marL="73152" marR="73152" anchor="ctr">
                    <a:solidFill>
                      <a:srgbClr val="ECF1F9"/>
                    </a:solidFill>
                  </a:tcPr>
                </a:tc>
                <a:tc>
                  <a:txBody>
                    <a:bodyPr/>
                    <a:lstStyle/>
                    <a:p>
                      <a:r>
                        <a:rPr sz="1200" b="0">
                          <a:solidFill>
                            <a:srgbClr val="222433"/>
                          </a:solidFill>
                          <a:latin typeface="Calibri"/>
                        </a:rPr>
                        <a:t>Merge closest (Ward)</a:t>
                      </a:r>
                    </a:p>
                  </a:txBody>
                  <a:tcPr marL="73152" marR="73152" anchor="ctr">
                    <a:solidFill>
                      <a:srgbClr val="ECF1F9"/>
                    </a:solidFill>
                  </a:tcPr>
                </a:tc>
                <a:tc>
                  <a:txBody>
                    <a:bodyPr/>
                    <a:lstStyle/>
                    <a:p>
                      <a:r>
                        <a:rPr sz="1200" b="0">
                          <a:solidFill>
                            <a:srgbClr val="222433"/>
                          </a:solidFill>
                          <a:latin typeface="Calibri"/>
                        </a:rPr>
                        <a:t>Dense regions</a:t>
                      </a:r>
                    </a:p>
                  </a:txBody>
                  <a:tcPr marL="73152" marR="73152" anchor="ctr">
                    <a:solidFill>
                      <a:srgbClr val="ECF1F9"/>
                    </a:solidFill>
                  </a:tcPr>
                </a:tc>
                <a:extLst>
                  <a:ext uri="{0D108BD9-81ED-4DB2-BD59-A6C34878D82A}">
                    <a16:rowId xmlns:a16="http://schemas.microsoft.com/office/drawing/2014/main" val="10001"/>
                  </a:ext>
                </a:extLst>
              </a:tr>
              <a:tr h="502920">
                <a:tc>
                  <a:txBody>
                    <a:bodyPr/>
                    <a:lstStyle/>
                    <a:p>
                      <a:r>
                        <a:rPr sz="1200" b="1">
                          <a:solidFill>
                            <a:srgbClr val="222433"/>
                          </a:solidFill>
                          <a:latin typeface="Calibri"/>
                        </a:rPr>
                        <a:t>Clusters found</a:t>
                      </a:r>
                    </a:p>
                  </a:txBody>
                  <a:tcPr marL="73152" marR="73152" anchor="ctr">
                    <a:solidFill>
                      <a:srgbClr val="FFFFFF"/>
                    </a:solidFill>
                  </a:tcPr>
                </a:tc>
                <a:tc>
                  <a:txBody>
                    <a:bodyPr/>
                    <a:lstStyle/>
                    <a:p>
                      <a:r>
                        <a:rPr sz="1200" b="1">
                          <a:solidFill>
                            <a:srgbClr val="1D1B58"/>
                          </a:solidFill>
                          <a:latin typeface="Calibri"/>
                        </a:rPr>
                        <a:t>2</a:t>
                      </a:r>
                    </a:p>
                  </a:txBody>
                  <a:tcPr marL="73152" marR="73152" anchor="ctr">
                    <a:solidFill>
                      <a:srgbClr val="FFFFFF"/>
                    </a:solidFill>
                  </a:tcPr>
                </a:tc>
                <a:tc>
                  <a:txBody>
                    <a:bodyPr/>
                    <a:lstStyle/>
                    <a:p>
                      <a:r>
                        <a:rPr sz="1200" b="0">
                          <a:solidFill>
                            <a:srgbClr val="222433"/>
                          </a:solidFill>
                          <a:latin typeface="Calibri"/>
                        </a:rPr>
                        <a:t>2</a:t>
                      </a:r>
                    </a:p>
                  </a:txBody>
                  <a:tcPr marL="73152" marR="73152" anchor="ctr">
                    <a:solidFill>
                      <a:srgbClr val="FFFFFF"/>
                    </a:solidFill>
                  </a:tcPr>
                </a:tc>
                <a:tc>
                  <a:txBody>
                    <a:bodyPr/>
                    <a:lstStyle/>
                    <a:p>
                      <a:r>
                        <a:rPr sz="1200" b="0">
                          <a:solidFill>
                            <a:srgbClr val="222433"/>
                          </a:solidFill>
                          <a:latin typeface="Calibri"/>
                        </a:rPr>
                        <a:t>2 + 52 noise</a:t>
                      </a:r>
                    </a:p>
                  </a:txBody>
                  <a:tcPr marL="73152" marR="73152" anchor="ctr">
                    <a:solidFill>
                      <a:srgbClr val="FFFFFF"/>
                    </a:solidFill>
                  </a:tcPr>
                </a:tc>
                <a:extLst>
                  <a:ext uri="{0D108BD9-81ED-4DB2-BD59-A6C34878D82A}">
                    <a16:rowId xmlns:a16="http://schemas.microsoft.com/office/drawing/2014/main" val="10002"/>
                  </a:ext>
                </a:extLst>
              </a:tr>
              <a:tr h="502920">
                <a:tc>
                  <a:txBody>
                    <a:bodyPr/>
                    <a:lstStyle/>
                    <a:p>
                      <a:r>
                        <a:rPr sz="1200" b="1">
                          <a:solidFill>
                            <a:srgbClr val="222433"/>
                          </a:solidFill>
                          <a:latin typeface="Calibri"/>
                        </a:rPr>
                        <a:t>Largest cluster</a:t>
                      </a:r>
                    </a:p>
                  </a:txBody>
                  <a:tcPr marL="73152" marR="73152" anchor="ctr">
                    <a:solidFill>
                      <a:srgbClr val="ECF1F9"/>
                    </a:solidFill>
                  </a:tcPr>
                </a:tc>
                <a:tc>
                  <a:txBody>
                    <a:bodyPr/>
                    <a:lstStyle/>
                    <a:p>
                      <a:r>
                        <a:rPr sz="1200" b="1">
                          <a:solidFill>
                            <a:srgbClr val="1D1B58"/>
                          </a:solidFill>
                          <a:latin typeface="Calibri"/>
                        </a:rPr>
                        <a:t>61%</a:t>
                      </a:r>
                    </a:p>
                  </a:txBody>
                  <a:tcPr marL="73152" marR="73152" anchor="ctr">
                    <a:solidFill>
                      <a:srgbClr val="ECF1F9"/>
                    </a:solidFill>
                  </a:tcPr>
                </a:tc>
                <a:tc>
                  <a:txBody>
                    <a:bodyPr/>
                    <a:lstStyle/>
                    <a:p>
                      <a:r>
                        <a:rPr sz="1200" b="0">
                          <a:solidFill>
                            <a:srgbClr val="222433"/>
                          </a:solidFill>
                          <a:latin typeface="Calibri"/>
                        </a:rPr>
                        <a:t>53%</a:t>
                      </a:r>
                    </a:p>
                  </a:txBody>
                  <a:tcPr marL="73152" marR="73152" anchor="ctr">
                    <a:solidFill>
                      <a:srgbClr val="ECF1F9"/>
                    </a:solidFill>
                  </a:tcPr>
                </a:tc>
                <a:tc>
                  <a:txBody>
                    <a:bodyPr/>
                    <a:lstStyle/>
                    <a:p>
                      <a:r>
                        <a:rPr sz="1200" b="0">
                          <a:solidFill>
                            <a:srgbClr val="222433"/>
                          </a:solidFill>
                          <a:latin typeface="Calibri"/>
                        </a:rPr>
                        <a:t>64%</a:t>
                      </a:r>
                    </a:p>
                  </a:txBody>
                  <a:tcPr marL="73152" marR="73152" anchor="ctr">
                    <a:solidFill>
                      <a:srgbClr val="ECF1F9"/>
                    </a:solidFill>
                  </a:tcPr>
                </a:tc>
                <a:extLst>
                  <a:ext uri="{0D108BD9-81ED-4DB2-BD59-A6C34878D82A}">
                    <a16:rowId xmlns:a16="http://schemas.microsoft.com/office/drawing/2014/main" val="10003"/>
                  </a:ext>
                </a:extLst>
              </a:tr>
              <a:tr h="502920">
                <a:tc>
                  <a:txBody>
                    <a:bodyPr/>
                    <a:lstStyle/>
                    <a:p>
                      <a:r>
                        <a:rPr sz="1200" b="1">
                          <a:solidFill>
                            <a:srgbClr val="222433"/>
                          </a:solidFill>
                          <a:latin typeface="Calibri"/>
                        </a:rPr>
                        <a:t>Scores new customers?</a:t>
                      </a:r>
                    </a:p>
                  </a:txBody>
                  <a:tcPr marL="73152" marR="73152" anchor="ctr">
                    <a:solidFill>
                      <a:srgbClr val="FFFFFF"/>
                    </a:solidFill>
                  </a:tcPr>
                </a:tc>
                <a:tc>
                  <a:txBody>
                    <a:bodyPr/>
                    <a:lstStyle/>
                    <a:p>
                      <a:r>
                        <a:rPr sz="1200" b="1">
                          <a:solidFill>
                            <a:srgbClr val="1D1B58"/>
                          </a:solidFill>
                          <a:latin typeface="Calibri"/>
                        </a:rPr>
                        <a:t>Yes (predict)</a:t>
                      </a:r>
                    </a:p>
                  </a:txBody>
                  <a:tcPr marL="73152" marR="73152" anchor="ctr">
                    <a:solidFill>
                      <a:srgbClr val="FFFFFF"/>
                    </a:solidFill>
                  </a:tcPr>
                </a:tc>
                <a:tc>
                  <a:txBody>
                    <a:bodyPr/>
                    <a:lstStyle/>
                    <a:p>
                      <a:r>
                        <a:rPr sz="1200" b="0">
                          <a:solidFill>
                            <a:srgbClr val="222433"/>
                          </a:solidFill>
                          <a:latin typeface="Calibri"/>
                        </a:rPr>
                        <a:t>No (refit)</a:t>
                      </a:r>
                    </a:p>
                  </a:txBody>
                  <a:tcPr marL="73152" marR="73152" anchor="ctr">
                    <a:solidFill>
                      <a:srgbClr val="FFFFFF"/>
                    </a:solidFill>
                  </a:tcPr>
                </a:tc>
                <a:tc>
                  <a:txBody>
                    <a:bodyPr/>
                    <a:lstStyle/>
                    <a:p>
                      <a:r>
                        <a:rPr sz="1200" b="0">
                          <a:solidFill>
                            <a:srgbClr val="222433"/>
                          </a:solidFill>
                          <a:latin typeface="Calibri"/>
                        </a:rPr>
                        <a:t>No (refit)</a:t>
                      </a:r>
                    </a:p>
                  </a:txBody>
                  <a:tcPr marL="73152" marR="73152" anchor="ctr">
                    <a:solidFill>
                      <a:srgbClr val="FFFFFF"/>
                    </a:solidFill>
                  </a:tcPr>
                </a:tc>
                <a:extLst>
                  <a:ext uri="{0D108BD9-81ED-4DB2-BD59-A6C34878D82A}">
                    <a16:rowId xmlns:a16="http://schemas.microsoft.com/office/drawing/2014/main" val="10004"/>
                  </a:ext>
                </a:extLst>
              </a:tr>
              <a:tr h="502920">
                <a:tc>
                  <a:txBody>
                    <a:bodyPr/>
                    <a:lstStyle/>
                    <a:p>
                      <a:r>
                        <a:rPr sz="1200" b="1">
                          <a:solidFill>
                            <a:srgbClr val="222433"/>
                          </a:solidFill>
                          <a:latin typeface="Calibri"/>
                        </a:rPr>
                        <a:t>Silhouette at k = 4</a:t>
                      </a:r>
                    </a:p>
                  </a:txBody>
                  <a:tcPr marL="73152" marR="73152" anchor="ctr">
                    <a:solidFill>
                      <a:srgbClr val="ECF1F9"/>
                    </a:solidFill>
                  </a:tcPr>
                </a:tc>
                <a:tc>
                  <a:txBody>
                    <a:bodyPr/>
                    <a:lstStyle/>
                    <a:p>
                      <a:r>
                        <a:rPr sz="1200" b="1">
                          <a:solidFill>
                            <a:srgbClr val="1D1B58"/>
                          </a:solidFill>
                          <a:latin typeface="Calibri"/>
                        </a:rPr>
                        <a:t>0.33</a:t>
                      </a:r>
                    </a:p>
                  </a:txBody>
                  <a:tcPr marL="73152" marR="73152" anchor="ctr">
                    <a:solidFill>
                      <a:srgbClr val="ECF1F9"/>
                    </a:solidFill>
                  </a:tcPr>
                </a:tc>
                <a:tc>
                  <a:txBody>
                    <a:bodyPr/>
                    <a:lstStyle/>
                    <a:p>
                      <a:r>
                        <a:rPr sz="1200" b="0">
                          <a:solidFill>
                            <a:srgbClr val="222433"/>
                          </a:solidFill>
                          <a:latin typeface="Calibri"/>
                        </a:rPr>
                        <a:t>0.25</a:t>
                      </a:r>
                    </a:p>
                  </a:txBody>
                  <a:tcPr marL="73152" marR="73152" anchor="ctr">
                    <a:solidFill>
                      <a:srgbClr val="ECF1F9"/>
                    </a:solidFill>
                  </a:tcPr>
                </a:tc>
                <a:tc>
                  <a:txBody>
                    <a:bodyPr/>
                    <a:lstStyle/>
                    <a:p>
                      <a:r>
                        <a:rPr sz="1200" b="0">
                          <a:solidFill>
                            <a:srgbClr val="222433"/>
                          </a:solidFill>
                          <a:latin typeface="Calibri"/>
                        </a:rPr>
                        <a:t>n/a (no k)</a:t>
                      </a:r>
                    </a:p>
                  </a:txBody>
                  <a:tcPr marL="73152" marR="73152" anchor="ctr">
                    <a:solidFill>
                      <a:srgbClr val="ECF1F9"/>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852160" y="4663440"/>
            <a:ext cx="5669280" cy="822960"/>
          </a:xfrm>
          <a:prstGeom prst="rect">
            <a:avLst/>
          </a:prstGeom>
          <a:noFill/>
        </p:spPr>
        <p:txBody>
          <a:bodyPr wrap="square" lIns="0" tIns="0" rIns="0" bIns="0" anchor="t">
            <a:spAutoFit/>
          </a:bodyPr>
          <a:lstStyle/>
          <a:p>
            <a:pPr algn="l"/>
            <a:r>
              <a:rPr sz="1300" b="0" i="0">
                <a:solidFill>
                  <a:srgbClr val="5B6075"/>
                </a:solidFill>
                <a:latin typeface="Calibri"/>
              </a:rPr>
              <a:t>K-means wins on both metrics at k = 2 and k = 4. It is also the only one of the three that can assign a new customer without refitting.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Two segments, very unequal value</a:t>
            </a:r>
          </a:p>
        </p:txBody>
      </p:sp>
      <p:sp>
        <p:nvSpPr>
          <p:cNvPr id="3" name="Rounded Rectangle 2"/>
          <p:cNvSpPr/>
          <p:nvPr/>
        </p:nvSpPr>
        <p:spPr>
          <a:xfrm>
            <a:off x="676656" y="1463040"/>
            <a:ext cx="4663440" cy="18288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896112" y="1700784"/>
            <a:ext cx="237744" cy="237744"/>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261872" y="1627632"/>
            <a:ext cx="3931920" cy="365760"/>
          </a:xfrm>
          <a:prstGeom prst="rect">
            <a:avLst/>
          </a:prstGeom>
          <a:noFill/>
        </p:spPr>
        <p:txBody>
          <a:bodyPr wrap="square" lIns="0" tIns="0" rIns="0" bIns="0" anchor="t">
            <a:spAutoFit/>
          </a:bodyPr>
          <a:lstStyle/>
          <a:p>
            <a:pPr algn="l"/>
            <a:r>
              <a:rPr sz="1800" b="1" i="0">
                <a:solidFill>
                  <a:srgbClr val="1D1B58"/>
                </a:solidFill>
                <a:latin typeface="Calibri"/>
              </a:rPr>
              <a:t>High-Value Active</a:t>
            </a:r>
          </a:p>
        </p:txBody>
      </p:sp>
      <p:sp>
        <p:nvSpPr>
          <p:cNvPr id="6" name="TextBox 5"/>
          <p:cNvSpPr txBox="1"/>
          <p:nvPr/>
        </p:nvSpPr>
        <p:spPr>
          <a:xfrm>
            <a:off x="1261872" y="1993392"/>
            <a:ext cx="3931920" cy="274320"/>
          </a:xfrm>
          <a:prstGeom prst="rect">
            <a:avLst/>
          </a:prstGeom>
          <a:noFill/>
        </p:spPr>
        <p:txBody>
          <a:bodyPr wrap="square" lIns="0" tIns="0" rIns="0" bIns="0" anchor="t">
            <a:spAutoFit/>
          </a:bodyPr>
          <a:lstStyle/>
          <a:p>
            <a:pPr algn="l"/>
            <a:r>
              <a:rPr sz="1200" b="0" i="0">
                <a:solidFill>
                  <a:srgbClr val="5B6075"/>
                </a:solidFill>
                <a:latin typeface="Calibri"/>
              </a:rPr>
              <a:t>1,665 customers · 39%</a:t>
            </a:r>
          </a:p>
        </p:txBody>
      </p:sp>
      <p:sp>
        <p:nvSpPr>
          <p:cNvPr id="7" name="TextBox 6"/>
          <p:cNvSpPr txBox="1"/>
          <p:nvPr/>
        </p:nvSpPr>
        <p:spPr>
          <a:xfrm>
            <a:off x="896112" y="2377440"/>
            <a:ext cx="1417320" cy="411480"/>
          </a:xfrm>
          <a:prstGeom prst="rect">
            <a:avLst/>
          </a:prstGeom>
          <a:noFill/>
        </p:spPr>
        <p:txBody>
          <a:bodyPr wrap="square" lIns="0" tIns="0" rIns="0" bIns="0" anchor="t">
            <a:spAutoFit/>
          </a:bodyPr>
          <a:lstStyle/>
          <a:p>
            <a:pPr algn="l"/>
            <a:r>
              <a:rPr sz="2200" b="1" i="0">
                <a:solidFill>
                  <a:srgbClr val="1D1B58"/>
                </a:solidFill>
                <a:latin typeface="Calibri"/>
              </a:rPr>
              <a:t>26 d</a:t>
            </a:r>
          </a:p>
        </p:txBody>
      </p:sp>
      <p:sp>
        <p:nvSpPr>
          <p:cNvPr id="8" name="TextBox 7"/>
          <p:cNvSpPr txBox="1"/>
          <p:nvPr/>
        </p:nvSpPr>
        <p:spPr>
          <a:xfrm>
            <a:off x="896112" y="2807208"/>
            <a:ext cx="1417320" cy="274320"/>
          </a:xfrm>
          <a:prstGeom prst="rect">
            <a:avLst/>
          </a:prstGeom>
          <a:noFill/>
        </p:spPr>
        <p:txBody>
          <a:bodyPr wrap="square" lIns="0" tIns="0" rIns="0" bIns="0" anchor="t">
            <a:spAutoFit/>
          </a:bodyPr>
          <a:lstStyle/>
          <a:p>
            <a:pPr algn="l"/>
            <a:r>
              <a:rPr sz="1100" b="0" i="0">
                <a:solidFill>
                  <a:srgbClr val="5B6075"/>
                </a:solidFill>
                <a:latin typeface="Calibri"/>
              </a:rPr>
              <a:t>last purchase</a:t>
            </a:r>
          </a:p>
        </p:txBody>
      </p:sp>
      <p:sp>
        <p:nvSpPr>
          <p:cNvPr id="9" name="TextBox 8"/>
          <p:cNvSpPr txBox="1"/>
          <p:nvPr/>
        </p:nvSpPr>
        <p:spPr>
          <a:xfrm>
            <a:off x="2359152" y="2377440"/>
            <a:ext cx="1417320" cy="411480"/>
          </a:xfrm>
          <a:prstGeom prst="rect">
            <a:avLst/>
          </a:prstGeom>
          <a:noFill/>
        </p:spPr>
        <p:txBody>
          <a:bodyPr wrap="square" lIns="0" tIns="0" rIns="0" bIns="0" anchor="t">
            <a:spAutoFit/>
          </a:bodyPr>
          <a:lstStyle/>
          <a:p>
            <a:pPr algn="l"/>
            <a:r>
              <a:rPr sz="2200" b="1" i="0">
                <a:solidFill>
                  <a:srgbClr val="1D1B58"/>
                </a:solidFill>
                <a:latin typeface="Calibri"/>
              </a:rPr>
              <a:t>8.3</a:t>
            </a:r>
          </a:p>
        </p:txBody>
      </p:sp>
      <p:sp>
        <p:nvSpPr>
          <p:cNvPr id="10" name="TextBox 9"/>
          <p:cNvSpPr txBox="1"/>
          <p:nvPr/>
        </p:nvSpPr>
        <p:spPr>
          <a:xfrm>
            <a:off x="2359152" y="2807208"/>
            <a:ext cx="1417320" cy="274320"/>
          </a:xfrm>
          <a:prstGeom prst="rect">
            <a:avLst/>
          </a:prstGeom>
          <a:noFill/>
        </p:spPr>
        <p:txBody>
          <a:bodyPr wrap="square" lIns="0" tIns="0" rIns="0" bIns="0" anchor="t">
            <a:spAutoFit/>
          </a:bodyPr>
          <a:lstStyle/>
          <a:p>
            <a:pPr algn="l"/>
            <a:r>
              <a:rPr sz="1100" b="0" i="0">
                <a:solidFill>
                  <a:srgbClr val="5B6075"/>
                </a:solidFill>
                <a:latin typeface="Calibri"/>
              </a:rPr>
              <a:t>orders</a:t>
            </a:r>
          </a:p>
        </p:txBody>
      </p:sp>
      <p:sp>
        <p:nvSpPr>
          <p:cNvPr id="11" name="TextBox 10"/>
          <p:cNvSpPr txBox="1"/>
          <p:nvPr/>
        </p:nvSpPr>
        <p:spPr>
          <a:xfrm>
            <a:off x="3822191" y="2377440"/>
            <a:ext cx="1417320" cy="411480"/>
          </a:xfrm>
          <a:prstGeom prst="rect">
            <a:avLst/>
          </a:prstGeom>
          <a:noFill/>
        </p:spPr>
        <p:txBody>
          <a:bodyPr wrap="square" lIns="0" tIns="0" rIns="0" bIns="0" anchor="t">
            <a:spAutoFit/>
          </a:bodyPr>
          <a:lstStyle/>
          <a:p>
            <a:pPr algn="l"/>
            <a:r>
              <a:rPr sz="2200" b="1" i="0">
                <a:solidFill>
                  <a:srgbClr val="1D1B58"/>
                </a:solidFill>
                <a:latin typeface="Calibri"/>
              </a:rPr>
              <a:t>£4,083</a:t>
            </a:r>
          </a:p>
        </p:txBody>
      </p:sp>
      <p:sp>
        <p:nvSpPr>
          <p:cNvPr id="12" name="TextBox 11"/>
          <p:cNvSpPr txBox="1"/>
          <p:nvPr/>
        </p:nvSpPr>
        <p:spPr>
          <a:xfrm>
            <a:off x="3822191" y="2807208"/>
            <a:ext cx="1417320" cy="274320"/>
          </a:xfrm>
          <a:prstGeom prst="rect">
            <a:avLst/>
          </a:prstGeom>
          <a:noFill/>
        </p:spPr>
        <p:txBody>
          <a:bodyPr wrap="square" lIns="0" tIns="0" rIns="0" bIns="0" anchor="t">
            <a:spAutoFit/>
          </a:bodyPr>
          <a:lstStyle/>
          <a:p>
            <a:pPr algn="l"/>
            <a:r>
              <a:rPr sz="1100" b="0" i="0">
                <a:solidFill>
                  <a:srgbClr val="5B6075"/>
                </a:solidFill>
                <a:latin typeface="Calibri"/>
              </a:rPr>
              <a:t>avg. spend</a:t>
            </a:r>
          </a:p>
        </p:txBody>
      </p:sp>
      <p:sp>
        <p:nvSpPr>
          <p:cNvPr id="13" name="Rounded Rectangle 12"/>
          <p:cNvSpPr/>
          <p:nvPr/>
        </p:nvSpPr>
        <p:spPr>
          <a:xfrm>
            <a:off x="676656" y="3474720"/>
            <a:ext cx="4663440" cy="18288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96112" y="3712464"/>
            <a:ext cx="237744" cy="237744"/>
          </a:xfrm>
          <a:prstGeom prst="ellipse">
            <a:avLst/>
          </a:prstGeom>
          <a:solidFill>
            <a:srgbClr val="A9B1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261872" y="3639312"/>
            <a:ext cx="3931920" cy="365760"/>
          </a:xfrm>
          <a:prstGeom prst="rect">
            <a:avLst/>
          </a:prstGeom>
          <a:noFill/>
        </p:spPr>
        <p:txBody>
          <a:bodyPr wrap="square" lIns="0" tIns="0" rIns="0" bIns="0" anchor="t">
            <a:spAutoFit/>
          </a:bodyPr>
          <a:lstStyle/>
          <a:p>
            <a:pPr algn="l"/>
            <a:r>
              <a:rPr sz="1800" b="1" i="0">
                <a:solidFill>
                  <a:srgbClr val="1D1B58"/>
                </a:solidFill>
                <a:latin typeface="Calibri"/>
              </a:rPr>
              <a:t>Low-Value Lapsing</a:t>
            </a:r>
          </a:p>
        </p:txBody>
      </p:sp>
      <p:sp>
        <p:nvSpPr>
          <p:cNvPr id="16" name="TextBox 15"/>
          <p:cNvSpPr txBox="1"/>
          <p:nvPr/>
        </p:nvSpPr>
        <p:spPr>
          <a:xfrm>
            <a:off x="1261872" y="4005072"/>
            <a:ext cx="3931920" cy="274320"/>
          </a:xfrm>
          <a:prstGeom prst="rect">
            <a:avLst/>
          </a:prstGeom>
          <a:noFill/>
        </p:spPr>
        <p:txBody>
          <a:bodyPr wrap="square" lIns="0" tIns="0" rIns="0" bIns="0" anchor="t">
            <a:spAutoFit/>
          </a:bodyPr>
          <a:lstStyle/>
          <a:p>
            <a:pPr algn="l"/>
            <a:r>
              <a:rPr sz="1200" b="0" i="0">
                <a:solidFill>
                  <a:srgbClr val="5B6075"/>
                </a:solidFill>
                <a:latin typeface="Calibri"/>
              </a:rPr>
              <a:t>2,649 customers · 61%</a:t>
            </a:r>
          </a:p>
        </p:txBody>
      </p:sp>
      <p:sp>
        <p:nvSpPr>
          <p:cNvPr id="17" name="TextBox 16"/>
          <p:cNvSpPr txBox="1"/>
          <p:nvPr/>
        </p:nvSpPr>
        <p:spPr>
          <a:xfrm>
            <a:off x="896112" y="4389120"/>
            <a:ext cx="1417320" cy="411480"/>
          </a:xfrm>
          <a:prstGeom prst="rect">
            <a:avLst/>
          </a:prstGeom>
          <a:noFill/>
        </p:spPr>
        <p:txBody>
          <a:bodyPr wrap="square" lIns="0" tIns="0" rIns="0" bIns="0" anchor="t">
            <a:spAutoFit/>
          </a:bodyPr>
          <a:lstStyle/>
          <a:p>
            <a:pPr algn="l"/>
            <a:r>
              <a:rPr sz="2200" b="1" i="0">
                <a:solidFill>
                  <a:srgbClr val="1D1B58"/>
                </a:solidFill>
                <a:latin typeface="Calibri"/>
              </a:rPr>
              <a:t>135 d</a:t>
            </a:r>
          </a:p>
        </p:txBody>
      </p:sp>
      <p:sp>
        <p:nvSpPr>
          <p:cNvPr id="18" name="TextBox 17"/>
          <p:cNvSpPr txBox="1"/>
          <p:nvPr/>
        </p:nvSpPr>
        <p:spPr>
          <a:xfrm>
            <a:off x="896112" y="4818888"/>
            <a:ext cx="1417320" cy="274320"/>
          </a:xfrm>
          <a:prstGeom prst="rect">
            <a:avLst/>
          </a:prstGeom>
          <a:noFill/>
        </p:spPr>
        <p:txBody>
          <a:bodyPr wrap="square" lIns="0" tIns="0" rIns="0" bIns="0" anchor="t">
            <a:spAutoFit/>
          </a:bodyPr>
          <a:lstStyle/>
          <a:p>
            <a:pPr algn="l"/>
            <a:r>
              <a:rPr sz="1100" b="0" i="0">
                <a:solidFill>
                  <a:srgbClr val="5B6075"/>
                </a:solidFill>
                <a:latin typeface="Calibri"/>
              </a:rPr>
              <a:t>last purchase</a:t>
            </a:r>
          </a:p>
        </p:txBody>
      </p:sp>
      <p:sp>
        <p:nvSpPr>
          <p:cNvPr id="19" name="TextBox 18"/>
          <p:cNvSpPr txBox="1"/>
          <p:nvPr/>
        </p:nvSpPr>
        <p:spPr>
          <a:xfrm>
            <a:off x="2359152" y="4389120"/>
            <a:ext cx="1417320" cy="411480"/>
          </a:xfrm>
          <a:prstGeom prst="rect">
            <a:avLst/>
          </a:prstGeom>
          <a:noFill/>
        </p:spPr>
        <p:txBody>
          <a:bodyPr wrap="square" lIns="0" tIns="0" rIns="0" bIns="0" anchor="t">
            <a:spAutoFit/>
          </a:bodyPr>
          <a:lstStyle/>
          <a:p>
            <a:pPr algn="l"/>
            <a:r>
              <a:rPr sz="2200" b="1" i="0">
                <a:solidFill>
                  <a:srgbClr val="1D1B58"/>
                </a:solidFill>
                <a:latin typeface="Calibri"/>
              </a:rPr>
              <a:t>1.7</a:t>
            </a:r>
          </a:p>
        </p:txBody>
      </p:sp>
      <p:sp>
        <p:nvSpPr>
          <p:cNvPr id="20" name="TextBox 19"/>
          <p:cNvSpPr txBox="1"/>
          <p:nvPr/>
        </p:nvSpPr>
        <p:spPr>
          <a:xfrm>
            <a:off x="2359152" y="4818888"/>
            <a:ext cx="1417320" cy="274320"/>
          </a:xfrm>
          <a:prstGeom prst="rect">
            <a:avLst/>
          </a:prstGeom>
          <a:noFill/>
        </p:spPr>
        <p:txBody>
          <a:bodyPr wrap="square" lIns="0" tIns="0" rIns="0" bIns="0" anchor="t">
            <a:spAutoFit/>
          </a:bodyPr>
          <a:lstStyle/>
          <a:p>
            <a:pPr algn="l"/>
            <a:r>
              <a:rPr sz="1100" b="0" i="0">
                <a:solidFill>
                  <a:srgbClr val="5B6075"/>
                </a:solidFill>
                <a:latin typeface="Calibri"/>
              </a:rPr>
              <a:t>orders</a:t>
            </a:r>
          </a:p>
        </p:txBody>
      </p:sp>
      <p:sp>
        <p:nvSpPr>
          <p:cNvPr id="21" name="TextBox 20"/>
          <p:cNvSpPr txBox="1"/>
          <p:nvPr/>
        </p:nvSpPr>
        <p:spPr>
          <a:xfrm>
            <a:off x="3822191" y="4389120"/>
            <a:ext cx="1417320" cy="411480"/>
          </a:xfrm>
          <a:prstGeom prst="rect">
            <a:avLst/>
          </a:prstGeom>
          <a:noFill/>
        </p:spPr>
        <p:txBody>
          <a:bodyPr wrap="square" lIns="0" tIns="0" rIns="0" bIns="0" anchor="t">
            <a:spAutoFit/>
          </a:bodyPr>
          <a:lstStyle/>
          <a:p>
            <a:pPr algn="l"/>
            <a:r>
              <a:rPr sz="2200" b="1" i="0">
                <a:solidFill>
                  <a:srgbClr val="1D1B58"/>
                </a:solidFill>
                <a:latin typeface="Calibri"/>
              </a:rPr>
              <a:t>£451</a:t>
            </a:r>
          </a:p>
        </p:txBody>
      </p:sp>
      <p:sp>
        <p:nvSpPr>
          <p:cNvPr id="22" name="TextBox 21"/>
          <p:cNvSpPr txBox="1"/>
          <p:nvPr/>
        </p:nvSpPr>
        <p:spPr>
          <a:xfrm>
            <a:off x="3822191" y="4818888"/>
            <a:ext cx="1417320" cy="274320"/>
          </a:xfrm>
          <a:prstGeom prst="rect">
            <a:avLst/>
          </a:prstGeom>
          <a:noFill/>
        </p:spPr>
        <p:txBody>
          <a:bodyPr wrap="square" lIns="0" tIns="0" rIns="0" bIns="0" anchor="t">
            <a:spAutoFit/>
          </a:bodyPr>
          <a:lstStyle/>
          <a:p>
            <a:pPr algn="l"/>
            <a:r>
              <a:rPr sz="1100" b="0" i="0">
                <a:solidFill>
                  <a:srgbClr val="5B6075"/>
                </a:solidFill>
                <a:latin typeface="Calibri"/>
              </a:rPr>
              <a:t>avg. spend</a:t>
            </a:r>
          </a:p>
        </p:txBody>
      </p:sp>
      <p:graphicFrame>
        <p:nvGraphicFramePr>
          <p:cNvPr id="23" name="Chart 22"/>
          <p:cNvGraphicFramePr>
            <a:graphicFrameLocks noGrp="1"/>
          </p:cNvGraphicFramePr>
          <p:nvPr/>
        </p:nvGraphicFramePr>
        <p:xfrm>
          <a:off x="6172200" y="1783080"/>
          <a:ext cx="32004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Box 23"/>
          <p:cNvSpPr txBox="1"/>
          <p:nvPr/>
        </p:nvSpPr>
        <p:spPr>
          <a:xfrm>
            <a:off x="6355080" y="685800"/>
            <a:ext cx="4572000" cy="365760"/>
          </a:xfrm>
          <a:prstGeom prst="rect">
            <a:avLst/>
          </a:prstGeom>
          <a:noFill/>
        </p:spPr>
        <p:txBody>
          <a:bodyPr wrap="square" lIns="0" tIns="0" rIns="0" bIns="0" anchor="t">
            <a:spAutoFit/>
          </a:bodyPr>
          <a:lstStyle/>
          <a:p>
            <a:pPr algn="l"/>
            <a:r>
              <a:rPr sz="1100" b="1" i="0">
                <a:solidFill>
                  <a:srgbClr val="B9C2E6"/>
                </a:solidFill>
                <a:latin typeface="Calibri"/>
              </a:rPr>
              <a:t>THE PARETO PATTERN</a:t>
            </a:r>
          </a:p>
        </p:txBody>
      </p:sp>
      <p:sp>
        <p:nvSpPr>
          <p:cNvPr id="25" name="TextBox 24"/>
          <p:cNvSpPr txBox="1"/>
          <p:nvPr/>
        </p:nvSpPr>
        <p:spPr>
          <a:xfrm>
            <a:off x="6355080" y="1005840"/>
            <a:ext cx="4937760" cy="548640"/>
          </a:xfrm>
          <a:prstGeom prst="rect">
            <a:avLst/>
          </a:prstGeom>
          <a:noFill/>
        </p:spPr>
        <p:txBody>
          <a:bodyPr wrap="square" lIns="0" tIns="0" rIns="0" bIns="0" anchor="t">
            <a:spAutoFit/>
          </a:bodyPr>
          <a:lstStyle/>
          <a:p>
            <a:pPr algn="l"/>
            <a:r>
              <a:rPr sz="2200" b="1" i="0">
                <a:solidFill>
                  <a:srgbClr val="FFFFFF"/>
                </a:solidFill>
                <a:latin typeface="Calibri"/>
              </a:rPr>
              <a:t>39% of customers → 85% of revenue</a:t>
            </a:r>
          </a:p>
        </p:txBody>
      </p:sp>
      <p:sp>
        <p:nvSpPr>
          <p:cNvPr id="26" name="TextBox 25"/>
          <p:cNvSpPr txBox="1"/>
          <p:nvPr/>
        </p:nvSpPr>
        <p:spPr>
          <a:xfrm>
            <a:off x="9555480" y="2103120"/>
            <a:ext cx="1463040" cy="2377440"/>
          </a:xfrm>
          <a:prstGeom prst="rect">
            <a:avLst/>
          </a:prstGeom>
          <a:noFill/>
        </p:spPr>
        <p:txBody>
          <a:bodyPr wrap="square" lIns="0" tIns="0" rIns="0" bIns="0" anchor="t">
            <a:spAutoFit/>
          </a:bodyPr>
          <a:lstStyle/>
          <a:p>
            <a:pPr algn="l"/>
            <a:r>
              <a:rPr sz="1200" b="0" i="0">
                <a:solidFill>
                  <a:srgbClr val="4FB3FF"/>
                </a:solidFill>
                <a:latin typeface="Calibri"/>
              </a:rPr>
              <a:t>■ </a:t>
            </a:r>
            <a:r>
              <a:rPr sz="1200" b="0" i="0">
                <a:solidFill>
                  <a:srgbClr val="FFFFFF"/>
                </a:solidFill>
                <a:latin typeface="Calibri"/>
              </a:rPr>
              <a:t>High-Value Active</a:t>
            </a:r>
          </a:p>
          <a:p>
            <a:pPr algn="l"/>
            <a:endParaRPr sz="1200" b="0" i="0">
              <a:solidFill>
                <a:srgbClr val="FFFFFF"/>
              </a:solidFill>
              <a:latin typeface="Calibri"/>
            </a:endParaRPr>
          </a:p>
          <a:p>
            <a:pPr algn="l"/>
            <a:r>
              <a:rPr sz="1200" b="0" i="0">
                <a:solidFill>
                  <a:srgbClr val="8C93B8"/>
                </a:solidFill>
                <a:latin typeface="Calibri"/>
              </a:rPr>
              <a:t>■ </a:t>
            </a:r>
            <a:r>
              <a:rPr sz="1200" b="0" i="0">
                <a:solidFill>
                  <a:srgbClr val="FFFFFF"/>
                </a:solidFill>
                <a:latin typeface="Calibri"/>
              </a:rPr>
              <a:t>Low-Value Lapsing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drives the segments? Frequency first</a:t>
            </a:r>
          </a:p>
        </p:txBody>
      </p:sp>
      <p:graphicFrame>
        <p:nvGraphicFramePr>
          <p:cNvPr id="3" name="Chart 2"/>
          <p:cNvGraphicFramePr>
            <a:graphicFrameLocks noGrp="1"/>
          </p:cNvGraphicFramePr>
          <p:nvPr/>
        </p:nvGraphicFramePr>
        <p:xfrm>
          <a:off x="676656" y="1371600"/>
          <a:ext cx="5212080" cy="3017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p:cNvGraphicFramePr>
            <a:graphicFrameLocks noGrp="1"/>
          </p:cNvGraphicFramePr>
          <p:nvPr/>
        </p:nvGraphicFramePr>
        <p:xfrm>
          <a:off x="6263640" y="1371600"/>
          <a:ext cx="521208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5" name="Rounded Rectangle 4"/>
          <p:cNvSpPr/>
          <p:nvPr/>
        </p:nvSpPr>
        <p:spPr>
          <a:xfrm>
            <a:off x="676656" y="4572000"/>
            <a:ext cx="3474720" cy="9144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9536" y="4645152"/>
            <a:ext cx="3108960" cy="274320"/>
          </a:xfrm>
          <a:prstGeom prst="rect">
            <a:avLst/>
          </a:prstGeom>
          <a:noFill/>
        </p:spPr>
        <p:txBody>
          <a:bodyPr wrap="square" lIns="0" tIns="0" rIns="0" bIns="0" anchor="t">
            <a:spAutoFit/>
          </a:bodyPr>
          <a:lstStyle/>
          <a:p>
            <a:pPr algn="l"/>
            <a:r>
              <a:rPr sz="1300" b="1" i="0">
                <a:solidFill>
                  <a:srgbClr val="1D1B58"/>
                </a:solidFill>
                <a:latin typeface="Calibri"/>
              </a:rPr>
              <a:t>Two views agree</a:t>
            </a:r>
          </a:p>
        </p:txBody>
      </p:sp>
      <p:sp>
        <p:nvSpPr>
          <p:cNvPr id="7" name="TextBox 6"/>
          <p:cNvSpPr txBox="1"/>
          <p:nvPr/>
        </p:nvSpPr>
        <p:spPr>
          <a:xfrm>
            <a:off x="859536" y="4937760"/>
            <a:ext cx="3154680" cy="548640"/>
          </a:xfrm>
          <a:prstGeom prst="rect">
            <a:avLst/>
          </a:prstGeom>
          <a:noFill/>
        </p:spPr>
        <p:txBody>
          <a:bodyPr wrap="square" lIns="0" tIns="0" rIns="0" bIns="0" anchor="t">
            <a:spAutoFit/>
          </a:bodyPr>
          <a:lstStyle/>
          <a:p>
            <a:pPr algn="l"/>
            <a:r>
              <a:rPr sz="1200" b="0" i="0">
                <a:solidFill>
                  <a:srgbClr val="5B6075"/>
                </a:solidFill>
                <a:latin typeface="Calibri"/>
              </a:rPr>
              <a:t>Frequency separates the segments most, then Monetary, then Recency.</a:t>
            </a:r>
          </a:p>
        </p:txBody>
      </p:sp>
      <p:sp>
        <p:nvSpPr>
          <p:cNvPr id="8" name="Rounded Rectangle 7"/>
          <p:cNvSpPr/>
          <p:nvPr/>
        </p:nvSpPr>
        <p:spPr>
          <a:xfrm>
            <a:off x="4334256" y="4572000"/>
            <a:ext cx="3474720" cy="9144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517136" y="4645152"/>
            <a:ext cx="3108960" cy="274320"/>
          </a:xfrm>
          <a:prstGeom prst="rect">
            <a:avLst/>
          </a:prstGeom>
          <a:noFill/>
        </p:spPr>
        <p:txBody>
          <a:bodyPr wrap="square" lIns="0" tIns="0" rIns="0" bIns="0" anchor="t">
            <a:spAutoFit/>
          </a:bodyPr>
          <a:lstStyle/>
          <a:p>
            <a:pPr algn="l"/>
            <a:r>
              <a:rPr sz="1300" b="1" i="0">
                <a:solidFill>
                  <a:srgbClr val="1D1B58"/>
                </a:solidFill>
                <a:latin typeface="Calibri"/>
              </a:rPr>
              <a:t>F and M move together</a:t>
            </a:r>
          </a:p>
        </p:txBody>
      </p:sp>
      <p:sp>
        <p:nvSpPr>
          <p:cNvPr id="10" name="TextBox 9"/>
          <p:cNvSpPr txBox="1"/>
          <p:nvPr/>
        </p:nvSpPr>
        <p:spPr>
          <a:xfrm>
            <a:off x="4517136" y="4937760"/>
            <a:ext cx="3154680" cy="548640"/>
          </a:xfrm>
          <a:prstGeom prst="rect">
            <a:avLst/>
          </a:prstGeom>
          <a:noFill/>
        </p:spPr>
        <p:txBody>
          <a:bodyPr wrap="square" lIns="0" tIns="0" rIns="0" bIns="0" anchor="t">
            <a:spAutoFit/>
          </a:bodyPr>
          <a:lstStyle/>
          <a:p>
            <a:pPr algn="l"/>
            <a:r>
              <a:rPr sz="1200" b="0" i="0">
                <a:solidFill>
                  <a:srgbClr val="5B6075"/>
                </a:solidFill>
                <a:latin typeface="Calibri"/>
              </a:rPr>
              <a:t>Correlation 0.53: repeat buyers are also big spenders (FAQ 9).</a:t>
            </a:r>
          </a:p>
        </p:txBody>
      </p:sp>
      <p:sp>
        <p:nvSpPr>
          <p:cNvPr id="11" name="Rounded Rectangle 10"/>
          <p:cNvSpPr/>
          <p:nvPr/>
        </p:nvSpPr>
        <p:spPr>
          <a:xfrm>
            <a:off x="7991856" y="4572000"/>
            <a:ext cx="3474720" cy="9144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174736" y="4645152"/>
            <a:ext cx="3108960" cy="274320"/>
          </a:xfrm>
          <a:prstGeom prst="rect">
            <a:avLst/>
          </a:prstGeom>
          <a:noFill/>
        </p:spPr>
        <p:txBody>
          <a:bodyPr wrap="square" lIns="0" tIns="0" rIns="0" bIns="0" anchor="t">
            <a:spAutoFit/>
          </a:bodyPr>
          <a:lstStyle/>
          <a:p>
            <a:pPr algn="l"/>
            <a:r>
              <a:rPr sz="1300" b="1" i="0">
                <a:solidFill>
                  <a:srgbClr val="1D1B58"/>
                </a:solidFill>
                <a:latin typeface="Calibri"/>
              </a:rPr>
              <a:t>So what</a:t>
            </a:r>
          </a:p>
        </p:txBody>
      </p:sp>
      <p:sp>
        <p:nvSpPr>
          <p:cNvPr id="13" name="TextBox 12"/>
          <p:cNvSpPr txBox="1"/>
          <p:nvPr/>
        </p:nvSpPr>
        <p:spPr>
          <a:xfrm>
            <a:off x="8174736" y="4937760"/>
            <a:ext cx="3154680" cy="548640"/>
          </a:xfrm>
          <a:prstGeom prst="rect">
            <a:avLst/>
          </a:prstGeom>
          <a:noFill/>
        </p:spPr>
        <p:txBody>
          <a:bodyPr wrap="square" lIns="0" tIns="0" rIns="0" bIns="0" anchor="t">
            <a:spAutoFit/>
          </a:bodyPr>
          <a:lstStyle/>
          <a:p>
            <a:pPr algn="l"/>
            <a:r>
              <a:rPr sz="1200" b="0" i="0">
                <a:solidFill>
                  <a:srgbClr val="5B6075"/>
                </a:solidFill>
                <a:latin typeface="Calibri"/>
              </a:rPr>
              <a:t>Getting a second and third order is the lever that moves a customer up.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Scoring new customers into segments</a:t>
            </a:r>
          </a:p>
        </p:txBody>
      </p:sp>
      <p:sp>
        <p:nvSpPr>
          <p:cNvPr id="3" name="Rounded Rectangle 2"/>
          <p:cNvSpPr/>
          <p:nvPr/>
        </p:nvSpPr>
        <p:spPr>
          <a:xfrm>
            <a:off x="676656" y="1463040"/>
            <a:ext cx="2834640" cy="438912"/>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1463040"/>
            <a:ext cx="2560320" cy="438912"/>
          </a:xfrm>
          <a:prstGeom prst="rect">
            <a:avLst/>
          </a:prstGeom>
          <a:noFill/>
        </p:spPr>
        <p:txBody>
          <a:bodyPr wrap="square" lIns="0" tIns="0" rIns="0" bIns="0" anchor="ctr">
            <a:spAutoFit/>
          </a:bodyPr>
          <a:lstStyle/>
          <a:p>
            <a:pPr algn="l"/>
            <a:r>
              <a:rPr sz="1300" b="1" i="0">
                <a:solidFill>
                  <a:srgbClr val="1D1B58"/>
                </a:solidFill>
                <a:latin typeface="Calibri"/>
              </a:rPr>
              <a:t>New customer transactions</a:t>
            </a:r>
          </a:p>
        </p:txBody>
      </p:sp>
      <p:sp>
        <p:nvSpPr>
          <p:cNvPr id="5" name="Down Arrow 4"/>
          <p:cNvSpPr/>
          <p:nvPr/>
        </p:nvSpPr>
        <p:spPr>
          <a:xfrm>
            <a:off x="2011680" y="1911095"/>
            <a:ext cx="164592" cy="109728"/>
          </a:xfrm>
          <a:prstGeom prst="downArrow">
            <a:avLst/>
          </a:prstGeom>
          <a:solidFill>
            <a:srgbClr val="A9B1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76656" y="2029968"/>
            <a:ext cx="2834640" cy="438912"/>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60" y="2029968"/>
            <a:ext cx="2560320" cy="438912"/>
          </a:xfrm>
          <a:prstGeom prst="rect">
            <a:avLst/>
          </a:prstGeom>
          <a:noFill/>
        </p:spPr>
        <p:txBody>
          <a:bodyPr wrap="square" lIns="0" tIns="0" rIns="0" bIns="0" anchor="ctr">
            <a:spAutoFit/>
          </a:bodyPr>
          <a:lstStyle/>
          <a:p>
            <a:pPr algn="l"/>
            <a:r>
              <a:rPr sz="1300" b="1" i="0">
                <a:solidFill>
                  <a:srgbClr val="1D1B58"/>
                </a:solidFill>
                <a:latin typeface="Calibri"/>
              </a:rPr>
              <a:t>Compute RFM</a:t>
            </a:r>
          </a:p>
        </p:txBody>
      </p:sp>
      <p:sp>
        <p:nvSpPr>
          <p:cNvPr id="8" name="Down Arrow 7"/>
          <p:cNvSpPr/>
          <p:nvPr/>
        </p:nvSpPr>
        <p:spPr>
          <a:xfrm>
            <a:off x="2011680" y="2478024"/>
            <a:ext cx="164592" cy="109728"/>
          </a:xfrm>
          <a:prstGeom prst="downArrow">
            <a:avLst/>
          </a:prstGeom>
          <a:solidFill>
            <a:srgbClr val="A9B1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76656" y="2596896"/>
            <a:ext cx="2834640" cy="438912"/>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22960" y="2596896"/>
            <a:ext cx="2560320" cy="438912"/>
          </a:xfrm>
          <a:prstGeom prst="rect">
            <a:avLst/>
          </a:prstGeom>
          <a:noFill/>
        </p:spPr>
        <p:txBody>
          <a:bodyPr wrap="square" lIns="0" tIns="0" rIns="0" bIns="0" anchor="ctr">
            <a:spAutoFit/>
          </a:bodyPr>
          <a:lstStyle/>
          <a:p>
            <a:pPr algn="l"/>
            <a:r>
              <a:rPr sz="1300" b="1" i="0">
                <a:solidFill>
                  <a:srgbClr val="1D1B58"/>
                </a:solidFill>
                <a:latin typeface="Calibri"/>
              </a:rPr>
              <a:t>log1p + saved scaler</a:t>
            </a:r>
          </a:p>
        </p:txBody>
      </p:sp>
      <p:sp>
        <p:nvSpPr>
          <p:cNvPr id="11" name="Down Arrow 10"/>
          <p:cNvSpPr/>
          <p:nvPr/>
        </p:nvSpPr>
        <p:spPr>
          <a:xfrm>
            <a:off x="2011680" y="3044952"/>
            <a:ext cx="164592" cy="109728"/>
          </a:xfrm>
          <a:prstGeom prst="downArrow">
            <a:avLst/>
          </a:prstGeom>
          <a:solidFill>
            <a:srgbClr val="A9B1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76656" y="3163824"/>
            <a:ext cx="2834640" cy="438912"/>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22960" y="3163824"/>
            <a:ext cx="2560320" cy="438912"/>
          </a:xfrm>
          <a:prstGeom prst="rect">
            <a:avLst/>
          </a:prstGeom>
          <a:noFill/>
        </p:spPr>
        <p:txBody>
          <a:bodyPr wrap="square" lIns="0" tIns="0" rIns="0" bIns="0" anchor="ctr">
            <a:spAutoFit/>
          </a:bodyPr>
          <a:lstStyle/>
          <a:p>
            <a:pPr algn="l"/>
            <a:r>
              <a:rPr sz="1300" b="1" i="0">
                <a:solidFill>
                  <a:srgbClr val="1D1B58"/>
                </a:solidFill>
                <a:latin typeface="Calibri"/>
              </a:rPr>
              <a:t>Random Forest</a:t>
            </a:r>
          </a:p>
        </p:txBody>
      </p:sp>
      <p:sp>
        <p:nvSpPr>
          <p:cNvPr id="14" name="Down Arrow 13"/>
          <p:cNvSpPr/>
          <p:nvPr/>
        </p:nvSpPr>
        <p:spPr>
          <a:xfrm>
            <a:off x="2011680" y="3611880"/>
            <a:ext cx="164592" cy="109728"/>
          </a:xfrm>
          <a:prstGeom prst="downArrow">
            <a:avLst/>
          </a:prstGeom>
          <a:solidFill>
            <a:srgbClr val="A9B1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76656" y="3730752"/>
            <a:ext cx="2834640" cy="438912"/>
          </a:xfrm>
          <a:prstGeom prst="roundRect">
            <a:avLst>
              <a:gd name="adj" fmla="val 6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2960" y="3730752"/>
            <a:ext cx="2560320" cy="438912"/>
          </a:xfrm>
          <a:prstGeom prst="rect">
            <a:avLst/>
          </a:prstGeom>
          <a:noFill/>
        </p:spPr>
        <p:txBody>
          <a:bodyPr wrap="square" lIns="0" tIns="0" rIns="0" bIns="0" anchor="ctr">
            <a:spAutoFit/>
          </a:bodyPr>
          <a:lstStyle/>
          <a:p>
            <a:pPr algn="l"/>
            <a:r>
              <a:rPr sz="1300" b="1" i="0">
                <a:solidFill>
                  <a:srgbClr val="FFFFFF"/>
                </a:solidFill>
                <a:latin typeface="Calibri"/>
              </a:rPr>
              <a:t>Segment label</a:t>
            </a:r>
          </a:p>
        </p:txBody>
      </p:sp>
      <p:sp>
        <p:nvSpPr>
          <p:cNvPr id="17" name="TextBox 16"/>
          <p:cNvSpPr txBox="1"/>
          <p:nvPr/>
        </p:nvSpPr>
        <p:spPr>
          <a:xfrm>
            <a:off x="3977639" y="1417320"/>
            <a:ext cx="3566160" cy="320040"/>
          </a:xfrm>
          <a:prstGeom prst="rect">
            <a:avLst/>
          </a:prstGeom>
          <a:noFill/>
        </p:spPr>
        <p:txBody>
          <a:bodyPr wrap="square" lIns="0" tIns="0" rIns="0" bIns="0" anchor="t">
            <a:spAutoFit/>
          </a:bodyPr>
          <a:lstStyle/>
          <a:p>
            <a:pPr algn="l"/>
            <a:r>
              <a:rPr sz="1300" b="1" i="0">
                <a:solidFill>
                  <a:srgbClr val="1D1B58"/>
                </a:solidFill>
                <a:latin typeface="Calibri"/>
              </a:rPr>
              <a:t>Held-out test set (863 customers)</a:t>
            </a:r>
          </a:p>
        </p:txBody>
      </p:sp>
      <p:sp>
        <p:nvSpPr>
          <p:cNvPr id="18" name="TextBox 17"/>
          <p:cNvSpPr txBox="1"/>
          <p:nvPr/>
        </p:nvSpPr>
        <p:spPr>
          <a:xfrm>
            <a:off x="4983480" y="1783080"/>
            <a:ext cx="2560320" cy="274320"/>
          </a:xfrm>
          <a:prstGeom prst="rect">
            <a:avLst/>
          </a:prstGeom>
          <a:noFill/>
        </p:spPr>
        <p:txBody>
          <a:bodyPr wrap="square" lIns="0" tIns="0" rIns="0" bIns="0" anchor="t">
            <a:spAutoFit/>
          </a:bodyPr>
          <a:lstStyle/>
          <a:p>
            <a:pPr algn="ctr"/>
            <a:r>
              <a:rPr sz="1100" b="0" i="0">
                <a:solidFill>
                  <a:srgbClr val="5B6075"/>
                </a:solidFill>
                <a:latin typeface="Calibri"/>
              </a:rPr>
              <a:t>Predicted</a:t>
            </a:r>
          </a:p>
        </p:txBody>
      </p:sp>
      <p:sp>
        <p:nvSpPr>
          <p:cNvPr id="19" name="TextBox 18"/>
          <p:cNvSpPr txBox="1"/>
          <p:nvPr/>
        </p:nvSpPr>
        <p:spPr>
          <a:xfrm>
            <a:off x="4983480" y="2057400"/>
            <a:ext cx="1280160" cy="274320"/>
          </a:xfrm>
          <a:prstGeom prst="rect">
            <a:avLst/>
          </a:prstGeom>
          <a:noFill/>
        </p:spPr>
        <p:txBody>
          <a:bodyPr wrap="square" lIns="0" tIns="0" rIns="0" bIns="0" anchor="t">
            <a:spAutoFit/>
          </a:bodyPr>
          <a:lstStyle/>
          <a:p>
            <a:pPr algn="ctr"/>
            <a:r>
              <a:rPr sz="1100" b="0" i="0">
                <a:solidFill>
                  <a:srgbClr val="5B6075"/>
                </a:solidFill>
                <a:latin typeface="Calibri"/>
              </a:rPr>
              <a:t>High-Value</a:t>
            </a:r>
          </a:p>
        </p:txBody>
      </p:sp>
      <p:sp>
        <p:nvSpPr>
          <p:cNvPr id="20" name="TextBox 19"/>
          <p:cNvSpPr txBox="1"/>
          <p:nvPr/>
        </p:nvSpPr>
        <p:spPr>
          <a:xfrm>
            <a:off x="3977639" y="2377440"/>
            <a:ext cx="914400" cy="1097280"/>
          </a:xfrm>
          <a:prstGeom prst="rect">
            <a:avLst/>
          </a:prstGeom>
          <a:noFill/>
        </p:spPr>
        <p:txBody>
          <a:bodyPr wrap="square" lIns="0" tIns="0" rIns="0" bIns="0" anchor="ctr">
            <a:spAutoFit/>
          </a:bodyPr>
          <a:lstStyle/>
          <a:p>
            <a:pPr algn="r"/>
            <a:r>
              <a:rPr sz="1100" b="0" i="0">
                <a:solidFill>
                  <a:srgbClr val="5B6075"/>
                </a:solidFill>
                <a:latin typeface="Calibri"/>
              </a:rPr>
              <a:t>High-Value</a:t>
            </a:r>
          </a:p>
        </p:txBody>
      </p:sp>
      <p:sp>
        <p:nvSpPr>
          <p:cNvPr id="21" name="TextBox 20"/>
          <p:cNvSpPr txBox="1"/>
          <p:nvPr/>
        </p:nvSpPr>
        <p:spPr>
          <a:xfrm>
            <a:off x="6263640" y="2057400"/>
            <a:ext cx="1280160" cy="274320"/>
          </a:xfrm>
          <a:prstGeom prst="rect">
            <a:avLst/>
          </a:prstGeom>
          <a:noFill/>
        </p:spPr>
        <p:txBody>
          <a:bodyPr wrap="square" lIns="0" tIns="0" rIns="0" bIns="0" anchor="t">
            <a:spAutoFit/>
          </a:bodyPr>
          <a:lstStyle/>
          <a:p>
            <a:pPr algn="ctr"/>
            <a:r>
              <a:rPr sz="1100" b="0" i="0">
                <a:solidFill>
                  <a:srgbClr val="5B6075"/>
                </a:solidFill>
                <a:latin typeface="Calibri"/>
              </a:rPr>
              <a:t>Low-Value</a:t>
            </a:r>
          </a:p>
        </p:txBody>
      </p:sp>
      <p:sp>
        <p:nvSpPr>
          <p:cNvPr id="22" name="TextBox 21"/>
          <p:cNvSpPr txBox="1"/>
          <p:nvPr/>
        </p:nvSpPr>
        <p:spPr>
          <a:xfrm>
            <a:off x="3977639" y="3520440"/>
            <a:ext cx="914400" cy="1097280"/>
          </a:xfrm>
          <a:prstGeom prst="rect">
            <a:avLst/>
          </a:prstGeom>
          <a:noFill/>
        </p:spPr>
        <p:txBody>
          <a:bodyPr wrap="square" lIns="0" tIns="0" rIns="0" bIns="0" anchor="ctr">
            <a:spAutoFit/>
          </a:bodyPr>
          <a:lstStyle/>
          <a:p>
            <a:pPr algn="r"/>
            <a:r>
              <a:rPr sz="1100" b="0" i="0">
                <a:solidFill>
                  <a:srgbClr val="5B6075"/>
                </a:solidFill>
                <a:latin typeface="Calibri"/>
              </a:rPr>
              <a:t>Low-Value</a:t>
            </a:r>
          </a:p>
        </p:txBody>
      </p:sp>
      <p:sp>
        <p:nvSpPr>
          <p:cNvPr id="23" name="Rounded Rectangle 22"/>
          <p:cNvSpPr/>
          <p:nvPr/>
        </p:nvSpPr>
        <p:spPr>
          <a:xfrm>
            <a:off x="4983480" y="2377440"/>
            <a:ext cx="1234440" cy="1097280"/>
          </a:xfrm>
          <a:prstGeom prst="roundRect">
            <a:avLst>
              <a:gd name="adj" fmla="val 4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983480" y="2377440"/>
            <a:ext cx="1234440" cy="1097280"/>
          </a:xfrm>
          <a:prstGeom prst="rect">
            <a:avLst/>
          </a:prstGeom>
          <a:noFill/>
        </p:spPr>
        <p:txBody>
          <a:bodyPr wrap="square" lIns="0" tIns="0" rIns="0" bIns="0" anchor="ctr">
            <a:spAutoFit/>
          </a:bodyPr>
          <a:lstStyle/>
          <a:p>
            <a:pPr algn="ctr"/>
            <a:r>
              <a:rPr sz="2400" b="1" i="0">
                <a:solidFill>
                  <a:srgbClr val="FFFFFF"/>
                </a:solidFill>
                <a:latin typeface="Calibri"/>
              </a:rPr>
              <a:t>330</a:t>
            </a:r>
          </a:p>
        </p:txBody>
      </p:sp>
      <p:sp>
        <p:nvSpPr>
          <p:cNvPr id="25" name="Rounded Rectangle 24"/>
          <p:cNvSpPr/>
          <p:nvPr/>
        </p:nvSpPr>
        <p:spPr>
          <a:xfrm>
            <a:off x="6263640" y="2377440"/>
            <a:ext cx="1234440" cy="1097280"/>
          </a:xfrm>
          <a:prstGeom prst="roundRect">
            <a:avLst>
              <a:gd name="adj" fmla="val 4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263640" y="2377440"/>
            <a:ext cx="1234440" cy="1097280"/>
          </a:xfrm>
          <a:prstGeom prst="rect">
            <a:avLst/>
          </a:prstGeom>
          <a:noFill/>
        </p:spPr>
        <p:txBody>
          <a:bodyPr wrap="square" lIns="0" tIns="0" rIns="0" bIns="0" anchor="ctr">
            <a:spAutoFit/>
          </a:bodyPr>
          <a:lstStyle/>
          <a:p>
            <a:pPr algn="ctr"/>
            <a:r>
              <a:rPr sz="2400" b="1" i="0">
                <a:solidFill>
                  <a:srgbClr val="E4572E"/>
                </a:solidFill>
                <a:latin typeface="Calibri"/>
              </a:rPr>
              <a:t>3</a:t>
            </a:r>
          </a:p>
        </p:txBody>
      </p:sp>
      <p:sp>
        <p:nvSpPr>
          <p:cNvPr id="27" name="Rounded Rectangle 26"/>
          <p:cNvSpPr/>
          <p:nvPr/>
        </p:nvSpPr>
        <p:spPr>
          <a:xfrm>
            <a:off x="4983480" y="3520440"/>
            <a:ext cx="1234440" cy="1097280"/>
          </a:xfrm>
          <a:prstGeom prst="roundRect">
            <a:avLst>
              <a:gd name="adj" fmla="val 4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4983480" y="3520440"/>
            <a:ext cx="1234440" cy="1097280"/>
          </a:xfrm>
          <a:prstGeom prst="rect">
            <a:avLst/>
          </a:prstGeom>
          <a:noFill/>
        </p:spPr>
        <p:txBody>
          <a:bodyPr wrap="square" lIns="0" tIns="0" rIns="0" bIns="0" anchor="ctr">
            <a:spAutoFit/>
          </a:bodyPr>
          <a:lstStyle/>
          <a:p>
            <a:pPr algn="ctr"/>
            <a:r>
              <a:rPr sz="2400" b="1" i="0">
                <a:solidFill>
                  <a:srgbClr val="E4572E"/>
                </a:solidFill>
                <a:latin typeface="Calibri"/>
              </a:rPr>
              <a:t>2</a:t>
            </a:r>
          </a:p>
        </p:txBody>
      </p:sp>
      <p:sp>
        <p:nvSpPr>
          <p:cNvPr id="29" name="Rounded Rectangle 28"/>
          <p:cNvSpPr/>
          <p:nvPr/>
        </p:nvSpPr>
        <p:spPr>
          <a:xfrm>
            <a:off x="6263640" y="3520440"/>
            <a:ext cx="1234440" cy="1097280"/>
          </a:xfrm>
          <a:prstGeom prst="roundRect">
            <a:avLst>
              <a:gd name="adj" fmla="val 4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263640" y="3520440"/>
            <a:ext cx="1234440" cy="1097280"/>
          </a:xfrm>
          <a:prstGeom prst="rect">
            <a:avLst/>
          </a:prstGeom>
          <a:noFill/>
        </p:spPr>
        <p:txBody>
          <a:bodyPr wrap="square" lIns="0" tIns="0" rIns="0" bIns="0" anchor="ctr">
            <a:spAutoFit/>
          </a:bodyPr>
          <a:lstStyle/>
          <a:p>
            <a:pPr algn="ctr"/>
            <a:r>
              <a:rPr sz="2400" b="1" i="0">
                <a:solidFill>
                  <a:srgbClr val="FFFFFF"/>
                </a:solidFill>
                <a:latin typeface="Calibri"/>
              </a:rPr>
              <a:t>528</a:t>
            </a:r>
          </a:p>
        </p:txBody>
      </p:sp>
      <p:sp>
        <p:nvSpPr>
          <p:cNvPr id="31" name="TextBox 30"/>
          <p:cNvSpPr txBox="1"/>
          <p:nvPr/>
        </p:nvSpPr>
        <p:spPr>
          <a:xfrm>
            <a:off x="3977639" y="4754880"/>
            <a:ext cx="3566160" cy="274320"/>
          </a:xfrm>
          <a:prstGeom prst="rect">
            <a:avLst/>
          </a:prstGeom>
          <a:noFill/>
        </p:spPr>
        <p:txBody>
          <a:bodyPr wrap="square" lIns="0" tIns="0" rIns="0" bIns="0" anchor="t">
            <a:spAutoFit/>
          </a:bodyPr>
          <a:lstStyle/>
          <a:p>
            <a:pPr algn="l"/>
            <a:r>
              <a:rPr sz="1100" b="0" i="1">
                <a:solidFill>
                  <a:srgbClr val="5B6075"/>
                </a:solidFill>
                <a:latin typeface="Calibri"/>
              </a:rPr>
              <a:t>Rows = actual K-means segment</a:t>
            </a:r>
          </a:p>
        </p:txBody>
      </p:sp>
      <p:sp>
        <p:nvSpPr>
          <p:cNvPr id="32" name="TextBox 31"/>
          <p:cNvSpPr txBox="1"/>
          <p:nvPr/>
        </p:nvSpPr>
        <p:spPr>
          <a:xfrm>
            <a:off x="676656" y="4434840"/>
            <a:ext cx="2926080" cy="1005840"/>
          </a:xfrm>
          <a:prstGeom prst="rect">
            <a:avLst/>
          </a:prstGeom>
          <a:noFill/>
        </p:spPr>
        <p:txBody>
          <a:bodyPr wrap="square" lIns="0" tIns="0" rIns="0" bIns="0" anchor="t">
            <a:spAutoFit/>
          </a:bodyPr>
          <a:lstStyle/>
          <a:p>
            <a:pPr algn="l"/>
            <a:r>
              <a:rPr sz="1200" b="0" i="0">
                <a:solidFill>
                  <a:srgbClr val="5B6075"/>
                </a:solidFill>
                <a:latin typeface="Calibri"/>
              </a:rPr>
              <a:t>Why not just re-run K-means? The classifier gives a fast, fixed scoring rule that CRM tools can apply daily.</a:t>
            </a:r>
          </a:p>
        </p:txBody>
      </p:sp>
      <p:sp>
        <p:nvSpPr>
          <p:cNvPr id="33" name="TextBox 32"/>
          <p:cNvSpPr txBox="1"/>
          <p:nvPr/>
        </p:nvSpPr>
        <p:spPr>
          <a:xfrm>
            <a:off x="8412480" y="1325880"/>
            <a:ext cx="3108960" cy="320040"/>
          </a:xfrm>
          <a:prstGeom prst="rect">
            <a:avLst/>
          </a:prstGeom>
          <a:noFill/>
        </p:spPr>
        <p:txBody>
          <a:bodyPr wrap="square" lIns="0" tIns="0" rIns="0" bIns="0" anchor="t">
            <a:spAutoFit/>
          </a:bodyPr>
          <a:lstStyle/>
          <a:p>
            <a:pPr algn="l"/>
            <a:r>
              <a:rPr sz="1100" b="1" i="0">
                <a:solidFill>
                  <a:srgbClr val="B9C2E6"/>
                </a:solidFill>
                <a:latin typeface="Calibri"/>
              </a:rPr>
              <a:t>LABEL AGREEMENT</a:t>
            </a:r>
          </a:p>
        </p:txBody>
      </p:sp>
      <p:sp>
        <p:nvSpPr>
          <p:cNvPr id="34" name="TextBox 33"/>
          <p:cNvSpPr txBox="1"/>
          <p:nvPr/>
        </p:nvSpPr>
        <p:spPr>
          <a:xfrm>
            <a:off x="8412480" y="1645920"/>
            <a:ext cx="3108960" cy="822960"/>
          </a:xfrm>
          <a:prstGeom prst="rect">
            <a:avLst/>
          </a:prstGeom>
          <a:noFill/>
        </p:spPr>
        <p:txBody>
          <a:bodyPr wrap="square" lIns="0" tIns="0" rIns="0" bIns="0" anchor="t">
            <a:spAutoFit/>
          </a:bodyPr>
          <a:lstStyle/>
          <a:p>
            <a:pPr algn="l"/>
            <a:r>
              <a:rPr sz="4800" b="1" i="0">
                <a:solidFill>
                  <a:srgbClr val="FFFFFF"/>
                </a:solidFill>
                <a:latin typeface="Calibri"/>
              </a:rPr>
              <a:t>99.4%</a:t>
            </a:r>
          </a:p>
        </p:txBody>
      </p:sp>
      <p:sp>
        <p:nvSpPr>
          <p:cNvPr id="35" name="TextBox 34"/>
          <p:cNvSpPr txBox="1"/>
          <p:nvPr/>
        </p:nvSpPr>
        <p:spPr>
          <a:xfrm>
            <a:off x="8412480" y="2514600"/>
            <a:ext cx="3017520" cy="640080"/>
          </a:xfrm>
          <a:prstGeom prst="rect">
            <a:avLst/>
          </a:prstGeom>
          <a:noFill/>
        </p:spPr>
        <p:txBody>
          <a:bodyPr wrap="square" lIns="0" tIns="0" rIns="0" bIns="0" anchor="t">
            <a:spAutoFit/>
          </a:bodyPr>
          <a:lstStyle/>
          <a:p>
            <a:pPr algn="l"/>
            <a:r>
              <a:rPr sz="1300" b="0" i="0">
                <a:solidFill>
                  <a:srgbClr val="B9C2E6"/>
                </a:solidFill>
                <a:latin typeface="Calibri"/>
              </a:rPr>
              <a:t>858 of 863 held-out customers placed in the same segment as K-means.</a:t>
            </a:r>
          </a:p>
        </p:txBody>
      </p:sp>
      <p:sp>
        <p:nvSpPr>
          <p:cNvPr id="36" name="TextBox 35"/>
          <p:cNvSpPr txBox="1"/>
          <p:nvPr/>
        </p:nvSpPr>
        <p:spPr>
          <a:xfrm>
            <a:off x="8412480" y="3429000"/>
            <a:ext cx="3017520" cy="320040"/>
          </a:xfrm>
          <a:prstGeom prst="rect">
            <a:avLst/>
          </a:prstGeom>
          <a:noFill/>
        </p:spPr>
        <p:txBody>
          <a:bodyPr wrap="square" lIns="0" tIns="0" rIns="0" bIns="0" anchor="t">
            <a:spAutoFit/>
          </a:bodyPr>
          <a:lstStyle/>
          <a:p>
            <a:pPr algn="l"/>
            <a:r>
              <a:rPr sz="1100" b="1" i="0">
                <a:solidFill>
                  <a:srgbClr val="FFB49C"/>
                </a:solidFill>
                <a:latin typeface="Calibri"/>
              </a:rPr>
              <a:t>READ WITH CARE</a:t>
            </a:r>
          </a:p>
        </p:txBody>
      </p:sp>
      <p:sp>
        <p:nvSpPr>
          <p:cNvPr id="37" name="TextBox 36"/>
          <p:cNvSpPr txBox="1"/>
          <p:nvPr/>
        </p:nvSpPr>
        <p:spPr>
          <a:xfrm>
            <a:off x="8412480" y="3749039"/>
            <a:ext cx="3017520" cy="1554480"/>
          </a:xfrm>
          <a:prstGeom prst="rect">
            <a:avLst/>
          </a:prstGeom>
          <a:noFill/>
        </p:spPr>
        <p:txBody>
          <a:bodyPr wrap="square" lIns="0" tIns="0" rIns="0" bIns="0" anchor="t">
            <a:spAutoFit/>
          </a:bodyPr>
          <a:lstStyle/>
          <a:p>
            <a:pPr algn="l"/>
            <a:r>
              <a:rPr sz="1300" b="0" i="0">
                <a:solidFill>
                  <a:srgbClr val="FFFFFF"/>
                </a:solidFill>
                <a:latin typeface="Calibri"/>
              </a:rPr>
              <a:t>Labels were built from the same RFM features: this measures reproducibility, not future purchases (FAQ 6, 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Recommendations: protect the 39% first</a:t>
            </a:r>
          </a:p>
        </p:txBody>
      </p:sp>
      <p:sp>
        <p:nvSpPr>
          <p:cNvPr id="3" name="Rounded Rectangle 2"/>
          <p:cNvSpPr/>
          <p:nvPr/>
        </p:nvSpPr>
        <p:spPr>
          <a:xfrm>
            <a:off x="676656" y="1417320"/>
            <a:ext cx="3520440" cy="310896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905256" y="1645920"/>
            <a:ext cx="219456" cy="219456"/>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225295" y="1572768"/>
            <a:ext cx="2834640" cy="365760"/>
          </a:xfrm>
          <a:prstGeom prst="rect">
            <a:avLst/>
          </a:prstGeom>
          <a:noFill/>
        </p:spPr>
        <p:txBody>
          <a:bodyPr wrap="square" lIns="0" tIns="0" rIns="0" bIns="0" anchor="t">
            <a:spAutoFit/>
          </a:bodyPr>
          <a:lstStyle/>
          <a:p>
            <a:pPr algn="l"/>
            <a:r>
              <a:rPr sz="1500" b="1" i="0">
                <a:solidFill>
                  <a:srgbClr val="1D1B58"/>
                </a:solidFill>
                <a:latin typeface="Calibri"/>
              </a:rPr>
              <a:t>High-Value Active</a:t>
            </a:r>
          </a:p>
        </p:txBody>
      </p:sp>
      <p:sp>
        <p:nvSpPr>
          <p:cNvPr id="6" name="TextBox 5"/>
          <p:cNvSpPr txBox="1"/>
          <p:nvPr/>
        </p:nvSpPr>
        <p:spPr>
          <a:xfrm>
            <a:off x="905256" y="1965960"/>
            <a:ext cx="3108960" cy="365760"/>
          </a:xfrm>
          <a:prstGeom prst="rect">
            <a:avLst/>
          </a:prstGeom>
          <a:noFill/>
        </p:spPr>
        <p:txBody>
          <a:bodyPr wrap="square" lIns="0" tIns="0" rIns="0" bIns="0" anchor="t">
            <a:spAutoFit/>
          </a:bodyPr>
          <a:lstStyle/>
          <a:p>
            <a:pPr algn="l"/>
            <a:r>
              <a:rPr sz="2000" b="1" i="0">
                <a:solidFill>
                  <a:srgbClr val="1D1B58"/>
                </a:solidFill>
                <a:latin typeface="Calibri"/>
              </a:rPr>
              <a:t>Protect &amp; grow</a:t>
            </a:r>
          </a:p>
        </p:txBody>
      </p:sp>
      <p:sp>
        <p:nvSpPr>
          <p:cNvPr id="7" name="TextBox 6"/>
          <p:cNvSpPr txBox="1"/>
          <p:nvPr/>
        </p:nvSpPr>
        <p:spPr>
          <a:xfrm>
            <a:off x="905256" y="2468880"/>
            <a:ext cx="3108960" cy="2011680"/>
          </a:xfrm>
          <a:prstGeom prst="rect">
            <a:avLst/>
          </a:prstGeom>
          <a:noFill/>
        </p:spPr>
        <p:txBody>
          <a:bodyPr wrap="square" lIns="0" tIns="0" rIns="0" bIns="0">
            <a:spAutoFit/>
          </a:bodyPr>
          <a:lstStyle/>
          <a:p>
            <a:pPr marL="228600" indent="-228600">
              <a:spcAft>
                <a:spcPts val="600"/>
              </a:spcAft>
              <a:buClr>
                <a:srgbClr val="1B8FE0"/>
              </a:buClr>
              <a:buFont typeface="Arial"/>
              <a:buChar char="•"/>
            </a:pPr>
            <a:r>
              <a:rPr sz="1300" b="0">
                <a:solidFill>
                  <a:srgbClr val="222433"/>
                </a:solidFill>
                <a:latin typeface="Calibri"/>
              </a:rPr>
              <a:t>Loyalty tier: early access, volume pricing, a named contact for wholesale buyers</a:t>
            </a:r>
          </a:p>
          <a:p>
            <a:pPr marL="228600" indent="-228600">
              <a:spcAft>
                <a:spcPts val="600"/>
              </a:spcAft>
              <a:buClr>
                <a:srgbClr val="1B8FE0"/>
              </a:buClr>
              <a:buFont typeface="Arial"/>
              <a:buChar char="•"/>
            </a:pPr>
            <a:r>
              <a:rPr sz="1300" b="0">
                <a:solidFill>
                  <a:srgbClr val="222433"/>
                </a:solidFill>
                <a:latin typeface="Calibri"/>
              </a:rPr>
              <a:t>Early-warning trigger when a customer passes ~60 days without an order</a:t>
            </a:r>
          </a:p>
          <a:p>
            <a:pPr marL="228600" indent="-228600">
              <a:spcAft>
                <a:spcPts val="600"/>
              </a:spcAft>
              <a:buClr>
                <a:srgbClr val="1B8FE0"/>
              </a:buClr>
              <a:buFont typeface="Arial"/>
              <a:buChar char="•"/>
            </a:pPr>
            <a:r>
              <a:rPr sz="1300" b="0">
                <a:solidFill>
                  <a:srgbClr val="222433"/>
                </a:solidFill>
                <a:latin typeface="Calibri"/>
              </a:rPr>
              <a:t>Cross-sell from their own purchase history ahead of the Q4 peak</a:t>
            </a:r>
          </a:p>
        </p:txBody>
      </p:sp>
      <p:sp>
        <p:nvSpPr>
          <p:cNvPr id="8" name="Rounded Rectangle 7"/>
          <p:cNvSpPr/>
          <p:nvPr/>
        </p:nvSpPr>
        <p:spPr>
          <a:xfrm>
            <a:off x="4379976" y="1417320"/>
            <a:ext cx="3520440" cy="310896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4608576" y="1645920"/>
            <a:ext cx="219456" cy="219456"/>
          </a:xfrm>
          <a:prstGeom prst="ellipse">
            <a:avLst/>
          </a:prstGeom>
          <a:solidFill>
            <a:srgbClr val="A9B1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928616" y="1572768"/>
            <a:ext cx="2834640" cy="365760"/>
          </a:xfrm>
          <a:prstGeom prst="rect">
            <a:avLst/>
          </a:prstGeom>
          <a:noFill/>
        </p:spPr>
        <p:txBody>
          <a:bodyPr wrap="square" lIns="0" tIns="0" rIns="0" bIns="0" anchor="t">
            <a:spAutoFit/>
          </a:bodyPr>
          <a:lstStyle/>
          <a:p>
            <a:pPr algn="l"/>
            <a:r>
              <a:rPr sz="1500" b="1" i="0">
                <a:solidFill>
                  <a:srgbClr val="1D1B58"/>
                </a:solidFill>
                <a:latin typeface="Calibri"/>
              </a:rPr>
              <a:t>Low-Value Lapsing</a:t>
            </a:r>
          </a:p>
        </p:txBody>
      </p:sp>
      <p:sp>
        <p:nvSpPr>
          <p:cNvPr id="11" name="TextBox 10"/>
          <p:cNvSpPr txBox="1"/>
          <p:nvPr/>
        </p:nvSpPr>
        <p:spPr>
          <a:xfrm>
            <a:off x="4608576" y="1965960"/>
            <a:ext cx="3108960" cy="365760"/>
          </a:xfrm>
          <a:prstGeom prst="rect">
            <a:avLst/>
          </a:prstGeom>
          <a:noFill/>
        </p:spPr>
        <p:txBody>
          <a:bodyPr wrap="square" lIns="0" tIns="0" rIns="0" bIns="0" anchor="t">
            <a:spAutoFit/>
          </a:bodyPr>
          <a:lstStyle/>
          <a:p>
            <a:pPr algn="l"/>
            <a:r>
              <a:rPr sz="2000" b="1" i="0">
                <a:solidFill>
                  <a:srgbClr val="1D1B58"/>
                </a:solidFill>
                <a:latin typeface="Calibri"/>
              </a:rPr>
              <a:t>Win back cheaply</a:t>
            </a:r>
          </a:p>
        </p:txBody>
      </p:sp>
      <p:sp>
        <p:nvSpPr>
          <p:cNvPr id="12" name="TextBox 11"/>
          <p:cNvSpPr txBox="1"/>
          <p:nvPr/>
        </p:nvSpPr>
        <p:spPr>
          <a:xfrm>
            <a:off x="4608576" y="2468880"/>
            <a:ext cx="3108960" cy="2011680"/>
          </a:xfrm>
          <a:prstGeom prst="rect">
            <a:avLst/>
          </a:prstGeom>
          <a:noFill/>
        </p:spPr>
        <p:txBody>
          <a:bodyPr wrap="square" lIns="0" tIns="0" rIns="0" bIns="0">
            <a:spAutoFit/>
          </a:bodyPr>
          <a:lstStyle/>
          <a:p>
            <a:pPr marL="228600" indent="-228600">
              <a:spcAft>
                <a:spcPts val="600"/>
              </a:spcAft>
              <a:buClr>
                <a:srgbClr val="1B8FE0"/>
              </a:buClr>
              <a:buFont typeface="Arial"/>
              <a:buChar char="•"/>
            </a:pPr>
            <a:r>
              <a:rPr sz="1300" b="0">
                <a:solidFill>
                  <a:srgbClr val="222433"/>
                </a:solidFill>
                <a:latin typeface="Calibri"/>
              </a:rPr>
              <a:t>Automated reactivation emails at 90 / 120 / 180 days since last order</a:t>
            </a:r>
          </a:p>
          <a:p>
            <a:pPr marL="228600" indent="-228600">
              <a:spcAft>
                <a:spcPts val="600"/>
              </a:spcAft>
              <a:buClr>
                <a:srgbClr val="1B8FE0"/>
              </a:buClr>
              <a:buFont typeface="Arial"/>
              <a:buChar char="•"/>
            </a:pPr>
            <a:r>
              <a:rPr sz="1300" b="0">
                <a:solidFill>
                  <a:srgbClr val="222433"/>
                </a:solidFill>
                <a:latin typeface="Calibri"/>
              </a:rPr>
              <a:t>Entry offer on best-selling products to earn the second order</a:t>
            </a:r>
          </a:p>
          <a:p>
            <a:pPr marL="228600" indent="-228600">
              <a:spcAft>
                <a:spcPts val="600"/>
              </a:spcAft>
              <a:buClr>
                <a:srgbClr val="1B8FE0"/>
              </a:buClr>
              <a:buFont typeface="Arial"/>
              <a:buChar char="•"/>
            </a:pPr>
            <a:r>
              <a:rPr sz="1300" b="0">
                <a:solidFill>
                  <a:srgbClr val="222433"/>
                </a:solidFill>
                <a:latin typeface="Calibri"/>
              </a:rPr>
              <a:t>Keep out of costly channels until they re-engage</a:t>
            </a:r>
          </a:p>
        </p:txBody>
      </p:sp>
      <p:sp>
        <p:nvSpPr>
          <p:cNvPr id="13" name="Rounded Rectangle 12"/>
          <p:cNvSpPr/>
          <p:nvPr/>
        </p:nvSpPr>
        <p:spPr>
          <a:xfrm>
            <a:off x="8183879" y="1417320"/>
            <a:ext cx="3337560" cy="1481328"/>
          </a:xfrm>
          <a:prstGeom prst="roundRect">
            <a:avLst>
              <a:gd name="adj" fmla="val 6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80" y="1536192"/>
            <a:ext cx="2926080" cy="274320"/>
          </a:xfrm>
          <a:prstGeom prst="rect">
            <a:avLst/>
          </a:prstGeom>
          <a:noFill/>
        </p:spPr>
        <p:txBody>
          <a:bodyPr wrap="square" lIns="0" tIns="0" rIns="0" bIns="0" anchor="t">
            <a:spAutoFit/>
          </a:bodyPr>
          <a:lstStyle/>
          <a:p>
            <a:pPr algn="l"/>
            <a:r>
              <a:rPr sz="1100" b="1" i="0">
                <a:solidFill>
                  <a:srgbClr val="FFB49C"/>
                </a:solidFill>
                <a:latin typeface="Calibri"/>
              </a:rPr>
              <a:t>AT RISK</a:t>
            </a:r>
          </a:p>
        </p:txBody>
      </p:sp>
      <p:sp>
        <p:nvSpPr>
          <p:cNvPr id="15" name="TextBox 14"/>
          <p:cNvSpPr txBox="1"/>
          <p:nvPr/>
        </p:nvSpPr>
        <p:spPr>
          <a:xfrm>
            <a:off x="8412480" y="1783080"/>
            <a:ext cx="2926080" cy="548640"/>
          </a:xfrm>
          <a:prstGeom prst="rect">
            <a:avLst/>
          </a:prstGeom>
          <a:noFill/>
        </p:spPr>
        <p:txBody>
          <a:bodyPr wrap="square" lIns="0" tIns="0" rIns="0" bIns="0" anchor="t">
            <a:spAutoFit/>
          </a:bodyPr>
          <a:lstStyle/>
          <a:p>
            <a:pPr algn="l"/>
            <a:r>
              <a:rPr sz="3200" b="1" i="0">
                <a:solidFill>
                  <a:srgbClr val="FFFFFF"/>
                </a:solidFill>
                <a:latin typeface="Calibri"/>
              </a:rPr>
              <a:t>≈ £340k</a:t>
            </a:r>
          </a:p>
        </p:txBody>
      </p:sp>
      <p:sp>
        <p:nvSpPr>
          <p:cNvPr id="16" name="TextBox 15"/>
          <p:cNvSpPr txBox="1"/>
          <p:nvPr/>
        </p:nvSpPr>
        <p:spPr>
          <a:xfrm>
            <a:off x="8412480" y="2377440"/>
            <a:ext cx="2971800" cy="502920"/>
          </a:xfrm>
          <a:prstGeom prst="rect">
            <a:avLst/>
          </a:prstGeom>
          <a:noFill/>
        </p:spPr>
        <p:txBody>
          <a:bodyPr wrap="square" lIns="0" tIns="0" rIns="0" bIns="0" anchor="t">
            <a:spAutoFit/>
          </a:bodyPr>
          <a:lstStyle/>
          <a:p>
            <a:pPr algn="l"/>
            <a:r>
              <a:rPr sz="1200" b="0" i="0">
                <a:solidFill>
                  <a:srgbClr val="B9C2E6"/>
                </a:solidFill>
                <a:latin typeface="Calibri"/>
              </a:rPr>
              <a:t>if 5% of High-Value Active (≈83) stop buying</a:t>
            </a:r>
          </a:p>
        </p:txBody>
      </p:sp>
      <p:sp>
        <p:nvSpPr>
          <p:cNvPr id="17" name="Rounded Rectangle 16"/>
          <p:cNvSpPr/>
          <p:nvPr/>
        </p:nvSpPr>
        <p:spPr>
          <a:xfrm>
            <a:off x="8183879" y="3044952"/>
            <a:ext cx="3337560" cy="1481328"/>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12480" y="3163824"/>
            <a:ext cx="2926080" cy="274320"/>
          </a:xfrm>
          <a:prstGeom prst="rect">
            <a:avLst/>
          </a:prstGeom>
          <a:noFill/>
        </p:spPr>
        <p:txBody>
          <a:bodyPr wrap="square" lIns="0" tIns="0" rIns="0" bIns="0" anchor="t">
            <a:spAutoFit/>
          </a:bodyPr>
          <a:lstStyle/>
          <a:p>
            <a:pPr algn="l"/>
            <a:r>
              <a:rPr sz="1100" b="1" i="0">
                <a:solidFill>
                  <a:srgbClr val="1E9E6A"/>
                </a:solidFill>
                <a:latin typeface="Calibri"/>
              </a:rPr>
              <a:t>WIN-BACK UPSIDE</a:t>
            </a:r>
          </a:p>
        </p:txBody>
      </p:sp>
      <p:sp>
        <p:nvSpPr>
          <p:cNvPr id="19" name="TextBox 18"/>
          <p:cNvSpPr txBox="1"/>
          <p:nvPr/>
        </p:nvSpPr>
        <p:spPr>
          <a:xfrm>
            <a:off x="8412480" y="3410712"/>
            <a:ext cx="2926080" cy="548640"/>
          </a:xfrm>
          <a:prstGeom prst="rect">
            <a:avLst/>
          </a:prstGeom>
          <a:noFill/>
        </p:spPr>
        <p:txBody>
          <a:bodyPr wrap="square" lIns="0" tIns="0" rIns="0" bIns="0" anchor="t">
            <a:spAutoFit/>
          </a:bodyPr>
          <a:lstStyle/>
          <a:p>
            <a:pPr algn="l"/>
            <a:r>
              <a:rPr sz="3200" b="1" i="0">
                <a:solidFill>
                  <a:srgbClr val="1D1B58"/>
                </a:solidFill>
                <a:latin typeface="Calibri"/>
              </a:rPr>
              <a:t>≈ £72k</a:t>
            </a:r>
          </a:p>
        </p:txBody>
      </p:sp>
      <p:sp>
        <p:nvSpPr>
          <p:cNvPr id="20" name="TextBox 19"/>
          <p:cNvSpPr txBox="1"/>
          <p:nvPr/>
        </p:nvSpPr>
        <p:spPr>
          <a:xfrm>
            <a:off x="8412480" y="4005072"/>
            <a:ext cx="2971800" cy="502920"/>
          </a:xfrm>
          <a:prstGeom prst="rect">
            <a:avLst/>
          </a:prstGeom>
          <a:noFill/>
        </p:spPr>
        <p:txBody>
          <a:bodyPr wrap="square" lIns="0" tIns="0" rIns="0" bIns="0" anchor="t">
            <a:spAutoFit/>
          </a:bodyPr>
          <a:lstStyle/>
          <a:p>
            <a:pPr algn="l"/>
            <a:r>
              <a:rPr sz="1200" b="0" i="0">
                <a:solidFill>
                  <a:srgbClr val="5B6075"/>
                </a:solidFill>
                <a:latin typeface="Calibri"/>
              </a:rPr>
              <a:t>if 10% of Lapsing (≈265) place one more order at £273</a:t>
            </a:r>
          </a:p>
        </p:txBody>
      </p:sp>
      <p:sp>
        <p:nvSpPr>
          <p:cNvPr id="21" name="TextBox 20"/>
          <p:cNvSpPr txBox="1"/>
          <p:nvPr/>
        </p:nvSpPr>
        <p:spPr>
          <a:xfrm>
            <a:off x="676656" y="4681728"/>
            <a:ext cx="10835640" cy="777240"/>
          </a:xfrm>
          <a:prstGeom prst="rect">
            <a:avLst/>
          </a:prstGeom>
          <a:noFill/>
        </p:spPr>
        <p:txBody>
          <a:bodyPr wrap="square" lIns="0" tIns="0" rIns="0" bIns="0" anchor="t">
            <a:spAutoFit/>
          </a:bodyPr>
          <a:lstStyle/>
          <a:p>
            <a:pPr algn="l"/>
            <a:r>
              <a:rPr sz="1300" b="1" i="0">
                <a:solidFill>
                  <a:srgbClr val="1D1B58"/>
                </a:solidFill>
                <a:latin typeface="Calibri"/>
              </a:rPr>
              <a:t>Test before scaling: </a:t>
            </a:r>
            <a:r>
              <a:rPr sz="1300" b="0" i="0">
                <a:solidFill>
                  <a:srgbClr val="222433"/>
                </a:solidFill>
                <a:latin typeface="Calibri"/>
              </a:rPr>
              <a:t>run each action as an A/B test against a held-out control group and measure incremental revenue.</a:t>
            </a:r>
          </a:p>
          <a:p>
            <a:pPr algn="l"/>
            <a:r>
              <a:rPr sz="1100" b="0" i="1">
                <a:solidFill>
                  <a:srgbClr val="5B6075"/>
                </a:solidFill>
                <a:latin typeface="Calibri"/>
              </a:rPr>
              <a:t>Illustrative sizing from segment averages: at-risk = 5% × 1,665 × £4,083; upside = 10% × 2,649 × £273 average order (£451 ÷ 1.65 orders).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Interactive dashboard deliverable</a:t>
            </a:r>
          </a:p>
        </p:txBody>
      </p:sp>
      <p:pic>
        <p:nvPicPr>
          <p:cNvPr id="3" name="Picture 2" descr="dashboard_screenshot.png"/>
          <p:cNvPicPr>
            <a:picLocks noChangeAspect="1"/>
          </p:cNvPicPr>
          <p:nvPr/>
        </p:nvPicPr>
        <p:blipFill>
          <a:blip r:embed="rId3"/>
          <a:stretch>
            <a:fillRect/>
          </a:stretch>
        </p:blipFill>
        <p:spPr>
          <a:xfrm>
            <a:off x="676656" y="1371600"/>
            <a:ext cx="6510528" cy="4069080"/>
          </a:xfrm>
          <a:prstGeom prst="rect">
            <a:avLst/>
          </a:prstGeom>
          <a:ln w="12700">
            <a:solidFill>
              <a:srgbClr val="D5DBE8"/>
            </a:solidFill>
          </a:ln>
        </p:spPr>
      </p:pic>
      <p:sp>
        <p:nvSpPr>
          <p:cNvPr id="4" name="Oval 3"/>
          <p:cNvSpPr/>
          <p:nvPr/>
        </p:nvSpPr>
        <p:spPr>
          <a:xfrm>
            <a:off x="7552944" y="1463040"/>
            <a:ext cx="411480" cy="41148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1</a:t>
            </a:r>
          </a:p>
        </p:txBody>
      </p:sp>
      <p:sp>
        <p:nvSpPr>
          <p:cNvPr id="5" name="TextBox 4"/>
          <p:cNvSpPr txBox="1"/>
          <p:nvPr/>
        </p:nvSpPr>
        <p:spPr>
          <a:xfrm>
            <a:off x="8147304" y="1417320"/>
            <a:ext cx="3374136" cy="320040"/>
          </a:xfrm>
          <a:prstGeom prst="rect">
            <a:avLst/>
          </a:prstGeom>
          <a:noFill/>
        </p:spPr>
        <p:txBody>
          <a:bodyPr wrap="square" lIns="0" tIns="0" rIns="0" bIns="0" anchor="t">
            <a:spAutoFit/>
          </a:bodyPr>
          <a:lstStyle/>
          <a:p>
            <a:pPr algn="l"/>
            <a:r>
              <a:rPr sz="1500" b="1" i="0">
                <a:solidFill>
                  <a:srgbClr val="1D1B58"/>
                </a:solidFill>
                <a:latin typeface="Calibri"/>
              </a:rPr>
              <a:t>Overview</a:t>
            </a:r>
          </a:p>
        </p:txBody>
      </p:sp>
      <p:sp>
        <p:nvSpPr>
          <p:cNvPr id="6" name="TextBox 5"/>
          <p:cNvSpPr txBox="1"/>
          <p:nvPr/>
        </p:nvSpPr>
        <p:spPr>
          <a:xfrm>
            <a:off x="8147304" y="1728216"/>
            <a:ext cx="3374136" cy="502920"/>
          </a:xfrm>
          <a:prstGeom prst="rect">
            <a:avLst/>
          </a:prstGeom>
          <a:noFill/>
        </p:spPr>
        <p:txBody>
          <a:bodyPr wrap="square" lIns="0" tIns="0" rIns="0" bIns="0" anchor="t">
            <a:spAutoFit/>
          </a:bodyPr>
          <a:lstStyle/>
          <a:p>
            <a:pPr algn="l"/>
            <a:r>
              <a:rPr sz="1200" b="0" i="0">
                <a:solidFill>
                  <a:srgbClr val="5B6075"/>
                </a:solidFill>
                <a:latin typeface="Calibri"/>
              </a:rPr>
              <a:t>KPIs, monthly sales, spend distribution, countries</a:t>
            </a:r>
          </a:p>
        </p:txBody>
      </p:sp>
      <p:sp>
        <p:nvSpPr>
          <p:cNvPr id="7" name="Oval 6"/>
          <p:cNvSpPr/>
          <p:nvPr/>
        </p:nvSpPr>
        <p:spPr>
          <a:xfrm>
            <a:off x="7552944" y="2331720"/>
            <a:ext cx="411480" cy="41148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2</a:t>
            </a:r>
          </a:p>
        </p:txBody>
      </p:sp>
      <p:sp>
        <p:nvSpPr>
          <p:cNvPr id="8" name="TextBox 7"/>
          <p:cNvSpPr txBox="1"/>
          <p:nvPr/>
        </p:nvSpPr>
        <p:spPr>
          <a:xfrm>
            <a:off x="8147304" y="2286000"/>
            <a:ext cx="3374136" cy="320040"/>
          </a:xfrm>
          <a:prstGeom prst="rect">
            <a:avLst/>
          </a:prstGeom>
          <a:noFill/>
        </p:spPr>
        <p:txBody>
          <a:bodyPr wrap="square" lIns="0" tIns="0" rIns="0" bIns="0" anchor="t">
            <a:spAutoFit/>
          </a:bodyPr>
          <a:lstStyle/>
          <a:p>
            <a:pPr algn="l"/>
            <a:r>
              <a:rPr sz="1500" b="1" i="0">
                <a:solidFill>
                  <a:srgbClr val="1D1B58"/>
                </a:solidFill>
                <a:latin typeface="Calibri"/>
              </a:rPr>
              <a:t>Segments</a:t>
            </a:r>
          </a:p>
        </p:txBody>
      </p:sp>
      <p:sp>
        <p:nvSpPr>
          <p:cNvPr id="9" name="TextBox 8"/>
          <p:cNvSpPr txBox="1"/>
          <p:nvPr/>
        </p:nvSpPr>
        <p:spPr>
          <a:xfrm>
            <a:off x="8147304" y="2596896"/>
            <a:ext cx="3374136" cy="502920"/>
          </a:xfrm>
          <a:prstGeom prst="rect">
            <a:avLst/>
          </a:prstGeom>
          <a:noFill/>
        </p:spPr>
        <p:txBody>
          <a:bodyPr wrap="square" lIns="0" tIns="0" rIns="0" bIns="0" anchor="t">
            <a:spAutoFit/>
          </a:bodyPr>
          <a:lstStyle/>
          <a:p>
            <a:pPr algn="l"/>
            <a:r>
              <a:rPr sz="1200" b="0" i="0">
                <a:solidFill>
                  <a:srgbClr val="5B6075"/>
                </a:solidFill>
                <a:latin typeface="Calibri"/>
              </a:rPr>
              <a:t>Cluster sizes and RFM profile by segment</a:t>
            </a:r>
          </a:p>
        </p:txBody>
      </p:sp>
      <p:sp>
        <p:nvSpPr>
          <p:cNvPr id="10" name="Oval 9"/>
          <p:cNvSpPr/>
          <p:nvPr/>
        </p:nvSpPr>
        <p:spPr>
          <a:xfrm>
            <a:off x="7552944" y="3200400"/>
            <a:ext cx="411480" cy="41148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3</a:t>
            </a:r>
          </a:p>
        </p:txBody>
      </p:sp>
      <p:sp>
        <p:nvSpPr>
          <p:cNvPr id="11" name="TextBox 10"/>
          <p:cNvSpPr txBox="1"/>
          <p:nvPr/>
        </p:nvSpPr>
        <p:spPr>
          <a:xfrm>
            <a:off x="8147304" y="3154680"/>
            <a:ext cx="3374136" cy="320040"/>
          </a:xfrm>
          <a:prstGeom prst="rect">
            <a:avLst/>
          </a:prstGeom>
          <a:noFill/>
        </p:spPr>
        <p:txBody>
          <a:bodyPr wrap="square" lIns="0" tIns="0" rIns="0" bIns="0" anchor="t">
            <a:spAutoFit/>
          </a:bodyPr>
          <a:lstStyle/>
          <a:p>
            <a:pPr algn="l"/>
            <a:r>
              <a:rPr sz="1500" b="1" i="0">
                <a:solidFill>
                  <a:srgbClr val="1D1B58"/>
                </a:solidFill>
                <a:latin typeface="Calibri"/>
              </a:rPr>
              <a:t>Model review</a:t>
            </a:r>
          </a:p>
        </p:txBody>
      </p:sp>
      <p:sp>
        <p:nvSpPr>
          <p:cNvPr id="12" name="TextBox 11"/>
          <p:cNvSpPr txBox="1"/>
          <p:nvPr/>
        </p:nvSpPr>
        <p:spPr>
          <a:xfrm>
            <a:off x="8147304" y="3465576"/>
            <a:ext cx="3374136" cy="502920"/>
          </a:xfrm>
          <a:prstGeom prst="rect">
            <a:avLst/>
          </a:prstGeom>
          <a:noFill/>
        </p:spPr>
        <p:txBody>
          <a:bodyPr wrap="square" lIns="0" tIns="0" rIns="0" bIns="0" anchor="t">
            <a:spAutoFit/>
          </a:bodyPr>
          <a:lstStyle/>
          <a:p>
            <a:pPr algn="l"/>
            <a:r>
              <a:rPr sz="1200" b="0" i="0">
                <a:solidFill>
                  <a:srgbClr val="5B6075"/>
                </a:solidFill>
                <a:latin typeface="Calibri"/>
              </a:rPr>
              <a:t>k selection, confusion matrix, label accuracy</a:t>
            </a:r>
          </a:p>
        </p:txBody>
      </p:sp>
      <p:sp>
        <p:nvSpPr>
          <p:cNvPr id="13" name="Oval 12"/>
          <p:cNvSpPr/>
          <p:nvPr/>
        </p:nvSpPr>
        <p:spPr>
          <a:xfrm>
            <a:off x="7552944" y="4069079"/>
            <a:ext cx="411480" cy="41148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4</a:t>
            </a:r>
          </a:p>
        </p:txBody>
      </p:sp>
      <p:sp>
        <p:nvSpPr>
          <p:cNvPr id="14" name="TextBox 13"/>
          <p:cNvSpPr txBox="1"/>
          <p:nvPr/>
        </p:nvSpPr>
        <p:spPr>
          <a:xfrm>
            <a:off x="8147304" y="4023359"/>
            <a:ext cx="3374136" cy="320040"/>
          </a:xfrm>
          <a:prstGeom prst="rect">
            <a:avLst/>
          </a:prstGeom>
          <a:noFill/>
        </p:spPr>
        <p:txBody>
          <a:bodyPr wrap="square" lIns="0" tIns="0" rIns="0" bIns="0" anchor="t">
            <a:spAutoFit/>
          </a:bodyPr>
          <a:lstStyle/>
          <a:p>
            <a:pPr algn="l"/>
            <a:r>
              <a:rPr sz="1500" b="1" i="0">
                <a:solidFill>
                  <a:srgbClr val="1D1B58"/>
                </a:solidFill>
                <a:latin typeface="Calibri"/>
              </a:rPr>
              <a:t>Method &amp; notes</a:t>
            </a:r>
          </a:p>
        </p:txBody>
      </p:sp>
      <p:sp>
        <p:nvSpPr>
          <p:cNvPr id="15" name="TextBox 14"/>
          <p:cNvSpPr txBox="1"/>
          <p:nvPr/>
        </p:nvSpPr>
        <p:spPr>
          <a:xfrm>
            <a:off x="8147304" y="4334255"/>
            <a:ext cx="3374136" cy="502920"/>
          </a:xfrm>
          <a:prstGeom prst="rect">
            <a:avLst/>
          </a:prstGeom>
          <a:noFill/>
        </p:spPr>
        <p:txBody>
          <a:bodyPr wrap="square" lIns="0" tIns="0" rIns="0" bIns="0" anchor="t">
            <a:spAutoFit/>
          </a:bodyPr>
          <a:lstStyle/>
          <a:p>
            <a:pPr algn="l"/>
            <a:r>
              <a:rPr sz="1200" b="0" i="0">
                <a:solidFill>
                  <a:srgbClr val="5B6075"/>
                </a:solidFill>
                <a:latin typeface="Calibri"/>
              </a:rPr>
              <a:t>Pipeline, caveats, how to read the scores</a:t>
            </a:r>
          </a:p>
        </p:txBody>
      </p:sp>
      <p:sp>
        <p:nvSpPr>
          <p:cNvPr id="16" name="TextBox 15"/>
          <p:cNvSpPr txBox="1"/>
          <p:nvPr/>
        </p:nvSpPr>
        <p:spPr>
          <a:xfrm>
            <a:off x="7552944" y="4937760"/>
            <a:ext cx="3968496" cy="502920"/>
          </a:xfrm>
          <a:prstGeom prst="rect">
            <a:avLst/>
          </a:prstGeom>
          <a:noFill/>
        </p:spPr>
        <p:txBody>
          <a:bodyPr wrap="square" lIns="0" tIns="0" rIns="0" bIns="0" anchor="t">
            <a:spAutoFit/>
          </a:bodyPr>
          <a:lstStyle/>
          <a:p>
            <a:pPr algn="l"/>
            <a:r>
              <a:rPr sz="1200" b="0" i="1">
                <a:solidFill>
                  <a:srgbClr val="5B6075"/>
                </a:solidFill>
                <a:latin typeface="Calibri"/>
              </a:rPr>
              <a:t>Reads the pipeline's JSON output: re-run main.py and refresh.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 and next steps</a:t>
            </a:r>
          </a:p>
        </p:txBody>
      </p:sp>
      <p:sp>
        <p:nvSpPr>
          <p:cNvPr id="3" name="Rounded Rectangle 2"/>
          <p:cNvSpPr/>
          <p:nvPr/>
        </p:nvSpPr>
        <p:spPr>
          <a:xfrm>
            <a:off x="676656" y="1417320"/>
            <a:ext cx="5029200" cy="402336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914400" y="1600200"/>
            <a:ext cx="4572000" cy="365760"/>
          </a:xfrm>
          <a:prstGeom prst="rect">
            <a:avLst/>
          </a:prstGeom>
          <a:noFill/>
        </p:spPr>
        <p:txBody>
          <a:bodyPr wrap="square" lIns="0" tIns="0" rIns="0" bIns="0" anchor="t">
            <a:spAutoFit/>
          </a:bodyPr>
          <a:lstStyle/>
          <a:p>
            <a:pPr algn="l"/>
            <a:r>
              <a:rPr sz="1800" b="1" i="0">
                <a:solidFill>
                  <a:srgbClr val="1D1B58"/>
                </a:solidFill>
                <a:latin typeface="Calibri"/>
              </a:rPr>
              <a:t>Limitations</a:t>
            </a:r>
          </a:p>
        </p:txBody>
      </p:sp>
      <p:sp>
        <p:nvSpPr>
          <p:cNvPr id="5" name="TextBox 4"/>
          <p:cNvSpPr txBox="1"/>
          <p:nvPr/>
        </p:nvSpPr>
        <p:spPr>
          <a:xfrm>
            <a:off x="914400" y="2103120"/>
            <a:ext cx="4572000" cy="3200400"/>
          </a:xfrm>
          <a:prstGeom prst="rect">
            <a:avLst/>
          </a:prstGeom>
          <a:noFill/>
        </p:spPr>
        <p:txBody>
          <a:bodyPr wrap="square" lIns="0" tIns="0" rIns="0" bIns="0">
            <a:spAutoFit/>
          </a:bodyPr>
          <a:lstStyle/>
          <a:p>
            <a:pPr marL="228600" indent="-228600">
              <a:spcAft>
                <a:spcPts val="1000"/>
              </a:spcAft>
              <a:buClr>
                <a:srgbClr val="A9B1C6"/>
              </a:buClr>
              <a:buFont typeface="Arial"/>
              <a:buChar char="•"/>
            </a:pPr>
            <a:r>
              <a:rPr sz="1600" b="0">
                <a:solidFill>
                  <a:srgbClr val="222433"/>
                </a:solidFill>
                <a:latin typeface="Calibri"/>
              </a:rPr>
              <a:t>Retrospective: describes past behaviour; it does not forecast it</a:t>
            </a:r>
          </a:p>
          <a:p>
            <a:pPr marL="228600" indent="-228600">
              <a:spcAft>
                <a:spcPts val="1000"/>
              </a:spcAft>
              <a:buClr>
                <a:srgbClr val="A9B1C6"/>
              </a:buClr>
              <a:buFont typeface="Arial"/>
              <a:buChar char="•"/>
            </a:pPr>
            <a:r>
              <a:rPr sz="1600" b="0">
                <a:solidFill>
                  <a:srgbClr val="222433"/>
                </a:solidFill>
                <a:latin typeface="Calibri"/>
              </a:rPr>
              <a:t>Two segments are coarse for campaign planning</a:t>
            </a:r>
          </a:p>
          <a:p>
            <a:pPr marL="228600" indent="-228600">
              <a:spcAft>
                <a:spcPts val="1000"/>
              </a:spcAft>
              <a:buClr>
                <a:srgbClr val="A9B1C6"/>
              </a:buClr>
              <a:buFont typeface="Arial"/>
              <a:buChar char="•"/>
            </a:pPr>
            <a:r>
              <a:rPr sz="1600" b="0">
                <a:solidFill>
                  <a:srgbClr val="222433"/>
                </a:solidFill>
                <a:latin typeface="Calibri"/>
              </a:rPr>
              <a:t>Classifier reproduces K-means labels (circular target)</a:t>
            </a:r>
          </a:p>
          <a:p>
            <a:pPr marL="228600" indent="-228600">
              <a:spcAft>
                <a:spcPts val="1000"/>
              </a:spcAft>
              <a:buClr>
                <a:srgbClr val="A9B1C6"/>
              </a:buClr>
              <a:buFont typeface="Arial"/>
              <a:buChar char="•"/>
            </a:pPr>
            <a:r>
              <a:rPr sz="1600" b="0">
                <a:solidFill>
                  <a:srgbClr val="222433"/>
                </a:solidFill>
                <a:latin typeface="Calibri"/>
              </a:rPr>
              <a:t>One year of data, ~89% UK; wholesale buyers mixed with consumers</a:t>
            </a:r>
          </a:p>
          <a:p>
            <a:pPr marL="228600" indent="-228600">
              <a:spcAft>
                <a:spcPts val="1000"/>
              </a:spcAft>
              <a:buClr>
                <a:srgbClr val="A9B1C6"/>
              </a:buClr>
              <a:buFont typeface="Arial"/>
              <a:buChar char="•"/>
            </a:pPr>
            <a:r>
              <a:rPr sz="1600" b="0">
                <a:solidFill>
                  <a:srgbClr val="222433"/>
                </a:solidFill>
                <a:latin typeface="Calibri"/>
              </a:rPr>
              <a:t>RFM only: no product, basket or channel features</a:t>
            </a:r>
          </a:p>
        </p:txBody>
      </p:sp>
      <p:sp>
        <p:nvSpPr>
          <p:cNvPr id="6" name="Right Arrow 5"/>
          <p:cNvSpPr/>
          <p:nvPr/>
        </p:nvSpPr>
        <p:spPr>
          <a:xfrm>
            <a:off x="5833872" y="3154680"/>
            <a:ext cx="457200" cy="457200"/>
          </a:xfrm>
          <a:prstGeom prst="rightArrow">
            <a:avLst/>
          </a:prstGeom>
          <a:solidFill>
            <a:srgbClr val="1B8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46520" y="1417320"/>
            <a:ext cx="5074920" cy="4023360"/>
          </a:xfrm>
          <a:prstGeom prst="roundRect">
            <a:avLst>
              <a:gd name="adj" fmla="val 6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675120" y="1600200"/>
            <a:ext cx="4572000" cy="365760"/>
          </a:xfrm>
          <a:prstGeom prst="rect">
            <a:avLst/>
          </a:prstGeom>
          <a:noFill/>
        </p:spPr>
        <p:txBody>
          <a:bodyPr wrap="square" lIns="0" tIns="0" rIns="0" bIns="0" anchor="t">
            <a:spAutoFit/>
          </a:bodyPr>
          <a:lstStyle/>
          <a:p>
            <a:pPr algn="l"/>
            <a:r>
              <a:rPr sz="1800" b="1" i="0">
                <a:solidFill>
                  <a:srgbClr val="FFFFFF"/>
                </a:solidFill>
                <a:latin typeface="Calibri"/>
              </a:rPr>
              <a:t>Next steps</a:t>
            </a:r>
          </a:p>
        </p:txBody>
      </p:sp>
      <p:sp>
        <p:nvSpPr>
          <p:cNvPr id="9" name="TextBox 8"/>
          <p:cNvSpPr txBox="1"/>
          <p:nvPr/>
        </p:nvSpPr>
        <p:spPr>
          <a:xfrm>
            <a:off x="6675120" y="2103120"/>
            <a:ext cx="4617720" cy="3200400"/>
          </a:xfrm>
          <a:prstGeom prst="rect">
            <a:avLst/>
          </a:prstGeom>
          <a:noFill/>
        </p:spPr>
        <p:txBody>
          <a:bodyPr wrap="square" lIns="0" tIns="0" rIns="0" bIns="0">
            <a:spAutoFit/>
          </a:bodyPr>
          <a:lstStyle/>
          <a:p>
            <a:pPr marL="228600" indent="-228600">
              <a:spcAft>
                <a:spcPts val="1000"/>
              </a:spcAft>
              <a:buClr>
                <a:srgbClr val="7FB8EA"/>
              </a:buClr>
              <a:buFont typeface="Arial"/>
              <a:buChar char="•"/>
            </a:pPr>
            <a:r>
              <a:rPr sz="1600" b="0">
                <a:solidFill>
                  <a:srgbClr val="FFFFFF"/>
                </a:solidFill>
                <a:latin typeface="Calibri"/>
              </a:rPr>
              <a:t>Time-split repurchase model: RFM before a cutoff, predict the next 90 days (FAQ 7)</a:t>
            </a:r>
          </a:p>
          <a:p>
            <a:pPr marL="228600" indent="-228600">
              <a:spcAft>
                <a:spcPts val="1000"/>
              </a:spcAft>
              <a:buClr>
                <a:srgbClr val="7FB8EA"/>
              </a:buClr>
              <a:buFont typeface="Arial"/>
              <a:buChar char="•"/>
            </a:pPr>
            <a:r>
              <a:rPr sz="1600" b="0">
                <a:solidFill>
                  <a:srgbClr val="FFFFFF"/>
                </a:solidFill>
                <a:latin typeface="Calibri"/>
              </a:rPr>
              <a:t>Offer k = 4 as an operational sub-segmentation (FAQ 3)</a:t>
            </a:r>
          </a:p>
          <a:p>
            <a:pPr marL="228600" indent="-228600">
              <a:spcAft>
                <a:spcPts val="1000"/>
              </a:spcAft>
              <a:buClr>
                <a:srgbClr val="7FB8EA"/>
              </a:buClr>
              <a:buFont typeface="Arial"/>
              <a:buChar char="•"/>
            </a:pPr>
            <a:r>
              <a:rPr sz="1600" b="0">
                <a:solidFill>
                  <a:srgbClr val="FFFFFF"/>
                </a:solidFill>
                <a:latin typeface="Calibri"/>
              </a:rPr>
              <a:t>Validate segment names and actions with marketing stakeholders</a:t>
            </a:r>
          </a:p>
          <a:p>
            <a:pPr marL="228600" indent="-228600">
              <a:spcAft>
                <a:spcPts val="1000"/>
              </a:spcAft>
              <a:buClr>
                <a:srgbClr val="7FB8EA"/>
              </a:buClr>
              <a:buFont typeface="Arial"/>
              <a:buChar char="•"/>
            </a:pPr>
            <a:r>
              <a:rPr sz="1600" b="0">
                <a:solidFill>
                  <a:srgbClr val="FFFFFF"/>
                </a:solidFill>
                <a:latin typeface="Calibri"/>
              </a:rPr>
              <a:t>Add category mix, basket size, tenure and returns features</a:t>
            </a:r>
          </a:p>
          <a:p>
            <a:pPr marL="228600" indent="-228600">
              <a:spcAft>
                <a:spcPts val="1000"/>
              </a:spcAft>
              <a:buClr>
                <a:srgbClr val="7FB8EA"/>
              </a:buClr>
              <a:buFont typeface="Arial"/>
              <a:buChar char="•"/>
            </a:pPr>
            <a:r>
              <a:rPr sz="1600" b="0">
                <a:solidFill>
                  <a:srgbClr val="FFFFFF"/>
                </a:solidFill>
                <a:latin typeface="Calibri"/>
              </a:rPr>
              <a:t>Persist scaler + model and A/B-test the campaigns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 anticipated questions</a:t>
            </a:r>
          </a:p>
        </p:txBody>
      </p:sp>
      <p:sp>
        <p:nvSpPr>
          <p:cNvPr id="3" name="TextBox 2"/>
          <p:cNvSpPr txBox="1"/>
          <p:nvPr/>
        </p:nvSpPr>
        <p:spPr>
          <a:xfrm>
            <a:off x="731520" y="4617720"/>
            <a:ext cx="10515600" cy="457200"/>
          </a:xfrm>
          <a:prstGeom prst="rect">
            <a:avLst/>
          </a:prstGeom>
          <a:noFill/>
        </p:spPr>
        <p:txBody>
          <a:bodyPr wrap="square" lIns="0" tIns="0" rIns="0" bIns="0" anchor="t">
            <a:spAutoFit/>
          </a:bodyPr>
          <a:lstStyle/>
          <a:p>
            <a:pPr algn="l"/>
            <a:r>
              <a:rPr sz="1600" b="0" i="0">
                <a:solidFill>
                  <a:srgbClr val="5B6075"/>
                </a:solidFill>
                <a:latin typeface="Calibri"/>
              </a:rPr>
              <a:t>Backup slides for methodology deep-dives · FAQ 1–9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FAQ index</a:t>
            </a:r>
          </a:p>
        </p:txBody>
      </p:sp>
      <p:sp>
        <p:nvSpPr>
          <p:cNvPr id="3" name="Rounded Rectangle 2">
            <a:hlinkClick r:id="rId3" action="ppaction://hlinksldjump"/>
          </p:cNvPr>
          <p:cNvSpPr/>
          <p:nvPr/>
        </p:nvSpPr>
        <p:spPr>
          <a:xfrm>
            <a:off x="676656" y="141732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a:hlinkClick r:id="rId3" action="ppaction://hlinksldjump"/>
          </p:cNvPr>
          <p:cNvSpPr/>
          <p:nvPr/>
        </p:nvSpPr>
        <p:spPr>
          <a:xfrm>
            <a:off x="859536" y="173736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1</a:t>
            </a:r>
          </a:p>
        </p:txBody>
      </p:sp>
      <p:sp>
        <p:nvSpPr>
          <p:cNvPr id="5" name="TextBox 4">
            <a:hlinkClick r:id="rId3" action="ppaction://hlinksldjump"/>
          </p:cNvPr>
          <p:cNvSpPr txBox="1"/>
          <p:nvPr/>
        </p:nvSpPr>
        <p:spPr>
          <a:xfrm>
            <a:off x="1545336" y="1508760"/>
            <a:ext cx="2468880" cy="960120"/>
          </a:xfrm>
          <a:prstGeom prst="rect">
            <a:avLst/>
          </a:prstGeom>
          <a:noFill/>
        </p:spPr>
        <p:txBody>
          <a:bodyPr wrap="square" lIns="0" tIns="0" rIns="0" bIns="0" anchor="ctr">
            <a:spAutoFit/>
          </a:bodyPr>
          <a:lstStyle/>
          <a:p>
            <a:pPr algn="l"/>
            <a:r>
              <a:rPr sz="1300" b="1" i="0">
                <a:solidFill>
                  <a:srgbClr val="1D1B58"/>
                </a:solidFill>
                <a:latin typeface="Calibri"/>
              </a:rPr>
              <a:t>Why log-transform and then standardise RFM?</a:t>
            </a:r>
          </a:p>
        </p:txBody>
      </p:sp>
      <p:sp>
        <p:nvSpPr>
          <p:cNvPr id="6" name="Rounded Rectangle 5">
            <a:hlinkClick r:id="rId4" action="ppaction://hlinksldjump"/>
          </p:cNvPr>
          <p:cNvSpPr/>
          <p:nvPr/>
        </p:nvSpPr>
        <p:spPr>
          <a:xfrm>
            <a:off x="4334256" y="141732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a:hlinkClick r:id="rId4" action="ppaction://hlinksldjump"/>
          </p:cNvPr>
          <p:cNvSpPr/>
          <p:nvPr/>
        </p:nvSpPr>
        <p:spPr>
          <a:xfrm>
            <a:off x="4517136" y="173736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2</a:t>
            </a:r>
          </a:p>
        </p:txBody>
      </p:sp>
      <p:sp>
        <p:nvSpPr>
          <p:cNvPr id="8" name="TextBox 7">
            <a:hlinkClick r:id="rId4" action="ppaction://hlinksldjump"/>
          </p:cNvPr>
          <p:cNvSpPr txBox="1"/>
          <p:nvPr/>
        </p:nvSpPr>
        <p:spPr>
          <a:xfrm>
            <a:off x="5202936" y="1508760"/>
            <a:ext cx="2468880" cy="960120"/>
          </a:xfrm>
          <a:prstGeom prst="rect">
            <a:avLst/>
          </a:prstGeom>
          <a:noFill/>
        </p:spPr>
        <p:txBody>
          <a:bodyPr wrap="square" lIns="0" tIns="0" rIns="0" bIns="0" anchor="ctr">
            <a:spAutoFit/>
          </a:bodyPr>
          <a:lstStyle/>
          <a:p>
            <a:pPr algn="l"/>
            <a:r>
              <a:rPr sz="1300" b="1" i="0">
                <a:solidFill>
                  <a:srgbClr val="1D1B58"/>
                </a:solidFill>
                <a:latin typeface="Calibri"/>
              </a:rPr>
              <a:t>Why only two segments?</a:t>
            </a:r>
          </a:p>
        </p:txBody>
      </p:sp>
      <p:sp>
        <p:nvSpPr>
          <p:cNvPr id="9" name="Rounded Rectangle 8">
            <a:hlinkClick r:id="rId5" action="ppaction://hlinksldjump"/>
          </p:cNvPr>
          <p:cNvSpPr/>
          <p:nvPr/>
        </p:nvSpPr>
        <p:spPr>
          <a:xfrm>
            <a:off x="7991856" y="141732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a:hlinkClick r:id="rId5" action="ppaction://hlinksldjump"/>
          </p:cNvPr>
          <p:cNvSpPr/>
          <p:nvPr/>
        </p:nvSpPr>
        <p:spPr>
          <a:xfrm>
            <a:off x="8174736" y="173736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3</a:t>
            </a:r>
          </a:p>
        </p:txBody>
      </p:sp>
      <p:sp>
        <p:nvSpPr>
          <p:cNvPr id="11" name="TextBox 10">
            <a:hlinkClick r:id="rId5" action="ppaction://hlinksldjump"/>
          </p:cNvPr>
          <p:cNvSpPr txBox="1"/>
          <p:nvPr/>
        </p:nvSpPr>
        <p:spPr>
          <a:xfrm>
            <a:off x="8860536" y="1508760"/>
            <a:ext cx="2468880" cy="960120"/>
          </a:xfrm>
          <a:prstGeom prst="rect">
            <a:avLst/>
          </a:prstGeom>
          <a:noFill/>
        </p:spPr>
        <p:txBody>
          <a:bodyPr wrap="square" lIns="0" tIns="0" rIns="0" bIns="0" anchor="ctr">
            <a:spAutoFit/>
          </a:bodyPr>
          <a:lstStyle/>
          <a:p>
            <a:pPr algn="l"/>
            <a:r>
              <a:rPr sz="1300" b="1" i="0">
                <a:solidFill>
                  <a:srgbClr val="1D1B58"/>
                </a:solidFill>
                <a:latin typeface="Calibri"/>
              </a:rPr>
              <a:t>What would k = 4 look like?</a:t>
            </a:r>
          </a:p>
        </p:txBody>
      </p:sp>
      <p:sp>
        <p:nvSpPr>
          <p:cNvPr id="12" name="Rounded Rectangle 11">
            <a:hlinkClick r:id="rId6" action="ppaction://hlinksldjump"/>
          </p:cNvPr>
          <p:cNvSpPr/>
          <p:nvPr/>
        </p:nvSpPr>
        <p:spPr>
          <a:xfrm>
            <a:off x="676656" y="274320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a:hlinkClick r:id="rId6" action="ppaction://hlinksldjump"/>
          </p:cNvPr>
          <p:cNvSpPr/>
          <p:nvPr/>
        </p:nvSpPr>
        <p:spPr>
          <a:xfrm>
            <a:off x="859536" y="306324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4</a:t>
            </a:r>
          </a:p>
        </p:txBody>
      </p:sp>
      <p:sp>
        <p:nvSpPr>
          <p:cNvPr id="14" name="TextBox 13">
            <a:hlinkClick r:id="rId6" action="ppaction://hlinksldjump"/>
          </p:cNvPr>
          <p:cNvSpPr txBox="1"/>
          <p:nvPr/>
        </p:nvSpPr>
        <p:spPr>
          <a:xfrm>
            <a:off x="1545336" y="2834640"/>
            <a:ext cx="2468880" cy="960120"/>
          </a:xfrm>
          <a:prstGeom prst="rect">
            <a:avLst/>
          </a:prstGeom>
          <a:noFill/>
        </p:spPr>
        <p:txBody>
          <a:bodyPr wrap="square" lIns="0" tIns="0" rIns="0" bIns="0" anchor="ctr">
            <a:spAutoFit/>
          </a:bodyPr>
          <a:lstStyle/>
          <a:p>
            <a:pPr algn="l"/>
            <a:r>
              <a:rPr sz="1300" b="1" i="0">
                <a:solidFill>
                  <a:srgbClr val="1D1B58"/>
                </a:solidFill>
                <a:latin typeface="Calibri"/>
              </a:rPr>
              <a:t>Why did DBSCAN and hierarchical do worse?</a:t>
            </a:r>
          </a:p>
        </p:txBody>
      </p:sp>
      <p:sp>
        <p:nvSpPr>
          <p:cNvPr id="15" name="Rounded Rectangle 14">
            <a:hlinkClick r:id="rId7" action="ppaction://hlinksldjump"/>
          </p:cNvPr>
          <p:cNvSpPr/>
          <p:nvPr/>
        </p:nvSpPr>
        <p:spPr>
          <a:xfrm>
            <a:off x="4334256" y="274320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a:hlinkClick r:id="rId7" action="ppaction://hlinksldjump"/>
          </p:cNvPr>
          <p:cNvSpPr/>
          <p:nvPr/>
        </p:nvSpPr>
        <p:spPr>
          <a:xfrm>
            <a:off x="4517136" y="306324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5</a:t>
            </a:r>
          </a:p>
        </p:txBody>
      </p:sp>
      <p:sp>
        <p:nvSpPr>
          <p:cNvPr id="17" name="TextBox 16">
            <a:hlinkClick r:id="rId7" action="ppaction://hlinksldjump"/>
          </p:cNvPr>
          <p:cNvSpPr txBox="1"/>
          <p:nvPr/>
        </p:nvSpPr>
        <p:spPr>
          <a:xfrm>
            <a:off x="5202936" y="2834640"/>
            <a:ext cx="2468880" cy="960120"/>
          </a:xfrm>
          <a:prstGeom prst="rect">
            <a:avLst/>
          </a:prstGeom>
          <a:noFill/>
        </p:spPr>
        <p:txBody>
          <a:bodyPr wrap="square" lIns="0" tIns="0" rIns="0" bIns="0" anchor="ctr">
            <a:spAutoFit/>
          </a:bodyPr>
          <a:lstStyle/>
          <a:p>
            <a:pPr algn="l"/>
            <a:r>
              <a:rPr sz="1300" b="1" i="0">
                <a:solidFill>
                  <a:srgbClr val="1D1B58"/>
                </a:solidFill>
                <a:latin typeface="Calibri"/>
              </a:rPr>
              <a:t>What did cleaning remove, step by step?</a:t>
            </a:r>
          </a:p>
        </p:txBody>
      </p:sp>
      <p:sp>
        <p:nvSpPr>
          <p:cNvPr id="18" name="Rounded Rectangle 17">
            <a:hlinkClick r:id="rId8" action="ppaction://hlinksldjump"/>
          </p:cNvPr>
          <p:cNvSpPr/>
          <p:nvPr/>
        </p:nvSpPr>
        <p:spPr>
          <a:xfrm>
            <a:off x="7991856" y="274320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a:hlinkClick r:id="rId8" action="ppaction://hlinksldjump"/>
          </p:cNvPr>
          <p:cNvSpPr/>
          <p:nvPr/>
        </p:nvSpPr>
        <p:spPr>
          <a:xfrm>
            <a:off x="8174736" y="306324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6</a:t>
            </a:r>
          </a:p>
        </p:txBody>
      </p:sp>
      <p:sp>
        <p:nvSpPr>
          <p:cNvPr id="20" name="TextBox 19">
            <a:hlinkClick r:id="rId8" action="ppaction://hlinksldjump"/>
          </p:cNvPr>
          <p:cNvSpPr txBox="1"/>
          <p:nvPr/>
        </p:nvSpPr>
        <p:spPr>
          <a:xfrm>
            <a:off x="8860536" y="2834640"/>
            <a:ext cx="2468880" cy="960120"/>
          </a:xfrm>
          <a:prstGeom prst="rect">
            <a:avLst/>
          </a:prstGeom>
          <a:noFill/>
        </p:spPr>
        <p:txBody>
          <a:bodyPr wrap="square" lIns="0" tIns="0" rIns="0" bIns="0" anchor="ctr">
            <a:spAutoFit/>
          </a:bodyPr>
          <a:lstStyle/>
          <a:p>
            <a:pPr algn="l"/>
            <a:r>
              <a:rPr sz="1300" b="1" i="0">
                <a:solidFill>
                  <a:srgbClr val="1D1B58"/>
                </a:solidFill>
                <a:latin typeface="Calibri"/>
              </a:rPr>
              <a:t>Isn't 99% accuracy a sign of leakage?</a:t>
            </a:r>
          </a:p>
        </p:txBody>
      </p:sp>
      <p:sp>
        <p:nvSpPr>
          <p:cNvPr id="21" name="Rounded Rectangle 20">
            <a:hlinkClick r:id="rId9" action="ppaction://hlinksldjump"/>
          </p:cNvPr>
          <p:cNvSpPr/>
          <p:nvPr/>
        </p:nvSpPr>
        <p:spPr>
          <a:xfrm>
            <a:off x="676656" y="406908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a:hlinkClick r:id="rId9" action="ppaction://hlinksldjump"/>
          </p:cNvPr>
          <p:cNvSpPr/>
          <p:nvPr/>
        </p:nvSpPr>
        <p:spPr>
          <a:xfrm>
            <a:off x="859536" y="438912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7</a:t>
            </a:r>
          </a:p>
        </p:txBody>
      </p:sp>
      <p:sp>
        <p:nvSpPr>
          <p:cNvPr id="23" name="TextBox 22">
            <a:hlinkClick r:id="rId9" action="ppaction://hlinksldjump"/>
          </p:cNvPr>
          <p:cNvSpPr txBox="1"/>
          <p:nvPr/>
        </p:nvSpPr>
        <p:spPr>
          <a:xfrm>
            <a:off x="1545336" y="4160520"/>
            <a:ext cx="2468880" cy="960120"/>
          </a:xfrm>
          <a:prstGeom prst="rect">
            <a:avLst/>
          </a:prstGeom>
          <a:noFill/>
        </p:spPr>
        <p:txBody>
          <a:bodyPr wrap="square" lIns="0" tIns="0" rIns="0" bIns="0" anchor="ctr">
            <a:spAutoFit/>
          </a:bodyPr>
          <a:lstStyle/>
          <a:p>
            <a:pPr algn="l"/>
            <a:r>
              <a:rPr sz="1300" b="1" i="0">
                <a:solidFill>
                  <a:srgbClr val="1D1B58"/>
                </a:solidFill>
                <a:latin typeface="Calibri"/>
              </a:rPr>
              <a:t>How would you build a true future-purchase model?</a:t>
            </a:r>
          </a:p>
        </p:txBody>
      </p:sp>
      <p:sp>
        <p:nvSpPr>
          <p:cNvPr id="24" name="Rounded Rectangle 23">
            <a:hlinkClick r:id="rId10" action="ppaction://hlinksldjump"/>
          </p:cNvPr>
          <p:cNvSpPr/>
          <p:nvPr/>
        </p:nvSpPr>
        <p:spPr>
          <a:xfrm>
            <a:off x="4334256" y="406908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a:hlinkClick r:id="rId10" action="ppaction://hlinksldjump"/>
          </p:cNvPr>
          <p:cNvSpPr/>
          <p:nvPr/>
        </p:nvSpPr>
        <p:spPr>
          <a:xfrm>
            <a:off x="4517136" y="438912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8</a:t>
            </a:r>
          </a:p>
        </p:txBody>
      </p:sp>
      <p:sp>
        <p:nvSpPr>
          <p:cNvPr id="26" name="TextBox 25">
            <a:hlinkClick r:id="rId10" action="ppaction://hlinksldjump"/>
          </p:cNvPr>
          <p:cNvSpPr txBox="1"/>
          <p:nvPr/>
        </p:nvSpPr>
        <p:spPr>
          <a:xfrm>
            <a:off x="5202936" y="4160520"/>
            <a:ext cx="2468880" cy="960120"/>
          </a:xfrm>
          <a:prstGeom prst="rect">
            <a:avLst/>
          </a:prstGeom>
          <a:noFill/>
        </p:spPr>
        <p:txBody>
          <a:bodyPr wrap="square" lIns="0" tIns="0" rIns="0" bIns="0" anchor="ctr">
            <a:spAutoFit/>
          </a:bodyPr>
          <a:lstStyle/>
          <a:p>
            <a:pPr algn="l"/>
            <a:r>
              <a:rPr sz="1300" b="1" i="0">
                <a:solidFill>
                  <a:srgbClr val="1D1B58"/>
                </a:solidFill>
                <a:latin typeface="Calibri"/>
              </a:rPr>
              <a:t>How stable are the clusters?</a:t>
            </a:r>
          </a:p>
        </p:txBody>
      </p:sp>
      <p:sp>
        <p:nvSpPr>
          <p:cNvPr id="27" name="Rounded Rectangle 26">
            <a:hlinkClick r:id="rId11" action="ppaction://hlinksldjump"/>
          </p:cNvPr>
          <p:cNvSpPr/>
          <p:nvPr/>
        </p:nvSpPr>
        <p:spPr>
          <a:xfrm>
            <a:off x="7991856" y="406908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a:hlinkClick r:id="rId11" action="ppaction://hlinksldjump"/>
          </p:cNvPr>
          <p:cNvSpPr/>
          <p:nvPr/>
        </p:nvSpPr>
        <p:spPr>
          <a:xfrm>
            <a:off x="8174736" y="438912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a:rPr>
              <a:t>9</a:t>
            </a:r>
          </a:p>
        </p:txBody>
      </p:sp>
      <p:sp>
        <p:nvSpPr>
          <p:cNvPr id="29" name="TextBox 28">
            <a:hlinkClick r:id="rId11" action="ppaction://hlinksldjump"/>
          </p:cNvPr>
          <p:cNvSpPr txBox="1"/>
          <p:nvPr/>
        </p:nvSpPr>
        <p:spPr>
          <a:xfrm>
            <a:off x="8860536" y="4160520"/>
            <a:ext cx="2468880" cy="960120"/>
          </a:xfrm>
          <a:prstGeom prst="rect">
            <a:avLst/>
          </a:prstGeom>
          <a:noFill/>
        </p:spPr>
        <p:txBody>
          <a:bodyPr wrap="square" lIns="0" tIns="0" rIns="0" bIns="0" anchor="ctr">
            <a:spAutoFit/>
          </a:bodyPr>
          <a:lstStyle/>
          <a:p>
            <a:pPr algn="l"/>
            <a:r>
              <a:rPr sz="1300" b="1" i="0">
                <a:solidFill>
                  <a:srgbClr val="1D1B58"/>
                </a:solidFill>
                <a:latin typeface="Calibri"/>
              </a:rPr>
              <a:t>Why only RFM, not product or country features?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a:t>Why log-transform and then standardise RFM?</a:t>
            </a:r>
          </a:p>
        </p:txBody>
      </p:sp>
      <p:sp>
        <p:nvSpPr>
          <p:cNvPr id="4" name="TextBox 3"/>
          <p:cNvSpPr txBox="1"/>
          <p:nvPr/>
        </p:nvSpPr>
        <p:spPr>
          <a:xfrm>
            <a:off x="868680" y="1371600"/>
            <a:ext cx="2286000" cy="365760"/>
          </a:xfrm>
          <a:prstGeom prst="rect">
            <a:avLst/>
          </a:prstGeom>
          <a:noFill/>
        </p:spPr>
        <p:txBody>
          <a:bodyPr wrap="square" lIns="0" tIns="0" rIns="0" bIns="0" anchor="t">
            <a:spAutoFit/>
          </a:bodyPr>
          <a:lstStyle/>
          <a:p>
            <a:pPr algn="l"/>
            <a:r>
              <a:rPr sz="1400" b="1" i="0">
                <a:solidFill>
                  <a:srgbClr val="B9C2E6"/>
                </a:solidFill>
                <a:latin typeface="Calibri"/>
              </a:rPr>
              <a:t>FAQ 1</a:t>
            </a:r>
          </a:p>
        </p:txBody>
      </p:sp>
      <p:sp>
        <p:nvSpPr>
          <p:cNvPr id="5" name="TextBox 4">
            <a:hlinkClick r:id="rId3" action="ppaction://hlinksldjump"/>
          </p:cNvPr>
          <p:cNvSpPr txBox="1"/>
          <p:nvPr/>
        </p:nvSpPr>
        <p:spPr>
          <a:xfrm>
            <a:off x="868680" y="4892040"/>
            <a:ext cx="2194560" cy="320040"/>
          </a:xfrm>
          <a:prstGeom prst="rect">
            <a:avLst/>
          </a:prstGeom>
          <a:noFill/>
        </p:spPr>
        <p:txBody>
          <a:bodyPr wrap="square" lIns="0" tIns="0" r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tIns="0" rIns="0" bIns="0" anchor="t">
            <a:spAutoFit/>
          </a:bodyPr>
          <a:lstStyle/>
          <a:p>
            <a:pPr algn="l"/>
            <a:r>
              <a:rPr sz="1600" b="1" i="0">
                <a:solidFill>
                  <a:srgbClr val="1D1B58"/>
                </a:solidFill>
                <a:latin typeface="Calibri"/>
              </a:rPr>
              <a:t>K-means uses Euclidean distance, so raw RFM would be dominated by a few huge spenders and by Monetary's scale.</a:t>
            </a:r>
          </a:p>
        </p:txBody>
      </p:sp>
      <p:graphicFrame>
        <p:nvGraphicFramePr>
          <p:cNvPr id="7" name="Chart 6"/>
          <p:cNvGraphicFramePr>
            <a:graphicFrameLocks noGrp="1"/>
          </p:cNvGraphicFramePr>
          <p:nvPr/>
        </p:nvGraphicFramePr>
        <p:xfrm>
          <a:off x="4480560" y="1600200"/>
          <a:ext cx="393192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p:cNvSpPr txBox="1"/>
          <p:nvPr/>
        </p:nvSpPr>
        <p:spPr>
          <a:xfrm>
            <a:off x="8641080" y="1691640"/>
            <a:ext cx="2880360" cy="3566160"/>
          </a:xfrm>
          <a:prstGeom prst="rect">
            <a:avLst/>
          </a:prstGeom>
          <a:noFill/>
        </p:spPr>
        <p:txBody>
          <a:bodyPr wrap="square" lIns="0" tIns="0" rIns="0" bIns="0">
            <a:spAutoFit/>
          </a:bodyPr>
          <a:lstStyle/>
          <a:p>
            <a:pPr marL="228600" indent="-228600">
              <a:spcAft>
                <a:spcPts val="800"/>
              </a:spcAft>
              <a:buClr>
                <a:srgbClr val="1B8FE0"/>
              </a:buClr>
              <a:buFont typeface="Arial"/>
              <a:buChar char="•"/>
            </a:pPr>
            <a:r>
              <a:rPr sz="1300" b="1">
                <a:solidFill>
                  <a:srgbClr val="222433"/>
                </a:solidFill>
                <a:latin typeface="Calibri"/>
              </a:rPr>
              <a:t>log1p </a:t>
            </a:r>
            <a:r>
              <a:rPr sz="1300" b="0">
                <a:solidFill>
                  <a:srgbClr val="222433"/>
                </a:solidFill>
                <a:latin typeface="Calibri"/>
              </a:rPr>
              <a:t>compresses the long tail (max spend £265k vs median £614); log1p is safe at 0.</a:t>
            </a:r>
          </a:p>
          <a:p>
            <a:pPr marL="228600" indent="-228600">
              <a:spcAft>
                <a:spcPts val="800"/>
              </a:spcAft>
              <a:buClr>
                <a:srgbClr val="1B8FE0"/>
              </a:buClr>
              <a:buFont typeface="Arial"/>
              <a:buChar char="•"/>
            </a:pPr>
            <a:r>
              <a:rPr sz="1300" b="1">
                <a:solidFill>
                  <a:srgbClr val="222433"/>
                </a:solidFill>
                <a:latin typeface="Calibri"/>
              </a:rPr>
              <a:t>StandardScaler </a:t>
            </a:r>
            <a:r>
              <a:rPr sz="1300" b="0">
                <a:solidFill>
                  <a:srgbClr val="222433"/>
                </a:solidFill>
                <a:latin typeface="Calibri"/>
              </a:rPr>
              <a:t>gives R, F and M mean 0 and SD 1, so each feature weighs equally.</a:t>
            </a:r>
          </a:p>
          <a:p>
            <a:pPr marL="228600" indent="-228600">
              <a:spcAft>
                <a:spcPts val="800"/>
              </a:spcAft>
              <a:buClr>
                <a:srgbClr val="1B8FE0"/>
              </a:buClr>
              <a:buFont typeface="Arial"/>
              <a:buChar char="•"/>
            </a:pPr>
            <a:r>
              <a:rPr sz="1300" b="1">
                <a:solidFill>
                  <a:srgbClr val="222433"/>
                </a:solidFill>
                <a:latin typeface="Calibri"/>
              </a:rPr>
              <a:t>Order matters: </a:t>
            </a:r>
            <a:r>
              <a:rPr sz="1300" b="0">
                <a:solidFill>
                  <a:srgbClr val="222433"/>
                </a:solidFill>
                <a:latin typeface="Calibri"/>
              </a:rPr>
              <a:t>scaling first would keep the skew.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a:t>Why only two segments?</a:t>
            </a:r>
          </a:p>
        </p:txBody>
      </p:sp>
      <p:sp>
        <p:nvSpPr>
          <p:cNvPr id="4" name="TextBox 3"/>
          <p:cNvSpPr txBox="1"/>
          <p:nvPr/>
        </p:nvSpPr>
        <p:spPr>
          <a:xfrm>
            <a:off x="868680" y="1371600"/>
            <a:ext cx="2286000" cy="365760"/>
          </a:xfrm>
          <a:prstGeom prst="rect">
            <a:avLst/>
          </a:prstGeom>
          <a:noFill/>
        </p:spPr>
        <p:txBody>
          <a:bodyPr wrap="square" lIns="0" tIns="0" rIns="0" bIns="0" anchor="t">
            <a:spAutoFit/>
          </a:bodyPr>
          <a:lstStyle/>
          <a:p>
            <a:pPr algn="l"/>
            <a:r>
              <a:rPr sz="1400" b="1" i="0">
                <a:solidFill>
                  <a:srgbClr val="B9C2E6"/>
                </a:solidFill>
                <a:latin typeface="Calibri"/>
              </a:rPr>
              <a:t>FAQ 2</a:t>
            </a:r>
          </a:p>
        </p:txBody>
      </p:sp>
      <p:sp>
        <p:nvSpPr>
          <p:cNvPr id="5" name="TextBox 4">
            <a:hlinkClick r:id="rId3" action="ppaction://hlinksldjump"/>
          </p:cNvPr>
          <p:cNvSpPr txBox="1"/>
          <p:nvPr/>
        </p:nvSpPr>
        <p:spPr>
          <a:xfrm>
            <a:off x="868680" y="4892040"/>
            <a:ext cx="2194560" cy="320040"/>
          </a:xfrm>
          <a:prstGeom prst="rect">
            <a:avLst/>
          </a:prstGeom>
          <a:noFill/>
        </p:spPr>
        <p:txBody>
          <a:bodyPr wrap="square" lIns="0" tIns="0" r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tIns="0" rIns="0" bIns="0" anchor="t">
            <a:spAutoFit/>
          </a:bodyPr>
          <a:lstStyle/>
          <a:p>
            <a:pPr algn="l"/>
            <a:r>
              <a:rPr sz="1600" b="1" i="0">
                <a:solidFill>
                  <a:srgbClr val="1D1B58"/>
                </a:solidFill>
                <a:latin typeface="Calibri"/>
              </a:rPr>
              <a:t>Because the data's own structure says so: k = 2 has clearly the best silhouette, and the split is very stable.</a:t>
            </a:r>
          </a:p>
        </p:txBody>
      </p:sp>
      <p:graphicFrame>
        <p:nvGraphicFramePr>
          <p:cNvPr id="7" name="Chart 6"/>
          <p:cNvGraphicFramePr>
            <a:graphicFrameLocks noGrp="1"/>
          </p:cNvGraphicFramePr>
          <p:nvPr/>
        </p:nvGraphicFramePr>
        <p:xfrm>
          <a:off x="4480560" y="1554480"/>
          <a:ext cx="4206240" cy="3749039"/>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p:cNvSpPr txBox="1"/>
          <p:nvPr/>
        </p:nvSpPr>
        <p:spPr>
          <a:xfrm>
            <a:off x="8915400" y="1691640"/>
            <a:ext cx="2606040" cy="3657600"/>
          </a:xfrm>
          <a:prstGeom prst="rect">
            <a:avLst/>
          </a:prstGeom>
          <a:noFill/>
        </p:spPr>
        <p:txBody>
          <a:bodyPr wrap="square" lIns="0" tIns="0" rIns="0" bIns="0">
            <a:spAutoFit/>
          </a:bodyPr>
          <a:lstStyle/>
          <a:p>
            <a:pPr marL="228600" indent="-228600">
              <a:spcAft>
                <a:spcPts val="800"/>
              </a:spcAft>
              <a:buClr>
                <a:srgbClr val="1B8FE0"/>
              </a:buClr>
              <a:buFont typeface="Arial"/>
              <a:buChar char="•"/>
            </a:pPr>
            <a:r>
              <a:rPr sz="1300" b="0">
                <a:solidFill>
                  <a:srgbClr val="222433"/>
                </a:solidFill>
                <a:latin typeface="Calibri"/>
              </a:rPr>
              <a:t>Silhouette: 0.43 at k = 2, then 0.34, 0.33 … 0.28 at k = 10</a:t>
            </a:r>
          </a:p>
          <a:p>
            <a:pPr marL="228600" indent="-228600">
              <a:spcAft>
                <a:spcPts val="800"/>
              </a:spcAft>
              <a:buClr>
                <a:srgbClr val="1B8FE0"/>
              </a:buClr>
              <a:buFont typeface="Arial"/>
              <a:buChar char="•"/>
            </a:pPr>
            <a:r>
              <a:rPr sz="1300" b="0">
                <a:solidFill>
                  <a:srgbClr val="222433"/>
                </a:solidFill>
                <a:latin typeface="Calibri"/>
              </a:rPr>
              <a:t>Elbow is smooth, so it doesn't pick a k</a:t>
            </a:r>
          </a:p>
          <a:p>
            <a:pPr marL="228600" indent="-228600">
              <a:spcAft>
                <a:spcPts val="800"/>
              </a:spcAft>
              <a:buClr>
                <a:srgbClr val="1B8FE0"/>
              </a:buClr>
              <a:buFont typeface="Arial"/>
              <a:buChar char="•"/>
            </a:pPr>
            <a:r>
              <a:rPr sz="1300" b="0">
                <a:solidFill>
                  <a:srgbClr val="222433"/>
                </a:solidFill>
                <a:latin typeface="Calibri"/>
              </a:rPr>
              <a:t>Seed and bootstrap ARI ≈ 0.99</a:t>
            </a:r>
          </a:p>
          <a:p>
            <a:pPr marL="228600" indent="-228600">
              <a:spcAft>
                <a:spcPts val="800"/>
              </a:spcAft>
              <a:buClr>
                <a:srgbClr val="1B8FE0"/>
              </a:buClr>
              <a:buFont typeface="Arial"/>
              <a:buChar char="•"/>
            </a:pPr>
            <a:r>
              <a:rPr sz="1300" b="0">
                <a:solidFill>
                  <a:srgbClr val="222433"/>
                </a:solidFill>
                <a:latin typeface="Calibri"/>
              </a:rPr>
              <a:t>Behaviour is a continuum; finer cuts slice the same gradient (see k = 4, FAQ 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a:t>What would k = 4 look like?</a:t>
            </a:r>
          </a:p>
        </p:txBody>
      </p:sp>
      <p:sp>
        <p:nvSpPr>
          <p:cNvPr id="4" name="TextBox 3"/>
          <p:cNvSpPr txBox="1"/>
          <p:nvPr/>
        </p:nvSpPr>
        <p:spPr>
          <a:xfrm>
            <a:off x="868680" y="1371600"/>
            <a:ext cx="2286000" cy="365760"/>
          </a:xfrm>
          <a:prstGeom prst="rect">
            <a:avLst/>
          </a:prstGeom>
          <a:noFill/>
        </p:spPr>
        <p:txBody>
          <a:bodyPr wrap="square" lIns="0" tIns="0" rIns="0" bIns="0" anchor="t">
            <a:spAutoFit/>
          </a:bodyPr>
          <a:lstStyle/>
          <a:p>
            <a:pPr algn="l"/>
            <a:r>
              <a:rPr sz="1400" b="1" i="0">
                <a:solidFill>
                  <a:srgbClr val="B9C2E6"/>
                </a:solidFill>
                <a:latin typeface="Calibri"/>
              </a:rPr>
              <a:t>FAQ 3</a:t>
            </a:r>
          </a:p>
        </p:txBody>
      </p:sp>
      <p:sp>
        <p:nvSpPr>
          <p:cNvPr id="5" name="TextBox 4">
            <a:hlinkClick r:id="rId3" action="ppaction://hlinksldjump"/>
          </p:cNvPr>
          <p:cNvSpPr txBox="1"/>
          <p:nvPr/>
        </p:nvSpPr>
        <p:spPr>
          <a:xfrm>
            <a:off x="868680" y="4892040"/>
            <a:ext cx="2194560" cy="320040"/>
          </a:xfrm>
          <a:prstGeom prst="rect">
            <a:avLst/>
          </a:prstGeom>
          <a:noFill/>
        </p:spPr>
        <p:txBody>
          <a:bodyPr wrap="square" lIns="0" tIns="0" r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tIns="0" rIns="0" bIns="0" anchor="t">
            <a:spAutoFit/>
          </a:bodyPr>
          <a:lstStyle/>
          <a:p>
            <a:pPr algn="l"/>
            <a:r>
              <a:rPr sz="1600" b="1" i="0">
                <a:solidFill>
                  <a:srgbClr val="1D1B58"/>
                </a:solidFill>
                <a:latin typeface="Calibri"/>
              </a:rPr>
              <a:t>Four readable segments at a lower silhouette (0.33 vs 0.43). The extremes stay put; the middle of the gradient gets its own groups.</a:t>
            </a:r>
          </a:p>
        </p:txBody>
      </p:sp>
      <p:graphicFrame>
        <p:nvGraphicFramePr>
          <p:cNvPr id="7" name="Table 6"/>
          <p:cNvGraphicFramePr>
            <a:graphicFrameLocks noGrp="1"/>
          </p:cNvGraphicFramePr>
          <p:nvPr/>
        </p:nvGraphicFramePr>
        <p:xfrm>
          <a:off x="4480560" y="1691640"/>
          <a:ext cx="7040880" cy="237744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tblGrid>
              <a:tr h="475488">
                <a:tc>
                  <a:txBody>
                    <a:bodyPr/>
                    <a:lstStyle/>
                    <a:p>
                      <a:pPr algn="l"/>
                      <a:r>
                        <a:rPr sz="1300" b="1">
                          <a:solidFill>
                            <a:srgbClr val="FFFFFF"/>
                          </a:solidFill>
                          <a:latin typeface="Calibri"/>
                        </a:rPr>
                        <a:t>Segment</a:t>
                      </a:r>
                    </a:p>
                  </a:txBody>
                  <a:tcPr marL="73152" marR="73152" anchor="ctr">
                    <a:solidFill>
                      <a:srgbClr val="1D1B58"/>
                    </a:solidFill>
                  </a:tcPr>
                </a:tc>
                <a:tc>
                  <a:txBody>
                    <a:bodyPr/>
                    <a:lstStyle/>
                    <a:p>
                      <a:pPr algn="r"/>
                      <a:r>
                        <a:rPr sz="1300" b="1">
                          <a:solidFill>
                            <a:srgbClr val="FFFFFF"/>
                          </a:solidFill>
                          <a:latin typeface="Calibri"/>
                        </a:rPr>
                        <a:t>Customers</a:t>
                      </a:r>
                    </a:p>
                  </a:txBody>
                  <a:tcPr marL="73152" marR="73152" anchor="ctr">
                    <a:solidFill>
                      <a:srgbClr val="1D1B58"/>
                    </a:solidFill>
                  </a:tcPr>
                </a:tc>
                <a:tc>
                  <a:txBody>
                    <a:bodyPr/>
                    <a:lstStyle/>
                    <a:p>
                      <a:pPr algn="r"/>
                      <a:r>
                        <a:rPr sz="1300" b="1">
                          <a:solidFill>
                            <a:srgbClr val="FFFFFF"/>
                          </a:solidFill>
                          <a:latin typeface="Calibri"/>
                        </a:rPr>
                        <a:t>Recency</a:t>
                      </a:r>
                    </a:p>
                  </a:txBody>
                  <a:tcPr marL="73152" marR="73152" anchor="ctr">
                    <a:solidFill>
                      <a:srgbClr val="1D1B58"/>
                    </a:solidFill>
                  </a:tcPr>
                </a:tc>
                <a:tc>
                  <a:txBody>
                    <a:bodyPr/>
                    <a:lstStyle/>
                    <a:p>
                      <a:pPr algn="r"/>
                      <a:r>
                        <a:rPr sz="1300" b="1">
                          <a:solidFill>
                            <a:srgbClr val="FFFFFF"/>
                          </a:solidFill>
                          <a:latin typeface="Calibri"/>
                        </a:rPr>
                        <a:t>Orders</a:t>
                      </a:r>
                    </a:p>
                  </a:txBody>
                  <a:tcPr marL="73152" marR="73152" anchor="ctr">
                    <a:solidFill>
                      <a:srgbClr val="1D1B58"/>
                    </a:solidFill>
                  </a:tcPr>
                </a:tc>
                <a:tc>
                  <a:txBody>
                    <a:bodyPr/>
                    <a:lstStyle/>
                    <a:p>
                      <a:pPr algn="r"/>
                      <a:r>
                        <a:rPr sz="1300" b="1">
                          <a:solidFill>
                            <a:srgbClr val="FFFFFF"/>
                          </a:solidFill>
                          <a:latin typeface="Calibri"/>
                        </a:rPr>
                        <a:t>Avg. spend</a:t>
                      </a:r>
                    </a:p>
                  </a:txBody>
                  <a:tcPr marL="73152" marR="73152" anchor="ctr">
                    <a:solidFill>
                      <a:srgbClr val="1D1B58"/>
                    </a:solidFill>
                  </a:tcPr>
                </a:tc>
                <a:tc>
                  <a:txBody>
                    <a:bodyPr/>
                    <a:lstStyle/>
                    <a:p>
                      <a:pPr algn="r"/>
                      <a:r>
                        <a:rPr sz="1300" b="1">
                          <a:solidFill>
                            <a:srgbClr val="FFFFFF"/>
                          </a:solidFill>
                          <a:latin typeface="Calibri"/>
                        </a:rPr>
                        <a:t>Revenue</a:t>
                      </a:r>
                    </a:p>
                  </a:txBody>
                  <a:tcPr marL="73152" marR="73152" anchor="ctr">
                    <a:solidFill>
                      <a:srgbClr val="1D1B58"/>
                    </a:solidFill>
                  </a:tcPr>
                </a:tc>
                <a:extLst>
                  <a:ext uri="{0D108BD9-81ED-4DB2-BD59-A6C34878D82A}">
                    <a16:rowId xmlns:a16="http://schemas.microsoft.com/office/drawing/2014/main" val="10000"/>
                  </a:ext>
                </a:extLst>
              </a:tr>
              <a:tr h="475488">
                <a:tc>
                  <a:txBody>
                    <a:bodyPr/>
                    <a:lstStyle/>
                    <a:p>
                      <a:pPr algn="l"/>
                      <a:r>
                        <a:rPr sz="1300" b="1">
                          <a:solidFill>
                            <a:srgbClr val="222433"/>
                          </a:solidFill>
                          <a:latin typeface="Calibri"/>
                        </a:rPr>
                        <a:t>High-Value Active</a:t>
                      </a:r>
                    </a:p>
                  </a:txBody>
                  <a:tcPr marL="73152" marR="73152" anchor="ctr">
                    <a:solidFill>
                      <a:srgbClr val="ECF1F9"/>
                    </a:solidFill>
                  </a:tcPr>
                </a:tc>
                <a:tc>
                  <a:txBody>
                    <a:bodyPr/>
                    <a:lstStyle/>
                    <a:p>
                      <a:pPr algn="r"/>
                      <a:r>
                        <a:rPr sz="1300" b="0">
                          <a:solidFill>
                            <a:srgbClr val="222433"/>
                          </a:solidFill>
                          <a:latin typeface="Calibri"/>
                        </a:rPr>
                        <a:t>709</a:t>
                      </a:r>
                    </a:p>
                  </a:txBody>
                  <a:tcPr marL="73152" marR="73152" anchor="ctr">
                    <a:solidFill>
                      <a:srgbClr val="ECF1F9"/>
                    </a:solidFill>
                  </a:tcPr>
                </a:tc>
                <a:tc>
                  <a:txBody>
                    <a:bodyPr/>
                    <a:lstStyle/>
                    <a:p>
                      <a:pPr algn="r"/>
                      <a:r>
                        <a:rPr sz="1300" b="0">
                          <a:solidFill>
                            <a:srgbClr val="222433"/>
                          </a:solidFill>
                          <a:latin typeface="Calibri"/>
                        </a:rPr>
                        <a:t>12 d</a:t>
                      </a:r>
                    </a:p>
                  </a:txBody>
                  <a:tcPr marL="73152" marR="73152" anchor="ctr">
                    <a:solidFill>
                      <a:srgbClr val="ECF1F9"/>
                    </a:solidFill>
                  </a:tcPr>
                </a:tc>
                <a:tc>
                  <a:txBody>
                    <a:bodyPr/>
                    <a:lstStyle/>
                    <a:p>
                      <a:pPr algn="r"/>
                      <a:r>
                        <a:rPr sz="1300" b="0">
                          <a:solidFill>
                            <a:srgbClr val="222433"/>
                          </a:solidFill>
                          <a:latin typeface="Calibri"/>
                        </a:rPr>
                        <a:t>13.5</a:t>
                      </a:r>
                    </a:p>
                  </a:txBody>
                  <a:tcPr marL="73152" marR="73152" anchor="ctr">
                    <a:solidFill>
                      <a:srgbClr val="ECF1F9"/>
                    </a:solidFill>
                  </a:tcPr>
                </a:tc>
                <a:tc>
                  <a:txBody>
                    <a:bodyPr/>
                    <a:lstStyle/>
                    <a:p>
                      <a:pPr algn="r"/>
                      <a:r>
                        <a:rPr sz="1300" b="0">
                          <a:solidFill>
                            <a:srgbClr val="222433"/>
                          </a:solidFill>
                          <a:latin typeface="Calibri"/>
                        </a:rPr>
                        <a:t>£7,276</a:t>
                      </a:r>
                    </a:p>
                  </a:txBody>
                  <a:tcPr marL="73152" marR="73152" anchor="ctr">
                    <a:solidFill>
                      <a:srgbClr val="ECF1F9"/>
                    </a:solidFill>
                  </a:tcPr>
                </a:tc>
                <a:tc>
                  <a:txBody>
                    <a:bodyPr/>
                    <a:lstStyle/>
                    <a:p>
                      <a:pPr algn="r"/>
                      <a:r>
                        <a:rPr sz="1300" b="1">
                          <a:solidFill>
                            <a:srgbClr val="222433"/>
                          </a:solidFill>
                          <a:latin typeface="Calibri"/>
                        </a:rPr>
                        <a:t>65%</a:t>
                      </a:r>
                    </a:p>
                  </a:txBody>
                  <a:tcPr marL="73152" marR="73152" anchor="ctr">
                    <a:solidFill>
                      <a:srgbClr val="ECF1F9"/>
                    </a:solidFill>
                  </a:tcPr>
                </a:tc>
                <a:extLst>
                  <a:ext uri="{0D108BD9-81ED-4DB2-BD59-A6C34878D82A}">
                    <a16:rowId xmlns:a16="http://schemas.microsoft.com/office/drawing/2014/main" val="10001"/>
                  </a:ext>
                </a:extLst>
              </a:tr>
              <a:tr h="475488">
                <a:tc>
                  <a:txBody>
                    <a:bodyPr/>
                    <a:lstStyle/>
                    <a:p>
                      <a:pPr algn="l"/>
                      <a:r>
                        <a:rPr sz="1300" b="1">
                          <a:solidFill>
                            <a:srgbClr val="222433"/>
                          </a:solidFill>
                          <a:latin typeface="Calibri"/>
                        </a:rPr>
                        <a:t>Mid-Value Cooling</a:t>
                      </a:r>
                    </a:p>
                  </a:txBody>
                  <a:tcPr marL="73152" marR="73152" anchor="ctr">
                    <a:solidFill>
                      <a:srgbClr val="FFFFFF"/>
                    </a:solidFill>
                  </a:tcPr>
                </a:tc>
                <a:tc>
                  <a:txBody>
                    <a:bodyPr/>
                    <a:lstStyle/>
                    <a:p>
                      <a:pPr algn="r"/>
                      <a:r>
                        <a:rPr sz="1300" b="0">
                          <a:solidFill>
                            <a:srgbClr val="222433"/>
                          </a:solidFill>
                          <a:latin typeface="Calibri"/>
                        </a:rPr>
                        <a:t>1,179</a:t>
                      </a:r>
                    </a:p>
                  </a:txBody>
                  <a:tcPr marL="73152" marR="73152" anchor="ctr">
                    <a:solidFill>
                      <a:srgbClr val="FFFFFF"/>
                    </a:solidFill>
                  </a:tcPr>
                </a:tc>
                <a:tc>
                  <a:txBody>
                    <a:bodyPr/>
                    <a:lstStyle/>
                    <a:p>
                      <a:pPr algn="r"/>
                      <a:r>
                        <a:rPr sz="1300" b="0">
                          <a:solidFill>
                            <a:srgbClr val="222433"/>
                          </a:solidFill>
                          <a:latin typeface="Calibri"/>
                        </a:rPr>
                        <a:t>67 d</a:t>
                      </a:r>
                    </a:p>
                  </a:txBody>
                  <a:tcPr marL="73152" marR="73152" anchor="ctr">
                    <a:solidFill>
                      <a:srgbClr val="FFFFFF"/>
                    </a:solidFill>
                  </a:tcPr>
                </a:tc>
                <a:tc>
                  <a:txBody>
                    <a:bodyPr/>
                    <a:lstStyle/>
                    <a:p>
                      <a:pPr algn="r"/>
                      <a:r>
                        <a:rPr sz="1300" b="0">
                          <a:solidFill>
                            <a:srgbClr val="222433"/>
                          </a:solidFill>
                          <a:latin typeface="Calibri"/>
                        </a:rPr>
                        <a:t>4.1</a:t>
                      </a:r>
                    </a:p>
                  </a:txBody>
                  <a:tcPr marL="73152" marR="73152" anchor="ctr">
                    <a:solidFill>
                      <a:srgbClr val="FFFFFF"/>
                    </a:solidFill>
                  </a:tcPr>
                </a:tc>
                <a:tc>
                  <a:txBody>
                    <a:bodyPr/>
                    <a:lstStyle/>
                    <a:p>
                      <a:pPr algn="r"/>
                      <a:r>
                        <a:rPr sz="1300" b="0">
                          <a:solidFill>
                            <a:srgbClr val="222433"/>
                          </a:solidFill>
                          <a:latin typeface="Calibri"/>
                        </a:rPr>
                        <a:t>£1,651</a:t>
                      </a:r>
                    </a:p>
                  </a:txBody>
                  <a:tcPr marL="73152" marR="73152" anchor="ctr">
                    <a:solidFill>
                      <a:srgbClr val="FFFFFF"/>
                    </a:solidFill>
                  </a:tcPr>
                </a:tc>
                <a:tc>
                  <a:txBody>
                    <a:bodyPr/>
                    <a:lstStyle/>
                    <a:p>
                      <a:pPr algn="r"/>
                      <a:r>
                        <a:rPr sz="1300" b="1">
                          <a:solidFill>
                            <a:srgbClr val="222433"/>
                          </a:solidFill>
                          <a:latin typeface="Calibri"/>
                        </a:rPr>
                        <a:t>24%</a:t>
                      </a:r>
                    </a:p>
                  </a:txBody>
                  <a:tcPr marL="73152" marR="73152" anchor="ctr">
                    <a:solidFill>
                      <a:srgbClr val="FFFFFF"/>
                    </a:solidFill>
                  </a:tcPr>
                </a:tc>
                <a:extLst>
                  <a:ext uri="{0D108BD9-81ED-4DB2-BD59-A6C34878D82A}">
                    <a16:rowId xmlns:a16="http://schemas.microsoft.com/office/drawing/2014/main" val="10002"/>
                  </a:ext>
                </a:extLst>
              </a:tr>
              <a:tr h="475488">
                <a:tc>
                  <a:txBody>
                    <a:bodyPr/>
                    <a:lstStyle/>
                    <a:p>
                      <a:pPr algn="l"/>
                      <a:r>
                        <a:rPr sz="1300" b="1">
                          <a:solidFill>
                            <a:srgbClr val="222433"/>
                          </a:solidFill>
                          <a:latin typeface="Calibri"/>
                        </a:rPr>
                        <a:t>Low-Value Lapsing</a:t>
                      </a:r>
                    </a:p>
                  </a:txBody>
                  <a:tcPr marL="73152" marR="73152" anchor="ctr">
                    <a:solidFill>
                      <a:srgbClr val="ECF1F9"/>
                    </a:solidFill>
                  </a:tcPr>
                </a:tc>
                <a:tc>
                  <a:txBody>
                    <a:bodyPr/>
                    <a:lstStyle/>
                    <a:p>
                      <a:pPr algn="r"/>
                      <a:r>
                        <a:rPr sz="1300" b="0">
                          <a:solidFill>
                            <a:srgbClr val="222433"/>
                          </a:solidFill>
                          <a:latin typeface="Calibri"/>
                        </a:rPr>
                        <a:t>1,571</a:t>
                      </a:r>
                    </a:p>
                  </a:txBody>
                  <a:tcPr marL="73152" marR="73152" anchor="ctr">
                    <a:solidFill>
                      <a:srgbClr val="ECF1F9"/>
                    </a:solidFill>
                  </a:tcPr>
                </a:tc>
                <a:tc>
                  <a:txBody>
                    <a:bodyPr/>
                    <a:lstStyle/>
                    <a:p>
                      <a:pPr algn="r"/>
                      <a:r>
                        <a:rPr sz="1300" b="0">
                          <a:solidFill>
                            <a:srgbClr val="222433"/>
                          </a:solidFill>
                          <a:latin typeface="Calibri"/>
                        </a:rPr>
                        <a:t>188 d</a:t>
                      </a:r>
                    </a:p>
                  </a:txBody>
                  <a:tcPr marL="73152" marR="73152" anchor="ctr">
                    <a:solidFill>
                      <a:srgbClr val="ECF1F9"/>
                    </a:solidFill>
                  </a:tcPr>
                </a:tc>
                <a:tc>
                  <a:txBody>
                    <a:bodyPr/>
                    <a:lstStyle/>
                    <a:p>
                      <a:pPr algn="r"/>
                      <a:r>
                        <a:rPr sz="1300" b="0">
                          <a:solidFill>
                            <a:srgbClr val="222433"/>
                          </a:solidFill>
                          <a:latin typeface="Calibri"/>
                        </a:rPr>
                        <a:t>1.3</a:t>
                      </a:r>
                    </a:p>
                  </a:txBody>
                  <a:tcPr marL="73152" marR="73152" anchor="ctr">
                    <a:solidFill>
                      <a:srgbClr val="ECF1F9"/>
                    </a:solidFill>
                  </a:tcPr>
                </a:tc>
                <a:tc>
                  <a:txBody>
                    <a:bodyPr/>
                    <a:lstStyle/>
                    <a:p>
                      <a:pPr algn="r"/>
                      <a:r>
                        <a:rPr sz="1300" b="0">
                          <a:solidFill>
                            <a:srgbClr val="222433"/>
                          </a:solidFill>
                          <a:latin typeface="Calibri"/>
                        </a:rPr>
                        <a:t>£314</a:t>
                      </a:r>
                    </a:p>
                  </a:txBody>
                  <a:tcPr marL="73152" marR="73152" anchor="ctr">
                    <a:solidFill>
                      <a:srgbClr val="ECF1F9"/>
                    </a:solidFill>
                  </a:tcPr>
                </a:tc>
                <a:tc>
                  <a:txBody>
                    <a:bodyPr/>
                    <a:lstStyle/>
                    <a:p>
                      <a:pPr algn="r"/>
                      <a:r>
                        <a:rPr sz="1300" b="1">
                          <a:solidFill>
                            <a:srgbClr val="222433"/>
                          </a:solidFill>
                          <a:latin typeface="Calibri"/>
                        </a:rPr>
                        <a:t>6%</a:t>
                      </a:r>
                    </a:p>
                  </a:txBody>
                  <a:tcPr marL="73152" marR="73152" anchor="ctr">
                    <a:solidFill>
                      <a:srgbClr val="ECF1F9"/>
                    </a:solidFill>
                  </a:tcPr>
                </a:tc>
                <a:extLst>
                  <a:ext uri="{0D108BD9-81ED-4DB2-BD59-A6C34878D82A}">
                    <a16:rowId xmlns:a16="http://schemas.microsoft.com/office/drawing/2014/main" val="10003"/>
                  </a:ext>
                </a:extLst>
              </a:tr>
              <a:tr h="475488">
                <a:tc>
                  <a:txBody>
                    <a:bodyPr/>
                    <a:lstStyle/>
                    <a:p>
                      <a:pPr algn="l"/>
                      <a:r>
                        <a:rPr sz="1300" b="1">
                          <a:solidFill>
                            <a:srgbClr val="222433"/>
                          </a:solidFill>
                          <a:latin typeface="Calibri"/>
                        </a:rPr>
                        <a:t>Mid-Value Active</a:t>
                      </a:r>
                    </a:p>
                  </a:txBody>
                  <a:tcPr marL="73152" marR="73152" anchor="ctr">
                    <a:solidFill>
                      <a:srgbClr val="FFFFFF"/>
                    </a:solidFill>
                  </a:tcPr>
                </a:tc>
                <a:tc>
                  <a:txBody>
                    <a:bodyPr/>
                    <a:lstStyle/>
                    <a:p>
                      <a:pPr algn="r"/>
                      <a:r>
                        <a:rPr sz="1300" b="0">
                          <a:solidFill>
                            <a:srgbClr val="222433"/>
                          </a:solidFill>
                          <a:latin typeface="Calibri"/>
                        </a:rPr>
                        <a:t>855</a:t>
                      </a:r>
                    </a:p>
                  </a:txBody>
                  <a:tcPr marL="73152" marR="73152" anchor="ctr">
                    <a:solidFill>
                      <a:srgbClr val="FFFFFF"/>
                    </a:solidFill>
                  </a:tcPr>
                </a:tc>
                <a:tc>
                  <a:txBody>
                    <a:bodyPr/>
                    <a:lstStyle/>
                    <a:p>
                      <a:pPr algn="r"/>
                      <a:r>
                        <a:rPr sz="1300" b="0">
                          <a:solidFill>
                            <a:srgbClr val="222433"/>
                          </a:solidFill>
                          <a:latin typeface="Calibri"/>
                        </a:rPr>
                        <a:t>20 d</a:t>
                      </a:r>
                    </a:p>
                  </a:txBody>
                  <a:tcPr marL="73152" marR="73152" anchor="ctr">
                    <a:solidFill>
                      <a:srgbClr val="FFFFFF"/>
                    </a:solidFill>
                  </a:tcPr>
                </a:tc>
                <a:tc>
                  <a:txBody>
                    <a:bodyPr/>
                    <a:lstStyle/>
                    <a:p>
                      <a:pPr algn="r"/>
                      <a:r>
                        <a:rPr sz="1300" b="0">
                          <a:solidFill>
                            <a:srgbClr val="222433"/>
                          </a:solidFill>
                          <a:latin typeface="Calibri"/>
                        </a:rPr>
                        <a:t>2.0</a:t>
                      </a:r>
                    </a:p>
                  </a:txBody>
                  <a:tcPr marL="73152" marR="73152" anchor="ctr">
                    <a:solidFill>
                      <a:srgbClr val="FFFFFF"/>
                    </a:solidFill>
                  </a:tcPr>
                </a:tc>
                <a:tc>
                  <a:txBody>
                    <a:bodyPr/>
                    <a:lstStyle/>
                    <a:p>
                      <a:pPr algn="r"/>
                      <a:r>
                        <a:rPr sz="1300" b="0">
                          <a:solidFill>
                            <a:srgbClr val="222433"/>
                          </a:solidFill>
                          <a:latin typeface="Calibri"/>
                        </a:rPr>
                        <a:t>£461</a:t>
                      </a:r>
                    </a:p>
                  </a:txBody>
                  <a:tcPr marL="73152" marR="73152" anchor="ctr">
                    <a:solidFill>
                      <a:srgbClr val="FFFFFF"/>
                    </a:solidFill>
                  </a:tcPr>
                </a:tc>
                <a:tc>
                  <a:txBody>
                    <a:bodyPr/>
                    <a:lstStyle/>
                    <a:p>
                      <a:pPr algn="r"/>
                      <a:r>
                        <a:rPr sz="1300" b="1">
                          <a:solidFill>
                            <a:srgbClr val="222433"/>
                          </a:solidFill>
                          <a:latin typeface="Calibri"/>
                        </a:rPr>
                        <a:t>5%</a:t>
                      </a:r>
                    </a:p>
                  </a:txBody>
                  <a:tcPr marL="73152" marR="73152" anchor="ctr">
                    <a:solidFill>
                      <a:srgbClr val="FFFFFF"/>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4480560" y="4297680"/>
            <a:ext cx="7040880" cy="1188720"/>
          </a:xfrm>
          <a:prstGeom prst="rect">
            <a:avLst/>
          </a:prstGeom>
          <a:noFill/>
        </p:spPr>
        <p:txBody>
          <a:bodyPr wrap="square" lIns="0" tIns="0" rIns="0" bIns="0">
            <a:spAutoFit/>
          </a:bodyPr>
          <a:lstStyle/>
          <a:p>
            <a:pPr marL="228600" indent="-228600">
              <a:spcAft>
                <a:spcPts val="600"/>
              </a:spcAft>
              <a:buClr>
                <a:srgbClr val="1B8FE0"/>
              </a:buClr>
              <a:buFont typeface="Arial"/>
              <a:buChar char="•"/>
            </a:pPr>
            <a:r>
              <a:rPr sz="1300" b="0">
                <a:solidFill>
                  <a:srgbClr val="222433"/>
                </a:solidFill>
                <a:latin typeface="Calibri"/>
              </a:rPr>
              <a:t>All 709 top customers sit inside High-Value Active (k = 2), and all 1,571 lapsed customers inside Low-Value Lapsing</a:t>
            </a:r>
          </a:p>
          <a:p>
            <a:pPr marL="228600" indent="-228600">
              <a:spcAft>
                <a:spcPts val="600"/>
              </a:spcAft>
              <a:buClr>
                <a:srgbClr val="1B8FE0"/>
              </a:buClr>
              <a:buFont typeface="Arial"/>
              <a:buChar char="•"/>
            </a:pPr>
            <a:r>
              <a:rPr sz="1300" b="0">
                <a:solidFill>
                  <a:srgbClr val="222433"/>
                </a:solidFill>
                <a:latin typeface="Calibri"/>
              </a:rPr>
              <a:t>The two Mid-Value groups straddle the k = 2 line: Cooling is the retention watch-list; Active are recent buyers to convert to a second order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a:t>Why did DBSCAN and hierarchical do worse?</a:t>
            </a:r>
          </a:p>
        </p:txBody>
      </p:sp>
      <p:sp>
        <p:nvSpPr>
          <p:cNvPr id="4" name="TextBox 3"/>
          <p:cNvSpPr txBox="1"/>
          <p:nvPr/>
        </p:nvSpPr>
        <p:spPr>
          <a:xfrm>
            <a:off x="868680" y="1371600"/>
            <a:ext cx="2286000" cy="365760"/>
          </a:xfrm>
          <a:prstGeom prst="rect">
            <a:avLst/>
          </a:prstGeom>
          <a:noFill/>
        </p:spPr>
        <p:txBody>
          <a:bodyPr wrap="square" lIns="0" tIns="0" rIns="0" bIns="0" anchor="t">
            <a:spAutoFit/>
          </a:bodyPr>
          <a:lstStyle/>
          <a:p>
            <a:pPr algn="l"/>
            <a:r>
              <a:rPr sz="1400" b="1" i="0">
                <a:solidFill>
                  <a:srgbClr val="B9C2E6"/>
                </a:solidFill>
                <a:latin typeface="Calibri"/>
              </a:rPr>
              <a:t>FAQ 4</a:t>
            </a:r>
          </a:p>
        </p:txBody>
      </p:sp>
      <p:sp>
        <p:nvSpPr>
          <p:cNvPr id="5" name="TextBox 4">
            <a:hlinkClick r:id="rId3" action="ppaction://hlinksldjump"/>
          </p:cNvPr>
          <p:cNvSpPr txBox="1"/>
          <p:nvPr/>
        </p:nvSpPr>
        <p:spPr>
          <a:xfrm>
            <a:off x="868680" y="4892040"/>
            <a:ext cx="2194560" cy="320040"/>
          </a:xfrm>
          <a:prstGeom prst="rect">
            <a:avLst/>
          </a:prstGeom>
          <a:noFill/>
        </p:spPr>
        <p:txBody>
          <a:bodyPr wrap="square" lIns="0" tIns="0" r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tIns="0" rIns="0" bIns="0" anchor="t">
            <a:spAutoFit/>
          </a:bodyPr>
          <a:lstStyle/>
          <a:p>
            <a:pPr algn="l"/>
            <a:r>
              <a:rPr sz="1600" b="1" i="0">
                <a:solidFill>
                  <a:srgbClr val="1D1B58"/>
                </a:solidFill>
                <a:latin typeface="Calibri"/>
              </a:rPr>
              <a:t>The data is one continuous cloud, not dense islands. That suits centroid methods and defeats density methods.</a:t>
            </a:r>
          </a:p>
        </p:txBody>
      </p:sp>
      <p:graphicFrame>
        <p:nvGraphicFramePr>
          <p:cNvPr id="7" name="Table 6"/>
          <p:cNvGraphicFramePr>
            <a:graphicFrameLocks noGrp="1"/>
          </p:cNvGraphicFramePr>
          <p:nvPr/>
        </p:nvGraphicFramePr>
        <p:xfrm>
          <a:off x="4480560" y="1691640"/>
          <a:ext cx="7040880" cy="192024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84048">
                <a:tc>
                  <a:txBody>
                    <a:bodyPr/>
                    <a:lstStyle/>
                    <a:p>
                      <a:pPr algn="l"/>
                      <a:r>
                        <a:rPr sz="1300" b="1">
                          <a:solidFill>
                            <a:srgbClr val="FFFFFF"/>
                          </a:solidFill>
                          <a:latin typeface="Calibri"/>
                        </a:rPr>
                        <a:t> </a:t>
                      </a:r>
                    </a:p>
                  </a:txBody>
                  <a:tcPr anchor="ctr">
                    <a:solidFill>
                      <a:srgbClr val="1D1B58"/>
                    </a:solidFill>
                  </a:tcPr>
                </a:tc>
                <a:tc>
                  <a:txBody>
                    <a:bodyPr/>
                    <a:lstStyle/>
                    <a:p>
                      <a:pPr algn="ctr"/>
                      <a:r>
                        <a:rPr sz="1300" b="1">
                          <a:solidFill>
                            <a:srgbClr val="FFFFFF"/>
                          </a:solidFill>
                          <a:latin typeface="Calibri"/>
                        </a:rPr>
                        <a:t>K-means</a:t>
                      </a:r>
                    </a:p>
                  </a:txBody>
                  <a:tcPr anchor="ctr">
                    <a:solidFill>
                      <a:srgbClr val="1D1B58"/>
                    </a:solidFill>
                  </a:tcPr>
                </a:tc>
                <a:tc>
                  <a:txBody>
                    <a:bodyPr/>
                    <a:lstStyle/>
                    <a:p>
                      <a:pPr algn="ctr"/>
                      <a:r>
                        <a:rPr sz="1300" b="1">
                          <a:solidFill>
                            <a:srgbClr val="FFFFFF"/>
                          </a:solidFill>
                          <a:latin typeface="Calibri"/>
                        </a:rPr>
                        <a:t>Hierarchical</a:t>
                      </a:r>
                    </a:p>
                  </a:txBody>
                  <a:tcPr anchor="ctr">
                    <a:solidFill>
                      <a:srgbClr val="1D1B58"/>
                    </a:solidFill>
                  </a:tcPr>
                </a:tc>
                <a:tc>
                  <a:txBody>
                    <a:bodyPr/>
                    <a:lstStyle/>
                    <a:p>
                      <a:pPr algn="ctr"/>
                      <a:r>
                        <a:rPr sz="1300" b="1">
                          <a:solidFill>
                            <a:srgbClr val="FFFFFF"/>
                          </a:solidFill>
                          <a:latin typeface="Calibri"/>
                        </a:rPr>
                        <a:t>DBSCAN</a:t>
                      </a:r>
                    </a:p>
                  </a:txBody>
                  <a:tcPr anchor="ctr">
                    <a:solidFill>
                      <a:srgbClr val="1D1B58"/>
                    </a:solidFill>
                  </a:tcPr>
                </a:tc>
                <a:extLst>
                  <a:ext uri="{0D108BD9-81ED-4DB2-BD59-A6C34878D82A}">
                    <a16:rowId xmlns:a16="http://schemas.microsoft.com/office/drawing/2014/main" val="10000"/>
                  </a:ext>
                </a:extLst>
              </a:tr>
              <a:tr h="384048">
                <a:tc>
                  <a:txBody>
                    <a:bodyPr/>
                    <a:lstStyle/>
                    <a:p>
                      <a:pPr algn="l"/>
                      <a:r>
                        <a:rPr sz="1300" b="1">
                          <a:solidFill>
                            <a:srgbClr val="222433"/>
                          </a:solidFill>
                          <a:latin typeface="Calibri"/>
                        </a:rPr>
                        <a:t>Silhouette (k = 2)</a:t>
                      </a:r>
                    </a:p>
                  </a:txBody>
                  <a:tcPr anchor="ctr">
                    <a:solidFill>
                      <a:srgbClr val="ECF1F9"/>
                    </a:solidFill>
                  </a:tcPr>
                </a:tc>
                <a:tc>
                  <a:txBody>
                    <a:bodyPr/>
                    <a:lstStyle/>
                    <a:p>
                      <a:pPr algn="ctr"/>
                      <a:r>
                        <a:rPr sz="1300" b="1">
                          <a:solidFill>
                            <a:srgbClr val="1D1B58"/>
                          </a:solidFill>
                          <a:latin typeface="Calibri"/>
                        </a:rPr>
                        <a:t>0.431</a:t>
                      </a:r>
                    </a:p>
                  </a:txBody>
                  <a:tcPr anchor="ctr">
                    <a:solidFill>
                      <a:srgbClr val="ECF1F9"/>
                    </a:solidFill>
                  </a:tcPr>
                </a:tc>
                <a:tc>
                  <a:txBody>
                    <a:bodyPr/>
                    <a:lstStyle/>
                    <a:p>
                      <a:pPr algn="ctr"/>
                      <a:r>
                        <a:rPr sz="1300" b="0">
                          <a:solidFill>
                            <a:srgbClr val="222433"/>
                          </a:solidFill>
                          <a:latin typeface="Calibri"/>
                        </a:rPr>
                        <a:t>0.384</a:t>
                      </a:r>
                    </a:p>
                  </a:txBody>
                  <a:tcPr anchor="ctr">
                    <a:solidFill>
                      <a:srgbClr val="ECF1F9"/>
                    </a:solidFill>
                  </a:tcPr>
                </a:tc>
                <a:tc>
                  <a:txBody>
                    <a:bodyPr/>
                    <a:lstStyle/>
                    <a:p>
                      <a:pPr algn="ctr"/>
                      <a:r>
                        <a:rPr sz="1300" b="0">
                          <a:solidFill>
                            <a:srgbClr val="222433"/>
                          </a:solidFill>
                          <a:latin typeface="Calibri"/>
                        </a:rPr>
                        <a:t>0.294</a:t>
                      </a:r>
                    </a:p>
                  </a:txBody>
                  <a:tcPr anchor="ctr">
                    <a:solidFill>
                      <a:srgbClr val="ECF1F9"/>
                    </a:solidFill>
                  </a:tcPr>
                </a:tc>
                <a:extLst>
                  <a:ext uri="{0D108BD9-81ED-4DB2-BD59-A6C34878D82A}">
                    <a16:rowId xmlns:a16="http://schemas.microsoft.com/office/drawing/2014/main" val="10001"/>
                  </a:ext>
                </a:extLst>
              </a:tr>
              <a:tr h="384048">
                <a:tc>
                  <a:txBody>
                    <a:bodyPr/>
                    <a:lstStyle/>
                    <a:p>
                      <a:pPr algn="l"/>
                      <a:r>
                        <a:rPr sz="1300" b="1">
                          <a:solidFill>
                            <a:srgbClr val="222433"/>
                          </a:solidFill>
                          <a:latin typeface="Calibri"/>
                        </a:rPr>
                        <a:t>Davies-Bouldin (k = 2)</a:t>
                      </a:r>
                    </a:p>
                  </a:txBody>
                  <a:tcPr anchor="ctr">
                    <a:solidFill>
                      <a:srgbClr val="FFFFFF"/>
                    </a:solidFill>
                  </a:tcPr>
                </a:tc>
                <a:tc>
                  <a:txBody>
                    <a:bodyPr/>
                    <a:lstStyle/>
                    <a:p>
                      <a:pPr algn="ctr"/>
                      <a:r>
                        <a:rPr sz="1300" b="1">
                          <a:solidFill>
                            <a:srgbClr val="1D1B58"/>
                          </a:solidFill>
                          <a:latin typeface="Calibri"/>
                        </a:rPr>
                        <a:t>0.89</a:t>
                      </a:r>
                    </a:p>
                  </a:txBody>
                  <a:tcPr anchor="ctr">
                    <a:solidFill>
                      <a:srgbClr val="FFFFFF"/>
                    </a:solidFill>
                  </a:tcPr>
                </a:tc>
                <a:tc>
                  <a:txBody>
                    <a:bodyPr/>
                    <a:lstStyle/>
                    <a:p>
                      <a:pPr algn="ctr"/>
                      <a:r>
                        <a:rPr sz="1300" b="0">
                          <a:solidFill>
                            <a:srgbClr val="222433"/>
                          </a:solidFill>
                          <a:latin typeface="Calibri"/>
                        </a:rPr>
                        <a:t>0.96</a:t>
                      </a:r>
                    </a:p>
                  </a:txBody>
                  <a:tcPr anchor="ctr">
                    <a:solidFill>
                      <a:srgbClr val="FFFFFF"/>
                    </a:solidFill>
                  </a:tcPr>
                </a:tc>
                <a:tc>
                  <a:txBody>
                    <a:bodyPr/>
                    <a:lstStyle/>
                    <a:p>
                      <a:pPr algn="ctr"/>
                      <a:r>
                        <a:rPr sz="1300" b="0">
                          <a:solidFill>
                            <a:srgbClr val="222433"/>
                          </a:solidFill>
                          <a:latin typeface="Calibri"/>
                        </a:rPr>
                        <a:t>1.07</a:t>
                      </a:r>
                    </a:p>
                  </a:txBody>
                  <a:tcPr anchor="ctr">
                    <a:solidFill>
                      <a:srgbClr val="FFFFFF"/>
                    </a:solidFill>
                  </a:tcPr>
                </a:tc>
                <a:extLst>
                  <a:ext uri="{0D108BD9-81ED-4DB2-BD59-A6C34878D82A}">
                    <a16:rowId xmlns:a16="http://schemas.microsoft.com/office/drawing/2014/main" val="10002"/>
                  </a:ext>
                </a:extLst>
              </a:tr>
              <a:tr h="384048">
                <a:tc>
                  <a:txBody>
                    <a:bodyPr/>
                    <a:lstStyle/>
                    <a:p>
                      <a:pPr algn="l"/>
                      <a:r>
                        <a:rPr sz="1300" b="1">
                          <a:solidFill>
                            <a:srgbClr val="222433"/>
                          </a:solidFill>
                          <a:latin typeface="Calibri"/>
                        </a:rPr>
                        <a:t>Silhouette (k = 4)</a:t>
                      </a:r>
                    </a:p>
                  </a:txBody>
                  <a:tcPr anchor="ctr">
                    <a:solidFill>
                      <a:srgbClr val="ECF1F9"/>
                    </a:solidFill>
                  </a:tcPr>
                </a:tc>
                <a:tc>
                  <a:txBody>
                    <a:bodyPr/>
                    <a:lstStyle/>
                    <a:p>
                      <a:pPr algn="ctr"/>
                      <a:r>
                        <a:rPr sz="1300" b="1">
                          <a:solidFill>
                            <a:srgbClr val="1D1B58"/>
                          </a:solidFill>
                          <a:latin typeface="Calibri"/>
                        </a:rPr>
                        <a:t>0.333</a:t>
                      </a:r>
                    </a:p>
                  </a:txBody>
                  <a:tcPr anchor="ctr">
                    <a:solidFill>
                      <a:srgbClr val="ECF1F9"/>
                    </a:solidFill>
                  </a:tcPr>
                </a:tc>
                <a:tc>
                  <a:txBody>
                    <a:bodyPr/>
                    <a:lstStyle/>
                    <a:p>
                      <a:pPr algn="ctr"/>
                      <a:r>
                        <a:rPr sz="1300" b="0">
                          <a:solidFill>
                            <a:srgbClr val="222433"/>
                          </a:solidFill>
                          <a:latin typeface="Calibri"/>
                        </a:rPr>
                        <a:t>0.252</a:t>
                      </a:r>
                    </a:p>
                  </a:txBody>
                  <a:tcPr anchor="ctr">
                    <a:solidFill>
                      <a:srgbClr val="ECF1F9"/>
                    </a:solidFill>
                  </a:tcPr>
                </a:tc>
                <a:tc>
                  <a:txBody>
                    <a:bodyPr/>
                    <a:lstStyle/>
                    <a:p>
                      <a:pPr algn="ctr"/>
                      <a:r>
                        <a:rPr sz="1300" b="0">
                          <a:solidFill>
                            <a:srgbClr val="222433"/>
                          </a:solidFill>
                          <a:latin typeface="Calibri"/>
                        </a:rPr>
                        <a:t>n/a</a:t>
                      </a:r>
                    </a:p>
                  </a:txBody>
                  <a:tcPr anchor="ctr">
                    <a:solidFill>
                      <a:srgbClr val="ECF1F9"/>
                    </a:solidFill>
                  </a:tcPr>
                </a:tc>
                <a:extLst>
                  <a:ext uri="{0D108BD9-81ED-4DB2-BD59-A6C34878D82A}">
                    <a16:rowId xmlns:a16="http://schemas.microsoft.com/office/drawing/2014/main" val="10003"/>
                  </a:ext>
                </a:extLst>
              </a:tr>
              <a:tr h="384048">
                <a:tc>
                  <a:txBody>
                    <a:bodyPr/>
                    <a:lstStyle/>
                    <a:p>
                      <a:pPr algn="l"/>
                      <a:r>
                        <a:rPr sz="1300" b="1">
                          <a:solidFill>
                            <a:srgbClr val="222433"/>
                          </a:solidFill>
                          <a:latin typeface="Calibri"/>
                        </a:rPr>
                        <a:t>Noise points</a:t>
                      </a:r>
                    </a:p>
                  </a:txBody>
                  <a:tcPr anchor="ctr">
                    <a:solidFill>
                      <a:srgbClr val="FFFFFF"/>
                    </a:solidFill>
                  </a:tcPr>
                </a:tc>
                <a:tc>
                  <a:txBody>
                    <a:bodyPr/>
                    <a:lstStyle/>
                    <a:p>
                      <a:pPr algn="ctr"/>
                      <a:r>
                        <a:rPr sz="1300" b="1">
                          <a:solidFill>
                            <a:srgbClr val="1D1B58"/>
                          </a:solidFill>
                          <a:latin typeface="Calibri"/>
                        </a:rPr>
                        <a:t>0</a:t>
                      </a:r>
                    </a:p>
                  </a:txBody>
                  <a:tcPr anchor="ctr">
                    <a:solidFill>
                      <a:srgbClr val="FFFFFF"/>
                    </a:solidFill>
                  </a:tcPr>
                </a:tc>
                <a:tc>
                  <a:txBody>
                    <a:bodyPr/>
                    <a:lstStyle/>
                    <a:p>
                      <a:pPr algn="ctr"/>
                      <a:r>
                        <a:rPr sz="1300" b="0">
                          <a:solidFill>
                            <a:srgbClr val="222433"/>
                          </a:solidFill>
                          <a:latin typeface="Calibri"/>
                        </a:rPr>
                        <a:t>0</a:t>
                      </a:r>
                    </a:p>
                  </a:txBody>
                  <a:tcPr anchor="ctr">
                    <a:solidFill>
                      <a:srgbClr val="FFFFFF"/>
                    </a:solidFill>
                  </a:tcPr>
                </a:tc>
                <a:tc>
                  <a:txBody>
                    <a:bodyPr/>
                    <a:lstStyle/>
                    <a:p>
                      <a:pPr algn="ctr"/>
                      <a:r>
                        <a:rPr sz="1300" b="0">
                          <a:solidFill>
                            <a:srgbClr val="222433"/>
                          </a:solidFill>
                          <a:latin typeface="Calibri"/>
                        </a:rPr>
                        <a:t>52</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4480560" y="3840480"/>
            <a:ext cx="3383280" cy="1645920"/>
          </a:xfrm>
          <a:prstGeom prst="rect">
            <a:avLst/>
          </a:prstGeom>
          <a:noFill/>
        </p:spPr>
        <p:txBody>
          <a:bodyPr wrap="square" lIns="0" tIns="0" rIns="0" bIns="0">
            <a:spAutoFit/>
          </a:bodyPr>
          <a:lstStyle/>
          <a:p>
            <a:pPr marL="228600" indent="-228600">
              <a:spcAft>
                <a:spcPts val="600"/>
              </a:spcAft>
              <a:buClr>
                <a:srgbClr val="1B8FE0"/>
              </a:buClr>
              <a:buFont typeface="Arial"/>
              <a:buChar char="•"/>
            </a:pPr>
            <a:r>
              <a:rPr sz="1300" b="1">
                <a:solidFill>
                  <a:srgbClr val="222433"/>
                </a:solidFill>
                <a:latin typeface="Calibri"/>
              </a:rPr>
              <a:t>DBSCAN </a:t>
            </a:r>
            <a:r>
              <a:rPr sz="1300" b="0">
                <a:solidFill>
                  <a:srgbClr val="222433"/>
                </a:solidFill>
                <a:latin typeface="Calibri"/>
              </a:rPr>
              <a:t>(eps 0.5, min_samples 5) finds one dominant dense region plus noise; one eps can't fit both dense and sparse areas.</a:t>
            </a:r>
          </a:p>
        </p:txBody>
      </p:sp>
      <p:sp>
        <p:nvSpPr>
          <p:cNvPr id="9" name="TextBox 8"/>
          <p:cNvSpPr txBox="1"/>
          <p:nvPr/>
        </p:nvSpPr>
        <p:spPr>
          <a:xfrm>
            <a:off x="8092440" y="3840480"/>
            <a:ext cx="3429000" cy="1645920"/>
          </a:xfrm>
          <a:prstGeom prst="rect">
            <a:avLst/>
          </a:prstGeom>
          <a:noFill/>
        </p:spPr>
        <p:txBody>
          <a:bodyPr wrap="square" lIns="0" tIns="0" rIns="0" bIns="0">
            <a:spAutoFit/>
          </a:bodyPr>
          <a:lstStyle/>
          <a:p>
            <a:pPr marL="228600" indent="-228600">
              <a:spcAft>
                <a:spcPts val="600"/>
              </a:spcAft>
              <a:buClr>
                <a:srgbClr val="1B8FE0"/>
              </a:buClr>
              <a:buFont typeface="Arial"/>
              <a:buChar char="•"/>
            </a:pPr>
            <a:r>
              <a:rPr sz="1300" b="1">
                <a:solidFill>
                  <a:srgbClr val="222433"/>
                </a:solidFill>
                <a:latin typeface="Calibri"/>
              </a:rPr>
              <a:t>Ward hierarchical </a:t>
            </a:r>
            <a:r>
              <a:rPr sz="1300" b="0">
                <a:solidFill>
                  <a:srgbClr val="222433"/>
                </a:solidFill>
                <a:latin typeface="Calibri"/>
              </a:rPr>
              <a:t>is close at k = 2 but merges greedily and can't undo early merges; it also has no predict step.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a:t>What did cleaning remove, step by step?</a:t>
            </a:r>
          </a:p>
        </p:txBody>
      </p:sp>
      <p:sp>
        <p:nvSpPr>
          <p:cNvPr id="4" name="TextBox 3"/>
          <p:cNvSpPr txBox="1"/>
          <p:nvPr/>
        </p:nvSpPr>
        <p:spPr>
          <a:xfrm>
            <a:off x="868680" y="1371600"/>
            <a:ext cx="2286000" cy="365760"/>
          </a:xfrm>
          <a:prstGeom prst="rect">
            <a:avLst/>
          </a:prstGeom>
          <a:noFill/>
        </p:spPr>
        <p:txBody>
          <a:bodyPr wrap="square" lIns="0" tIns="0" rIns="0" bIns="0" anchor="t">
            <a:spAutoFit/>
          </a:bodyPr>
          <a:lstStyle/>
          <a:p>
            <a:pPr algn="l"/>
            <a:r>
              <a:rPr sz="1400" b="1" i="0">
                <a:solidFill>
                  <a:srgbClr val="B9C2E6"/>
                </a:solidFill>
                <a:latin typeface="Calibri"/>
              </a:rPr>
              <a:t>FAQ 5</a:t>
            </a:r>
          </a:p>
        </p:txBody>
      </p:sp>
      <p:sp>
        <p:nvSpPr>
          <p:cNvPr id="5" name="TextBox 4">
            <a:hlinkClick r:id="rId3" action="ppaction://hlinksldjump"/>
          </p:cNvPr>
          <p:cNvSpPr txBox="1"/>
          <p:nvPr/>
        </p:nvSpPr>
        <p:spPr>
          <a:xfrm>
            <a:off x="868680" y="4892040"/>
            <a:ext cx="2194560" cy="320040"/>
          </a:xfrm>
          <a:prstGeom prst="rect">
            <a:avLst/>
          </a:prstGeom>
          <a:noFill/>
        </p:spPr>
        <p:txBody>
          <a:bodyPr wrap="square" lIns="0" tIns="0" r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tIns="0" rIns="0" bIns="0" anchor="t">
            <a:spAutoFit/>
          </a:bodyPr>
          <a:lstStyle/>
          <a:p>
            <a:pPr algn="l"/>
            <a:r>
              <a:rPr sz="1600" b="1" i="0">
                <a:solidFill>
                  <a:srgbClr val="1D1B58"/>
                </a:solidFill>
                <a:latin typeface="Calibri"/>
              </a:rPr>
              <a:t>Five rule-based steps took 541,909 rows to 358,277. Each rule has a business reason.</a:t>
            </a:r>
          </a:p>
        </p:txBody>
      </p:sp>
      <p:graphicFrame>
        <p:nvGraphicFramePr>
          <p:cNvPr id="7" name="Table 6"/>
          <p:cNvGraphicFramePr>
            <a:graphicFrameLocks noGrp="1"/>
          </p:cNvGraphicFramePr>
          <p:nvPr/>
        </p:nvGraphicFramePr>
        <p:xfrm>
          <a:off x="4480560" y="1691640"/>
          <a:ext cx="7040880" cy="31089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518160">
                <a:tc>
                  <a:txBody>
                    <a:bodyPr/>
                    <a:lstStyle/>
                    <a:p>
                      <a:pPr algn="l"/>
                      <a:r>
                        <a:rPr sz="1200" b="1">
                          <a:solidFill>
                            <a:srgbClr val="FFFFFF"/>
                          </a:solidFill>
                          <a:latin typeface="Calibri"/>
                        </a:rPr>
                        <a:t>Step</a:t>
                      </a:r>
                    </a:p>
                  </a:txBody>
                  <a:tcPr marL="73152" marR="73152" anchor="ctr">
                    <a:solidFill>
                      <a:srgbClr val="1D1B58"/>
                    </a:solidFill>
                  </a:tcPr>
                </a:tc>
                <a:tc>
                  <a:txBody>
                    <a:bodyPr/>
                    <a:lstStyle/>
                    <a:p>
                      <a:pPr algn="r"/>
                      <a:r>
                        <a:rPr sz="1200" b="1">
                          <a:solidFill>
                            <a:srgbClr val="FFFFFF"/>
                          </a:solidFill>
                          <a:latin typeface="Calibri"/>
                        </a:rPr>
                        <a:t>Rows removed</a:t>
                      </a:r>
                    </a:p>
                  </a:txBody>
                  <a:tcPr marL="73152" marR="73152" anchor="ctr">
                    <a:solidFill>
                      <a:srgbClr val="1D1B58"/>
                    </a:solidFill>
                  </a:tcPr>
                </a:tc>
                <a:tc>
                  <a:txBody>
                    <a:bodyPr/>
                    <a:lstStyle/>
                    <a:p>
                      <a:pPr algn="r"/>
                      <a:r>
                        <a:rPr sz="1200" b="1">
                          <a:solidFill>
                            <a:srgbClr val="FFFFFF"/>
                          </a:solidFill>
                          <a:latin typeface="Calibri"/>
                        </a:rPr>
                        <a:t>Remaining</a:t>
                      </a:r>
                    </a:p>
                  </a:txBody>
                  <a:tcPr marL="73152" marR="73152" anchor="ctr">
                    <a:solidFill>
                      <a:srgbClr val="1D1B58"/>
                    </a:solidFill>
                  </a:tcPr>
                </a:tc>
                <a:tc>
                  <a:txBody>
                    <a:bodyPr/>
                    <a:lstStyle/>
                    <a:p>
                      <a:pPr algn="l"/>
                      <a:r>
                        <a:rPr sz="1200" b="1">
                          <a:solidFill>
                            <a:srgbClr val="FFFFFF"/>
                          </a:solidFill>
                          <a:latin typeface="Calibri"/>
                        </a:rPr>
                        <a:t>Why</a:t>
                      </a:r>
                    </a:p>
                  </a:txBody>
                  <a:tcPr marL="73152" marR="73152" anchor="ctr">
                    <a:solidFill>
                      <a:srgbClr val="1D1B58"/>
                    </a:solidFill>
                  </a:tcPr>
                </a:tc>
                <a:extLst>
                  <a:ext uri="{0D108BD9-81ED-4DB2-BD59-A6C34878D82A}">
                    <a16:rowId xmlns:a16="http://schemas.microsoft.com/office/drawing/2014/main" val="10000"/>
                  </a:ext>
                </a:extLst>
              </a:tr>
              <a:tr h="518160">
                <a:tc>
                  <a:txBody>
                    <a:bodyPr/>
                    <a:lstStyle/>
                    <a:p>
                      <a:pPr algn="l"/>
                      <a:r>
                        <a:rPr sz="1200" b="1">
                          <a:solidFill>
                            <a:srgbClr val="222433"/>
                          </a:solidFill>
                          <a:latin typeface="Calibri"/>
                        </a:rPr>
                        <a:t>Missing CustomerID</a:t>
                      </a:r>
                    </a:p>
                  </a:txBody>
                  <a:tcPr marL="73152" marR="73152" anchor="ctr">
                    <a:solidFill>
                      <a:srgbClr val="ECF1F9"/>
                    </a:solidFill>
                  </a:tcPr>
                </a:tc>
                <a:tc>
                  <a:txBody>
                    <a:bodyPr/>
                    <a:lstStyle/>
                    <a:p>
                      <a:pPr algn="r"/>
                      <a:r>
                        <a:rPr sz="1200" b="0">
                          <a:solidFill>
                            <a:srgbClr val="222433"/>
                          </a:solidFill>
                          <a:latin typeface="Calibri"/>
                        </a:rPr>
                        <a:t>135,080</a:t>
                      </a:r>
                    </a:p>
                  </a:txBody>
                  <a:tcPr marL="73152" marR="73152" anchor="ctr">
                    <a:solidFill>
                      <a:srgbClr val="ECF1F9"/>
                    </a:solidFill>
                  </a:tcPr>
                </a:tc>
                <a:tc>
                  <a:txBody>
                    <a:bodyPr/>
                    <a:lstStyle/>
                    <a:p>
                      <a:pPr algn="r"/>
                      <a:r>
                        <a:rPr sz="1200" b="0">
                          <a:solidFill>
                            <a:srgbClr val="222433"/>
                          </a:solidFill>
                          <a:latin typeface="Calibri"/>
                        </a:rPr>
                        <a:t>406,829</a:t>
                      </a:r>
                    </a:p>
                  </a:txBody>
                  <a:tcPr marL="73152" marR="73152" anchor="ctr">
                    <a:solidFill>
                      <a:srgbClr val="ECF1F9"/>
                    </a:solidFill>
                  </a:tcPr>
                </a:tc>
                <a:tc>
                  <a:txBody>
                    <a:bodyPr/>
                    <a:lstStyle/>
                    <a:p>
                      <a:pPr algn="l"/>
                      <a:r>
                        <a:rPr sz="1200" b="0">
                          <a:solidFill>
                            <a:srgbClr val="222433"/>
                          </a:solidFill>
                          <a:latin typeface="Calibri"/>
                        </a:rPr>
                        <a:t>RFM is per customer; anonymous rows can't be attributed</a:t>
                      </a:r>
                    </a:p>
                  </a:txBody>
                  <a:tcPr marL="73152" marR="73152" anchor="ctr">
                    <a:solidFill>
                      <a:srgbClr val="ECF1F9"/>
                    </a:solidFill>
                  </a:tcPr>
                </a:tc>
                <a:extLst>
                  <a:ext uri="{0D108BD9-81ED-4DB2-BD59-A6C34878D82A}">
                    <a16:rowId xmlns:a16="http://schemas.microsoft.com/office/drawing/2014/main" val="10001"/>
                  </a:ext>
                </a:extLst>
              </a:tr>
              <a:tr h="518160">
                <a:tc>
                  <a:txBody>
                    <a:bodyPr/>
                    <a:lstStyle/>
                    <a:p>
                      <a:pPr algn="l"/>
                      <a:r>
                        <a:rPr sz="1200" b="1">
                          <a:solidFill>
                            <a:srgbClr val="222433"/>
                          </a:solidFill>
                          <a:latin typeface="Calibri"/>
                        </a:rPr>
                        <a:t>Cancellation invoices</a:t>
                      </a:r>
                    </a:p>
                  </a:txBody>
                  <a:tcPr marL="73152" marR="73152" anchor="ctr">
                    <a:solidFill>
                      <a:srgbClr val="FFFFFF"/>
                    </a:solidFill>
                  </a:tcPr>
                </a:tc>
                <a:tc>
                  <a:txBody>
                    <a:bodyPr/>
                    <a:lstStyle/>
                    <a:p>
                      <a:pPr algn="r"/>
                      <a:r>
                        <a:rPr sz="1200" b="0">
                          <a:solidFill>
                            <a:srgbClr val="222433"/>
                          </a:solidFill>
                          <a:latin typeface="Calibri"/>
                        </a:rPr>
                        <a:t>8,905</a:t>
                      </a:r>
                    </a:p>
                  </a:txBody>
                  <a:tcPr marL="73152" marR="73152" anchor="ctr">
                    <a:solidFill>
                      <a:srgbClr val="FFFFFF"/>
                    </a:solidFill>
                  </a:tcPr>
                </a:tc>
                <a:tc>
                  <a:txBody>
                    <a:bodyPr/>
                    <a:lstStyle/>
                    <a:p>
                      <a:pPr algn="r"/>
                      <a:r>
                        <a:rPr sz="1200" b="0">
                          <a:solidFill>
                            <a:srgbClr val="222433"/>
                          </a:solidFill>
                          <a:latin typeface="Calibri"/>
                        </a:rPr>
                        <a:t>397,924</a:t>
                      </a:r>
                    </a:p>
                  </a:txBody>
                  <a:tcPr marL="73152" marR="73152" anchor="ctr">
                    <a:solidFill>
                      <a:srgbClr val="FFFFFF"/>
                    </a:solidFill>
                  </a:tcPr>
                </a:tc>
                <a:tc>
                  <a:txBody>
                    <a:bodyPr/>
                    <a:lstStyle/>
                    <a:p>
                      <a:pPr algn="l"/>
                      <a:r>
                        <a:rPr sz="1200" b="0">
                          <a:solidFill>
                            <a:srgbClr val="222433"/>
                          </a:solidFill>
                          <a:latin typeface="Calibri"/>
                        </a:rPr>
                        <a:t>Invoices starting 'C' are returns, not purchases</a:t>
                      </a:r>
                    </a:p>
                  </a:txBody>
                  <a:tcPr marL="73152" marR="73152" anchor="ctr">
                    <a:solidFill>
                      <a:srgbClr val="FFFFFF"/>
                    </a:solidFill>
                  </a:tcPr>
                </a:tc>
                <a:extLst>
                  <a:ext uri="{0D108BD9-81ED-4DB2-BD59-A6C34878D82A}">
                    <a16:rowId xmlns:a16="http://schemas.microsoft.com/office/drawing/2014/main" val="10002"/>
                  </a:ext>
                </a:extLst>
              </a:tr>
              <a:tr h="518160">
                <a:tc>
                  <a:txBody>
                    <a:bodyPr/>
                    <a:lstStyle/>
                    <a:p>
                      <a:pPr algn="l"/>
                      <a:r>
                        <a:rPr sz="1200" b="1">
                          <a:solidFill>
                            <a:srgbClr val="222433"/>
                          </a:solidFill>
                          <a:latin typeface="Calibri"/>
                        </a:rPr>
                        <a:t>Invalid unit price</a:t>
                      </a:r>
                    </a:p>
                  </a:txBody>
                  <a:tcPr marL="73152" marR="73152" anchor="ctr">
                    <a:solidFill>
                      <a:srgbClr val="ECF1F9"/>
                    </a:solidFill>
                  </a:tcPr>
                </a:tc>
                <a:tc>
                  <a:txBody>
                    <a:bodyPr/>
                    <a:lstStyle/>
                    <a:p>
                      <a:pPr algn="r"/>
                      <a:r>
                        <a:rPr sz="1200" b="0">
                          <a:solidFill>
                            <a:srgbClr val="222433"/>
                          </a:solidFill>
                          <a:latin typeface="Calibri"/>
                        </a:rPr>
                        <a:t>44</a:t>
                      </a:r>
                    </a:p>
                  </a:txBody>
                  <a:tcPr marL="73152" marR="73152" anchor="ctr">
                    <a:solidFill>
                      <a:srgbClr val="ECF1F9"/>
                    </a:solidFill>
                  </a:tcPr>
                </a:tc>
                <a:tc>
                  <a:txBody>
                    <a:bodyPr/>
                    <a:lstStyle/>
                    <a:p>
                      <a:pPr algn="r"/>
                      <a:r>
                        <a:rPr sz="1200" b="0">
                          <a:solidFill>
                            <a:srgbClr val="222433"/>
                          </a:solidFill>
                          <a:latin typeface="Calibri"/>
                        </a:rPr>
                        <a:t>397,880</a:t>
                      </a:r>
                    </a:p>
                  </a:txBody>
                  <a:tcPr marL="73152" marR="73152" anchor="ctr">
                    <a:solidFill>
                      <a:srgbClr val="ECF1F9"/>
                    </a:solidFill>
                  </a:tcPr>
                </a:tc>
                <a:tc>
                  <a:txBody>
                    <a:bodyPr/>
                    <a:lstStyle/>
                    <a:p>
                      <a:pPr algn="l"/>
                      <a:r>
                        <a:rPr sz="1200" b="0">
                          <a:solidFill>
                            <a:srgbClr val="222433"/>
                          </a:solidFill>
                          <a:latin typeface="Calibri"/>
                        </a:rPr>
                        <a:t>Prices below £0.01 are adjustments or errors</a:t>
                      </a:r>
                    </a:p>
                  </a:txBody>
                  <a:tcPr marL="73152" marR="73152" anchor="ctr">
                    <a:solidFill>
                      <a:srgbClr val="ECF1F9"/>
                    </a:solidFill>
                  </a:tcPr>
                </a:tc>
                <a:extLst>
                  <a:ext uri="{0D108BD9-81ED-4DB2-BD59-A6C34878D82A}">
                    <a16:rowId xmlns:a16="http://schemas.microsoft.com/office/drawing/2014/main" val="10003"/>
                  </a:ext>
                </a:extLst>
              </a:tr>
              <a:tr h="518160">
                <a:tc>
                  <a:txBody>
                    <a:bodyPr/>
                    <a:lstStyle/>
                    <a:p>
                      <a:pPr algn="l"/>
                      <a:r>
                        <a:rPr sz="1200" b="1">
                          <a:solidFill>
                            <a:srgbClr val="222433"/>
                          </a:solidFill>
                          <a:latin typeface="Calibri"/>
                        </a:rPr>
                        <a:t>Non-numeric stock codes</a:t>
                      </a:r>
                    </a:p>
                  </a:txBody>
                  <a:tcPr marL="73152" marR="73152" anchor="ctr">
                    <a:solidFill>
                      <a:srgbClr val="FFFFFF"/>
                    </a:solidFill>
                  </a:tcPr>
                </a:tc>
                <a:tc>
                  <a:txBody>
                    <a:bodyPr/>
                    <a:lstStyle/>
                    <a:p>
                      <a:pPr algn="r"/>
                      <a:r>
                        <a:rPr sz="1200" b="0">
                          <a:solidFill>
                            <a:srgbClr val="222433"/>
                          </a:solidFill>
                          <a:latin typeface="Calibri"/>
                        </a:rPr>
                        <a:t>34,793</a:t>
                      </a:r>
                    </a:p>
                  </a:txBody>
                  <a:tcPr marL="73152" marR="73152" anchor="ctr">
                    <a:solidFill>
                      <a:srgbClr val="FFFFFF"/>
                    </a:solidFill>
                  </a:tcPr>
                </a:tc>
                <a:tc>
                  <a:txBody>
                    <a:bodyPr/>
                    <a:lstStyle/>
                    <a:p>
                      <a:pPr algn="r"/>
                      <a:r>
                        <a:rPr sz="1200" b="0">
                          <a:solidFill>
                            <a:srgbClr val="222433"/>
                          </a:solidFill>
                          <a:latin typeface="Calibri"/>
                        </a:rPr>
                        <a:t>363,087</a:t>
                      </a:r>
                    </a:p>
                  </a:txBody>
                  <a:tcPr marL="73152" marR="73152" anchor="ctr">
                    <a:solidFill>
                      <a:srgbClr val="FFFFFF"/>
                    </a:solidFill>
                  </a:tcPr>
                </a:tc>
                <a:tc>
                  <a:txBody>
                    <a:bodyPr/>
                    <a:lstStyle/>
                    <a:p>
                      <a:pPr algn="l"/>
                      <a:r>
                        <a:rPr sz="1200" b="0">
                          <a:solidFill>
                            <a:srgbClr val="222433"/>
                          </a:solidFill>
                          <a:latin typeface="Calibri"/>
                        </a:rPr>
                        <a:t>Drops service codes (POST, BANK CHARGES) but also lettered variants like 85123A</a:t>
                      </a:r>
                    </a:p>
                  </a:txBody>
                  <a:tcPr marL="73152" marR="73152" anchor="ctr">
                    <a:solidFill>
                      <a:srgbClr val="FFFFFF"/>
                    </a:solidFill>
                  </a:tcPr>
                </a:tc>
                <a:extLst>
                  <a:ext uri="{0D108BD9-81ED-4DB2-BD59-A6C34878D82A}">
                    <a16:rowId xmlns:a16="http://schemas.microsoft.com/office/drawing/2014/main" val="10004"/>
                  </a:ext>
                </a:extLst>
              </a:tr>
              <a:tr h="518160">
                <a:tc>
                  <a:txBody>
                    <a:bodyPr/>
                    <a:lstStyle/>
                    <a:p>
                      <a:pPr algn="l"/>
                      <a:r>
                        <a:rPr sz="1200" b="1">
                          <a:solidFill>
                            <a:srgbClr val="222433"/>
                          </a:solidFill>
                          <a:latin typeface="Calibri"/>
                        </a:rPr>
                        <a:t>Exact duplicates</a:t>
                      </a:r>
                    </a:p>
                  </a:txBody>
                  <a:tcPr marL="73152" marR="73152" anchor="ctr">
                    <a:solidFill>
                      <a:srgbClr val="ECF1F9"/>
                    </a:solidFill>
                  </a:tcPr>
                </a:tc>
                <a:tc>
                  <a:txBody>
                    <a:bodyPr/>
                    <a:lstStyle/>
                    <a:p>
                      <a:pPr algn="r"/>
                      <a:r>
                        <a:rPr sz="1200" b="0">
                          <a:solidFill>
                            <a:srgbClr val="222433"/>
                          </a:solidFill>
                          <a:latin typeface="Calibri"/>
                        </a:rPr>
                        <a:t>4,810</a:t>
                      </a:r>
                    </a:p>
                  </a:txBody>
                  <a:tcPr marL="73152" marR="73152" anchor="ctr">
                    <a:solidFill>
                      <a:srgbClr val="ECF1F9"/>
                    </a:solidFill>
                  </a:tcPr>
                </a:tc>
                <a:tc>
                  <a:txBody>
                    <a:bodyPr/>
                    <a:lstStyle/>
                    <a:p>
                      <a:pPr algn="r"/>
                      <a:r>
                        <a:rPr sz="1200" b="0">
                          <a:solidFill>
                            <a:srgbClr val="222433"/>
                          </a:solidFill>
                          <a:latin typeface="Calibri"/>
                        </a:rPr>
                        <a:t>358,277</a:t>
                      </a:r>
                    </a:p>
                  </a:txBody>
                  <a:tcPr marL="73152" marR="73152" anchor="ctr">
                    <a:solidFill>
                      <a:srgbClr val="ECF1F9"/>
                    </a:solidFill>
                  </a:tcPr>
                </a:tc>
                <a:tc>
                  <a:txBody>
                    <a:bodyPr/>
                    <a:lstStyle/>
                    <a:p>
                      <a:pPr algn="l"/>
                      <a:r>
                        <a:rPr sz="1200" b="0">
                          <a:solidFill>
                            <a:srgbClr val="222433"/>
                          </a:solidFill>
                          <a:latin typeface="Calibri"/>
                        </a:rPr>
                        <a:t>Exact repeats would double-count spend</a:t>
                      </a:r>
                    </a:p>
                  </a:txBody>
                  <a:tcPr marL="73152" marR="73152" anchor="ctr">
                    <a:solidFill>
                      <a:srgbClr val="ECF1F9"/>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4480560" y="4983480"/>
            <a:ext cx="7040880" cy="457200"/>
          </a:xfrm>
          <a:prstGeom prst="rect">
            <a:avLst/>
          </a:prstGeom>
          <a:noFill/>
        </p:spPr>
        <p:txBody>
          <a:bodyPr wrap="square" lIns="0" tIns="0" rIns="0" bIns="0" anchor="t">
            <a:spAutoFit/>
          </a:bodyPr>
          <a:lstStyle/>
          <a:p>
            <a:pPr algn="l"/>
            <a:r>
              <a:rPr sz="1200" b="0" i="1">
                <a:solidFill>
                  <a:srgbClr val="5B6075"/>
                </a:solidFill>
                <a:latin typeface="Calibri"/>
              </a:rPr>
              <a:t>Every step prints its count at run time and is saved to outputs/analysis_results.json.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a:t>Isn't 99% accuracy a sign of leakage?</a:t>
            </a:r>
          </a:p>
        </p:txBody>
      </p:sp>
      <p:sp>
        <p:nvSpPr>
          <p:cNvPr id="4" name="TextBox 3"/>
          <p:cNvSpPr txBox="1"/>
          <p:nvPr/>
        </p:nvSpPr>
        <p:spPr>
          <a:xfrm>
            <a:off x="868680" y="1371600"/>
            <a:ext cx="2286000" cy="365760"/>
          </a:xfrm>
          <a:prstGeom prst="rect">
            <a:avLst/>
          </a:prstGeom>
          <a:noFill/>
        </p:spPr>
        <p:txBody>
          <a:bodyPr wrap="square" lIns="0" tIns="0" rIns="0" bIns="0" anchor="t">
            <a:spAutoFit/>
          </a:bodyPr>
          <a:lstStyle/>
          <a:p>
            <a:pPr algn="l"/>
            <a:r>
              <a:rPr sz="1400" b="1" i="0">
                <a:solidFill>
                  <a:srgbClr val="B9C2E6"/>
                </a:solidFill>
                <a:latin typeface="Calibri"/>
              </a:rPr>
              <a:t>FAQ 6</a:t>
            </a:r>
          </a:p>
        </p:txBody>
      </p:sp>
      <p:sp>
        <p:nvSpPr>
          <p:cNvPr id="5" name="TextBox 4">
            <a:hlinkClick r:id="rId3" action="ppaction://hlinksldjump"/>
          </p:cNvPr>
          <p:cNvSpPr txBox="1"/>
          <p:nvPr/>
        </p:nvSpPr>
        <p:spPr>
          <a:xfrm>
            <a:off x="868680" y="4892040"/>
            <a:ext cx="2194560" cy="320040"/>
          </a:xfrm>
          <a:prstGeom prst="rect">
            <a:avLst/>
          </a:prstGeom>
          <a:noFill/>
        </p:spPr>
        <p:txBody>
          <a:bodyPr wrap="square" lIns="0" tIns="0" r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tIns="0" rIns="0" bIns="0" anchor="t">
            <a:spAutoFit/>
          </a:bodyPr>
          <a:lstStyle/>
          <a:p>
            <a:pPr algn="l"/>
            <a:r>
              <a:rPr sz="1600" b="1" i="0">
                <a:solidFill>
                  <a:srgbClr val="1D1B58"/>
                </a:solidFill>
                <a:latin typeface="Calibri"/>
              </a:rPr>
              <a:t>It's circular by design, and we say so. The score measures reproducibility of the K-means labels, not forecasting.</a:t>
            </a:r>
          </a:p>
        </p:txBody>
      </p:sp>
      <p:sp>
        <p:nvSpPr>
          <p:cNvPr id="7" name="Rounded Rectangle 6"/>
          <p:cNvSpPr/>
          <p:nvPr/>
        </p:nvSpPr>
        <p:spPr>
          <a:xfrm>
            <a:off x="4480560" y="1691640"/>
            <a:ext cx="7040880" cy="109728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709160" y="1801368"/>
            <a:ext cx="6583680" cy="320040"/>
          </a:xfrm>
          <a:prstGeom prst="rect">
            <a:avLst/>
          </a:prstGeom>
          <a:noFill/>
        </p:spPr>
        <p:txBody>
          <a:bodyPr wrap="square" lIns="0" tIns="0" rIns="0" bIns="0" anchor="t">
            <a:spAutoFit/>
          </a:bodyPr>
          <a:lstStyle/>
          <a:p>
            <a:pPr algn="l"/>
            <a:r>
              <a:rPr sz="1500" b="1" i="0">
                <a:solidFill>
                  <a:srgbClr val="1D1B58"/>
                </a:solidFill>
                <a:latin typeface="Calibri"/>
              </a:rPr>
              <a:t>What it is</a:t>
            </a:r>
          </a:p>
        </p:txBody>
      </p:sp>
      <p:sp>
        <p:nvSpPr>
          <p:cNvPr id="9" name="TextBox 8"/>
          <p:cNvSpPr txBox="1"/>
          <p:nvPr/>
        </p:nvSpPr>
        <p:spPr>
          <a:xfrm>
            <a:off x="4709160" y="2121408"/>
            <a:ext cx="6629400" cy="640080"/>
          </a:xfrm>
          <a:prstGeom prst="rect">
            <a:avLst/>
          </a:prstGeom>
          <a:noFill/>
        </p:spPr>
        <p:txBody>
          <a:bodyPr wrap="square" lIns="0" tIns="0" rIns="0" bIns="0" anchor="t">
            <a:spAutoFit/>
          </a:bodyPr>
          <a:lstStyle/>
          <a:p>
            <a:pPr algn="l"/>
            <a:r>
              <a:rPr sz="1300" b="0" i="0">
                <a:solidFill>
                  <a:srgbClr val="222433"/>
                </a:solidFill>
                <a:latin typeface="Calibri"/>
              </a:rPr>
              <a:t>The target (segment) was created by K-means from the same scaled R, F, M. K-means boundaries are simple straight lines in that space, so a Random Forest recovers them almost perfectly.</a:t>
            </a:r>
          </a:p>
        </p:txBody>
      </p:sp>
      <p:sp>
        <p:nvSpPr>
          <p:cNvPr id="10" name="Rounded Rectangle 9"/>
          <p:cNvSpPr/>
          <p:nvPr/>
        </p:nvSpPr>
        <p:spPr>
          <a:xfrm>
            <a:off x="4480560" y="2926080"/>
            <a:ext cx="7040880" cy="109728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709160" y="3035808"/>
            <a:ext cx="6583680" cy="320040"/>
          </a:xfrm>
          <a:prstGeom prst="rect">
            <a:avLst/>
          </a:prstGeom>
          <a:noFill/>
        </p:spPr>
        <p:txBody>
          <a:bodyPr wrap="square" lIns="0" tIns="0" rIns="0" bIns="0" anchor="t">
            <a:spAutoFit/>
          </a:bodyPr>
          <a:lstStyle/>
          <a:p>
            <a:pPr algn="l"/>
            <a:r>
              <a:rPr sz="1500" b="1" i="0">
                <a:solidFill>
                  <a:srgbClr val="1B8FE0"/>
                </a:solidFill>
                <a:latin typeface="Calibri"/>
              </a:rPr>
              <a:t>Why it's still useful</a:t>
            </a:r>
          </a:p>
        </p:txBody>
      </p:sp>
      <p:sp>
        <p:nvSpPr>
          <p:cNvPr id="12" name="TextBox 11"/>
          <p:cNvSpPr txBox="1"/>
          <p:nvPr/>
        </p:nvSpPr>
        <p:spPr>
          <a:xfrm>
            <a:off x="4709160" y="3355848"/>
            <a:ext cx="6629400" cy="640080"/>
          </a:xfrm>
          <a:prstGeom prst="rect">
            <a:avLst/>
          </a:prstGeom>
          <a:noFill/>
        </p:spPr>
        <p:txBody>
          <a:bodyPr wrap="square" lIns="0" tIns="0" rIns="0" bIns="0" anchor="t">
            <a:spAutoFit/>
          </a:bodyPr>
          <a:lstStyle/>
          <a:p>
            <a:pPr algn="l"/>
            <a:r>
              <a:rPr sz="1300" b="0" i="0">
                <a:solidFill>
                  <a:srgbClr val="222433"/>
                </a:solidFill>
                <a:latin typeface="Calibri"/>
              </a:rPr>
              <a:t>It gives a fixed, fast scoring rule for new customers, and it confirms the segments are learnable and consistent. The 5 errors sit near the boundary.</a:t>
            </a:r>
          </a:p>
        </p:txBody>
      </p:sp>
      <p:sp>
        <p:nvSpPr>
          <p:cNvPr id="13" name="Rounded Rectangle 12"/>
          <p:cNvSpPr/>
          <p:nvPr/>
        </p:nvSpPr>
        <p:spPr>
          <a:xfrm>
            <a:off x="4480560" y="4160520"/>
            <a:ext cx="7040880" cy="109728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709160" y="4270248"/>
            <a:ext cx="6583680" cy="320040"/>
          </a:xfrm>
          <a:prstGeom prst="rect">
            <a:avLst/>
          </a:prstGeom>
          <a:noFill/>
        </p:spPr>
        <p:txBody>
          <a:bodyPr wrap="square" lIns="0" tIns="0" rIns="0" bIns="0" anchor="t">
            <a:spAutoFit/>
          </a:bodyPr>
          <a:lstStyle/>
          <a:p>
            <a:pPr algn="l"/>
            <a:r>
              <a:rPr sz="1500" b="1" i="0">
                <a:solidFill>
                  <a:srgbClr val="E4572E"/>
                </a:solidFill>
                <a:latin typeface="Calibri"/>
              </a:rPr>
              <a:t>What it is NOT</a:t>
            </a:r>
          </a:p>
        </p:txBody>
      </p:sp>
      <p:sp>
        <p:nvSpPr>
          <p:cNvPr id="15" name="TextBox 14"/>
          <p:cNvSpPr txBox="1"/>
          <p:nvPr/>
        </p:nvSpPr>
        <p:spPr>
          <a:xfrm>
            <a:off x="4709160" y="4590288"/>
            <a:ext cx="6629400" cy="640080"/>
          </a:xfrm>
          <a:prstGeom prst="rect">
            <a:avLst/>
          </a:prstGeom>
          <a:noFill/>
        </p:spPr>
        <p:txBody>
          <a:bodyPr wrap="square" lIns="0" tIns="0" rIns="0" bIns="0" anchor="t">
            <a:spAutoFit/>
          </a:bodyPr>
          <a:lstStyle/>
          <a:p>
            <a:pPr algn="l"/>
            <a:r>
              <a:rPr sz="1300" b="0" i="0">
                <a:solidFill>
                  <a:srgbClr val="222433"/>
                </a:solidFill>
                <a:latin typeface="Calibri"/>
              </a:rPr>
              <a:t>Evidence that we can predict who will buy next. That needs a target from a later time window (FAQ 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a:t>How would you build a true future-purchase model?</a:t>
            </a:r>
          </a:p>
        </p:txBody>
      </p:sp>
      <p:sp>
        <p:nvSpPr>
          <p:cNvPr id="4" name="TextBox 3"/>
          <p:cNvSpPr txBox="1"/>
          <p:nvPr/>
        </p:nvSpPr>
        <p:spPr>
          <a:xfrm>
            <a:off x="868680" y="1371600"/>
            <a:ext cx="2286000" cy="365760"/>
          </a:xfrm>
          <a:prstGeom prst="rect">
            <a:avLst/>
          </a:prstGeom>
          <a:noFill/>
        </p:spPr>
        <p:txBody>
          <a:bodyPr wrap="square" lIns="0" tIns="0" rIns="0" bIns="0" anchor="t">
            <a:spAutoFit/>
          </a:bodyPr>
          <a:lstStyle/>
          <a:p>
            <a:pPr algn="l"/>
            <a:r>
              <a:rPr sz="1400" b="1" i="0">
                <a:solidFill>
                  <a:srgbClr val="B9C2E6"/>
                </a:solidFill>
                <a:latin typeface="Calibri"/>
              </a:rPr>
              <a:t>FAQ 7</a:t>
            </a:r>
          </a:p>
        </p:txBody>
      </p:sp>
      <p:sp>
        <p:nvSpPr>
          <p:cNvPr id="5" name="TextBox 4">
            <a:hlinkClick r:id="rId3" action="ppaction://hlinksldjump"/>
          </p:cNvPr>
          <p:cNvSpPr txBox="1"/>
          <p:nvPr/>
        </p:nvSpPr>
        <p:spPr>
          <a:xfrm>
            <a:off x="868680" y="4892040"/>
            <a:ext cx="2194560" cy="320040"/>
          </a:xfrm>
          <a:prstGeom prst="rect">
            <a:avLst/>
          </a:prstGeom>
          <a:noFill/>
        </p:spPr>
        <p:txBody>
          <a:bodyPr wrap="square" lIns="0" tIns="0" r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tIns="0" rIns="0" bIns="0" anchor="t">
            <a:spAutoFit/>
          </a:bodyPr>
          <a:lstStyle/>
          <a:p>
            <a:pPr algn="l"/>
            <a:r>
              <a:rPr sz="1600" b="1" i="0">
                <a:solidFill>
                  <a:srgbClr val="1D1B58"/>
                </a:solidFill>
                <a:latin typeface="Calibri"/>
              </a:rPr>
              <a:t>Split by time: build features only from the past, and define the target in a later window the model never saw.</a:t>
            </a:r>
          </a:p>
        </p:txBody>
      </p:sp>
      <p:sp>
        <p:nvSpPr>
          <p:cNvPr id="7" name="Rounded Rectangle 6"/>
          <p:cNvSpPr/>
          <p:nvPr/>
        </p:nvSpPr>
        <p:spPr>
          <a:xfrm>
            <a:off x="4480560" y="2103120"/>
            <a:ext cx="4023360" cy="685800"/>
          </a:xfrm>
          <a:prstGeom prst="roundRect">
            <a:avLst>
              <a:gd name="adj" fmla="val 6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17720" y="2103120"/>
            <a:ext cx="3749040" cy="685800"/>
          </a:xfrm>
          <a:prstGeom prst="rect">
            <a:avLst/>
          </a:prstGeom>
          <a:noFill/>
        </p:spPr>
        <p:txBody>
          <a:bodyPr wrap="square" lIns="0" tIns="0" rIns="0" bIns="0" anchor="ctr">
            <a:spAutoFit/>
          </a:bodyPr>
          <a:lstStyle/>
          <a:p>
            <a:pPr algn="l"/>
            <a:r>
              <a:rPr sz="1400" b="1" i="0">
                <a:solidFill>
                  <a:srgbClr val="FFFFFF"/>
                </a:solidFill>
                <a:latin typeface="Calibri"/>
              </a:rPr>
              <a:t>Feature window</a:t>
            </a:r>
          </a:p>
          <a:p>
            <a:pPr algn="l"/>
            <a:r>
              <a:rPr sz="1200" b="0" i="0">
                <a:solidFill>
                  <a:srgbClr val="FFFFFF"/>
                </a:solidFill>
                <a:latin typeface="Calibri"/>
              </a:rPr>
              <a:t>1 Dec 2010 – 31 Aug 2011</a:t>
            </a:r>
          </a:p>
        </p:txBody>
      </p:sp>
      <p:sp>
        <p:nvSpPr>
          <p:cNvPr id="9" name="TextBox 8"/>
          <p:cNvSpPr txBox="1"/>
          <p:nvPr/>
        </p:nvSpPr>
        <p:spPr>
          <a:xfrm>
            <a:off x="4617720" y="2880360"/>
            <a:ext cx="3749040" cy="457200"/>
          </a:xfrm>
          <a:prstGeom prst="rect">
            <a:avLst/>
          </a:prstGeom>
          <a:noFill/>
        </p:spPr>
        <p:txBody>
          <a:bodyPr wrap="square" lIns="0" tIns="0" rIns="0" bIns="0" anchor="t">
            <a:spAutoFit/>
          </a:bodyPr>
          <a:lstStyle/>
          <a:p>
            <a:pPr algn="l"/>
            <a:r>
              <a:rPr sz="1200" b="0" i="0">
                <a:solidFill>
                  <a:srgbClr val="5B6075"/>
                </a:solidFill>
                <a:latin typeface="Calibri"/>
              </a:rPr>
              <a:t>Compute RFM (+ extra features)</a:t>
            </a:r>
          </a:p>
        </p:txBody>
      </p:sp>
      <p:sp>
        <p:nvSpPr>
          <p:cNvPr id="10" name="Rounded Rectangle 9"/>
          <p:cNvSpPr/>
          <p:nvPr/>
        </p:nvSpPr>
        <p:spPr>
          <a:xfrm>
            <a:off x="8549640" y="2103120"/>
            <a:ext cx="2971800" cy="685800"/>
          </a:xfrm>
          <a:prstGeom prst="roundRect">
            <a:avLst>
              <a:gd name="adj" fmla="val 6000"/>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686800" y="2103120"/>
            <a:ext cx="2697480" cy="685800"/>
          </a:xfrm>
          <a:prstGeom prst="rect">
            <a:avLst/>
          </a:prstGeom>
          <a:noFill/>
        </p:spPr>
        <p:txBody>
          <a:bodyPr wrap="square" lIns="0" tIns="0" rIns="0" bIns="0" anchor="ctr">
            <a:spAutoFit/>
          </a:bodyPr>
          <a:lstStyle/>
          <a:p>
            <a:pPr algn="l"/>
            <a:r>
              <a:rPr sz="1400" b="1" i="0">
                <a:solidFill>
                  <a:srgbClr val="FFFFFF"/>
                </a:solidFill>
                <a:latin typeface="Calibri"/>
              </a:rPr>
              <a:t>Outcome window</a:t>
            </a:r>
          </a:p>
          <a:p>
            <a:pPr algn="l"/>
            <a:r>
              <a:rPr sz="1200" b="0" i="0">
                <a:solidFill>
                  <a:srgbClr val="FFFFFF"/>
                </a:solidFill>
                <a:latin typeface="Calibri"/>
              </a:rPr>
              <a:t>1 Sep – 30 Nov 2011</a:t>
            </a:r>
          </a:p>
        </p:txBody>
      </p:sp>
      <p:sp>
        <p:nvSpPr>
          <p:cNvPr id="12" name="TextBox 11"/>
          <p:cNvSpPr txBox="1"/>
          <p:nvPr/>
        </p:nvSpPr>
        <p:spPr>
          <a:xfrm>
            <a:off x="8686800" y="2880360"/>
            <a:ext cx="2697480" cy="457200"/>
          </a:xfrm>
          <a:prstGeom prst="rect">
            <a:avLst/>
          </a:prstGeom>
          <a:noFill/>
        </p:spPr>
        <p:txBody>
          <a:bodyPr wrap="square" lIns="0" tIns="0" rIns="0" bIns="0" anchor="t">
            <a:spAutoFit/>
          </a:bodyPr>
          <a:lstStyle/>
          <a:p>
            <a:pPr algn="l"/>
            <a:r>
              <a:rPr sz="1200" b="0" i="0">
                <a:solidFill>
                  <a:srgbClr val="5B6075"/>
                </a:solidFill>
                <a:latin typeface="Calibri"/>
              </a:rPr>
              <a:t>Target: purchased again in 90 days?</a:t>
            </a:r>
          </a:p>
        </p:txBody>
      </p:sp>
      <p:sp>
        <p:nvSpPr>
          <p:cNvPr id="13" name="TextBox 12"/>
          <p:cNvSpPr txBox="1"/>
          <p:nvPr/>
        </p:nvSpPr>
        <p:spPr>
          <a:xfrm>
            <a:off x="8183879" y="1719072"/>
            <a:ext cx="914400" cy="320040"/>
          </a:xfrm>
          <a:prstGeom prst="rect">
            <a:avLst/>
          </a:prstGeom>
          <a:noFill/>
        </p:spPr>
        <p:txBody>
          <a:bodyPr wrap="square" lIns="0" tIns="0" rIns="0" bIns="0" anchor="t">
            <a:spAutoFit/>
          </a:bodyPr>
          <a:lstStyle/>
          <a:p>
            <a:pPr algn="ctr"/>
            <a:r>
              <a:rPr sz="1100" b="1" i="0">
                <a:solidFill>
                  <a:srgbClr val="E4572E"/>
                </a:solidFill>
                <a:latin typeface="Calibri"/>
              </a:rPr>
              <a:t>cutoff</a:t>
            </a:r>
          </a:p>
        </p:txBody>
      </p:sp>
      <p:cxnSp>
        <p:nvCxnSpPr>
          <p:cNvPr id="14" name="Connector 13"/>
          <p:cNvCxnSpPr/>
          <p:nvPr/>
        </p:nvCxnSpPr>
        <p:spPr>
          <a:xfrm>
            <a:off x="8503920" y="2011679"/>
            <a:ext cx="0" cy="868681"/>
          </a:xfrm>
          <a:prstGeom prst="line">
            <a:avLst/>
          </a:prstGeom>
          <a:ln w="25400">
            <a:solidFill>
              <a:srgbClr val="E4572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3520440"/>
            <a:ext cx="7040880" cy="1920240"/>
          </a:xfrm>
          <a:prstGeom prst="rect">
            <a:avLst/>
          </a:prstGeom>
          <a:noFill/>
        </p:spPr>
        <p:txBody>
          <a:bodyPr wrap="square" lIns="0" tIns="0" rIns="0" bIns="0">
            <a:spAutoFit/>
          </a:bodyPr>
          <a:lstStyle/>
          <a:p>
            <a:pPr marL="228600" indent="-228600">
              <a:spcAft>
                <a:spcPts val="600"/>
              </a:spcAft>
              <a:buClr>
                <a:srgbClr val="1B8FE0"/>
              </a:buClr>
              <a:buFont typeface="Arial"/>
              <a:buChar char="•"/>
            </a:pPr>
            <a:r>
              <a:rPr sz="1300" b="1">
                <a:solidFill>
                  <a:srgbClr val="222433"/>
                </a:solidFill>
                <a:latin typeface="Calibri"/>
              </a:rPr>
              <a:t>Validate forward in time: </a:t>
            </a:r>
            <a:r>
              <a:rPr sz="1300" b="0">
                <a:solidFill>
                  <a:srgbClr val="222433"/>
                </a:solidFill>
                <a:latin typeface="Calibri"/>
              </a:rPr>
              <a:t>train on one cutoff, test on a later one; never shuffle across time.</a:t>
            </a:r>
          </a:p>
          <a:p>
            <a:pPr marL="228600" indent="-228600">
              <a:spcAft>
                <a:spcPts val="600"/>
              </a:spcAft>
              <a:buClr>
                <a:srgbClr val="1B8FE0"/>
              </a:buClr>
              <a:buFont typeface="Arial"/>
              <a:buChar char="•"/>
            </a:pPr>
            <a:r>
              <a:rPr sz="1300" b="1">
                <a:solidFill>
                  <a:srgbClr val="222433"/>
                </a:solidFill>
                <a:latin typeface="Calibri"/>
              </a:rPr>
              <a:t>Metrics: </a:t>
            </a:r>
            <a:r>
              <a:rPr sz="1300" b="0">
                <a:solidFill>
                  <a:srgbClr val="222433"/>
                </a:solidFill>
                <a:latin typeface="Calibri"/>
              </a:rPr>
              <a:t>ROC-AUC, precision-recall AUC, and lift in the top decile, compared against a simple 'most recent buyers' baseline.</a:t>
            </a:r>
          </a:p>
          <a:p>
            <a:pPr marL="228600" indent="-228600">
              <a:spcAft>
                <a:spcPts val="600"/>
              </a:spcAft>
              <a:buClr>
                <a:srgbClr val="1B8FE0"/>
              </a:buClr>
              <a:buFont typeface="Arial"/>
              <a:buChar char="•"/>
            </a:pPr>
            <a:r>
              <a:rPr sz="1300" b="1">
                <a:solidFill>
                  <a:srgbClr val="222433"/>
                </a:solidFill>
                <a:latin typeface="Calibri"/>
              </a:rPr>
              <a:t>Use: </a:t>
            </a:r>
            <a:r>
              <a:rPr sz="1300" b="0">
                <a:solidFill>
                  <a:srgbClr val="222433"/>
                </a:solidFill>
                <a:latin typeface="Calibri"/>
              </a:rPr>
              <a:t>rank customers by repurchase probability to target retention spend.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a:t>How stable are the clusters?</a:t>
            </a:r>
          </a:p>
        </p:txBody>
      </p:sp>
      <p:sp>
        <p:nvSpPr>
          <p:cNvPr id="4" name="TextBox 3"/>
          <p:cNvSpPr txBox="1"/>
          <p:nvPr/>
        </p:nvSpPr>
        <p:spPr>
          <a:xfrm>
            <a:off x="868680" y="1371600"/>
            <a:ext cx="2286000" cy="365760"/>
          </a:xfrm>
          <a:prstGeom prst="rect">
            <a:avLst/>
          </a:prstGeom>
          <a:noFill/>
        </p:spPr>
        <p:txBody>
          <a:bodyPr wrap="square" lIns="0" tIns="0" rIns="0" bIns="0" anchor="t">
            <a:spAutoFit/>
          </a:bodyPr>
          <a:lstStyle/>
          <a:p>
            <a:pPr algn="l"/>
            <a:r>
              <a:rPr sz="1400" b="1" i="0">
                <a:solidFill>
                  <a:srgbClr val="B9C2E6"/>
                </a:solidFill>
                <a:latin typeface="Calibri"/>
              </a:rPr>
              <a:t>FAQ 8</a:t>
            </a:r>
          </a:p>
        </p:txBody>
      </p:sp>
      <p:sp>
        <p:nvSpPr>
          <p:cNvPr id="5" name="TextBox 4">
            <a:hlinkClick r:id="rId3" action="ppaction://hlinksldjump"/>
          </p:cNvPr>
          <p:cNvSpPr txBox="1"/>
          <p:nvPr/>
        </p:nvSpPr>
        <p:spPr>
          <a:xfrm>
            <a:off x="868680" y="4892040"/>
            <a:ext cx="2194560" cy="320040"/>
          </a:xfrm>
          <a:prstGeom prst="rect">
            <a:avLst/>
          </a:prstGeom>
          <a:noFill/>
        </p:spPr>
        <p:txBody>
          <a:bodyPr wrap="square" lIns="0" tIns="0" r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tIns="0" rIns="0" bIns="0" anchor="t">
            <a:spAutoFit/>
          </a:bodyPr>
          <a:lstStyle/>
          <a:p>
            <a:pPr algn="l"/>
            <a:r>
              <a:rPr sz="1600" b="1" i="0">
                <a:solidFill>
                  <a:srgbClr val="1D1B58"/>
                </a:solidFill>
                <a:latin typeface="Calibri"/>
              </a:rPr>
              <a:t>Very stable: refitting with different seeds or on 80% subsamples reproduces almost exactly the same split.</a:t>
            </a:r>
          </a:p>
        </p:txBody>
      </p:sp>
      <p:graphicFrame>
        <p:nvGraphicFramePr>
          <p:cNvPr id="7" name="Chart 6"/>
          <p:cNvGraphicFramePr>
            <a:graphicFrameLocks noGrp="1"/>
          </p:cNvGraphicFramePr>
          <p:nvPr/>
        </p:nvGraphicFramePr>
        <p:xfrm>
          <a:off x="4480560" y="1600200"/>
          <a:ext cx="4206240" cy="3749039"/>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p:cNvSpPr txBox="1"/>
          <p:nvPr/>
        </p:nvSpPr>
        <p:spPr>
          <a:xfrm>
            <a:off x="8915400" y="1691640"/>
            <a:ext cx="2606040" cy="3657600"/>
          </a:xfrm>
          <a:prstGeom prst="rect">
            <a:avLst/>
          </a:prstGeom>
          <a:noFill/>
        </p:spPr>
        <p:txBody>
          <a:bodyPr wrap="square" lIns="0" tIns="0" rIns="0" bIns="0">
            <a:spAutoFit/>
          </a:bodyPr>
          <a:lstStyle/>
          <a:p>
            <a:pPr marL="228600" indent="-228600">
              <a:spcAft>
                <a:spcPts val="800"/>
              </a:spcAft>
              <a:buClr>
                <a:srgbClr val="1B8FE0"/>
              </a:buClr>
              <a:buFont typeface="Arial"/>
              <a:buChar char="•"/>
            </a:pPr>
            <a:r>
              <a:rPr sz="1300" b="0">
                <a:solidFill>
                  <a:srgbClr val="222433"/>
                </a:solidFill>
                <a:latin typeface="Calibri"/>
              </a:rPr>
              <a:t>ARI = 1 means identical grouping; 0 means chance</a:t>
            </a:r>
          </a:p>
          <a:p>
            <a:pPr marL="228600" indent="-228600">
              <a:spcAft>
                <a:spcPts val="800"/>
              </a:spcAft>
              <a:buClr>
                <a:srgbClr val="1B8FE0"/>
              </a:buClr>
              <a:buFont typeface="Arial"/>
              <a:buChar char="•"/>
            </a:pPr>
            <a:r>
              <a:rPr sz="1300" b="0">
                <a:solidFill>
                  <a:srgbClr val="222433"/>
                </a:solidFill>
                <a:latin typeface="Calibri"/>
              </a:rPr>
              <a:t>Seed test uses a single initialisation, a harder test than production (n_init = 10)</a:t>
            </a:r>
          </a:p>
          <a:p>
            <a:pPr marL="228600" indent="-228600">
              <a:spcAft>
                <a:spcPts val="800"/>
              </a:spcAft>
              <a:buClr>
                <a:srgbClr val="1B8FE0"/>
              </a:buClr>
              <a:buFont typeface="Arial"/>
              <a:buChar char="•"/>
            </a:pPr>
            <a:r>
              <a:rPr sz="1300" b="0">
                <a:solidFill>
                  <a:srgbClr val="222433"/>
                </a:solidFill>
                <a:latin typeface="Calibri"/>
              </a:rPr>
              <a:t>Bootstrap compares labels on the sampled customers only</a:t>
            </a:r>
          </a:p>
          <a:p>
            <a:pPr marL="228600" indent="-228600">
              <a:spcAft>
                <a:spcPts val="800"/>
              </a:spcAft>
              <a:buClr>
                <a:srgbClr val="1B8FE0"/>
              </a:buClr>
              <a:buFont typeface="Arial"/>
              <a:buChar char="•"/>
            </a:pPr>
            <a:r>
              <a:rPr sz="1300" b="0">
                <a:solidFill>
                  <a:srgbClr val="222433"/>
                </a:solidFill>
                <a:latin typeface="Calibri"/>
              </a:rPr>
              <a:t>Worst case across 40 refits: 0.977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2600"/>
              <a:t>Why only RFM, not product or country features?</a:t>
            </a:r>
          </a:p>
        </p:txBody>
      </p:sp>
      <p:sp>
        <p:nvSpPr>
          <p:cNvPr id="4" name="TextBox 3"/>
          <p:cNvSpPr txBox="1"/>
          <p:nvPr/>
        </p:nvSpPr>
        <p:spPr>
          <a:xfrm>
            <a:off x="868680" y="1371600"/>
            <a:ext cx="2286000" cy="365760"/>
          </a:xfrm>
          <a:prstGeom prst="rect">
            <a:avLst/>
          </a:prstGeom>
          <a:noFill/>
        </p:spPr>
        <p:txBody>
          <a:bodyPr wrap="square" lIns="0" tIns="0" rIns="0" bIns="0" anchor="t">
            <a:spAutoFit/>
          </a:bodyPr>
          <a:lstStyle/>
          <a:p>
            <a:pPr algn="l"/>
            <a:r>
              <a:rPr sz="1400" b="1" i="0">
                <a:solidFill>
                  <a:srgbClr val="B9C2E6"/>
                </a:solidFill>
                <a:latin typeface="Calibri"/>
              </a:rPr>
              <a:t>FAQ 9</a:t>
            </a:r>
          </a:p>
        </p:txBody>
      </p:sp>
      <p:sp>
        <p:nvSpPr>
          <p:cNvPr id="5" name="TextBox 4">
            <a:hlinkClick r:id="rId3" action="ppaction://hlinksldjump"/>
          </p:cNvPr>
          <p:cNvSpPr txBox="1"/>
          <p:nvPr/>
        </p:nvSpPr>
        <p:spPr>
          <a:xfrm>
            <a:off x="868680" y="4892040"/>
            <a:ext cx="2194560" cy="320040"/>
          </a:xfrm>
          <a:prstGeom prst="rect">
            <a:avLst/>
          </a:prstGeom>
          <a:noFill/>
        </p:spPr>
        <p:txBody>
          <a:bodyPr wrap="square" lIns="0" tIns="0" r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tIns="0" rIns="0" bIns="0" anchor="t">
            <a:spAutoFit/>
          </a:bodyPr>
          <a:lstStyle/>
          <a:p>
            <a:pPr algn="l"/>
            <a:r>
              <a:rPr sz="1600" b="1" i="0">
                <a:solidFill>
                  <a:srgbClr val="1D1B58"/>
                </a:solidFill>
                <a:latin typeface="Calibri"/>
              </a:rPr>
              <a:t>RFM is what the brief asked us to analyse, it exists for every customer, and it stays explainable to marketers.</a:t>
            </a:r>
          </a:p>
        </p:txBody>
      </p:sp>
      <p:sp>
        <p:nvSpPr>
          <p:cNvPr id="7" name="TextBox 6"/>
          <p:cNvSpPr txBox="1"/>
          <p:nvPr/>
        </p:nvSpPr>
        <p:spPr>
          <a:xfrm>
            <a:off x="4480560" y="1645920"/>
            <a:ext cx="3840480" cy="320040"/>
          </a:xfrm>
          <a:prstGeom prst="rect">
            <a:avLst/>
          </a:prstGeom>
          <a:noFill/>
        </p:spPr>
        <p:txBody>
          <a:bodyPr wrap="square" lIns="0" tIns="0" rIns="0" bIns="0" anchor="t">
            <a:spAutoFit/>
          </a:bodyPr>
          <a:lstStyle/>
          <a:p>
            <a:pPr algn="l"/>
            <a:r>
              <a:rPr sz="1300" b="1" i="0">
                <a:solidFill>
                  <a:srgbClr val="1D1B58"/>
                </a:solidFill>
                <a:latin typeface="Calibri"/>
              </a:rPr>
              <a:t>Pearson correlation (raw RFM)</a:t>
            </a:r>
          </a:p>
        </p:txBody>
      </p:sp>
      <p:sp>
        <p:nvSpPr>
          <p:cNvPr id="8" name="TextBox 7"/>
          <p:cNvSpPr txBox="1"/>
          <p:nvPr/>
        </p:nvSpPr>
        <p:spPr>
          <a:xfrm>
            <a:off x="4434840" y="2011680"/>
            <a:ext cx="914400" cy="914400"/>
          </a:xfrm>
          <a:prstGeom prst="rect">
            <a:avLst/>
          </a:prstGeom>
          <a:noFill/>
        </p:spPr>
        <p:txBody>
          <a:bodyPr wrap="square" lIns="0" tIns="0" rIns="0" bIns="0" anchor="ctr">
            <a:spAutoFit/>
          </a:bodyPr>
          <a:lstStyle/>
          <a:p>
            <a:pPr algn="r"/>
            <a:r>
              <a:rPr sz="1100" b="0" i="0">
                <a:solidFill>
                  <a:srgbClr val="5B6075"/>
                </a:solidFill>
                <a:latin typeface="Calibri"/>
              </a:rPr>
              <a:t>Recency</a:t>
            </a:r>
          </a:p>
        </p:txBody>
      </p:sp>
      <p:sp>
        <p:nvSpPr>
          <p:cNvPr id="9" name="TextBox 8"/>
          <p:cNvSpPr txBox="1"/>
          <p:nvPr/>
        </p:nvSpPr>
        <p:spPr>
          <a:xfrm>
            <a:off x="5394960" y="4800600"/>
            <a:ext cx="914400" cy="274320"/>
          </a:xfrm>
          <a:prstGeom prst="rect">
            <a:avLst/>
          </a:prstGeom>
          <a:noFill/>
        </p:spPr>
        <p:txBody>
          <a:bodyPr wrap="square" lIns="0" tIns="0" rIns="0" bIns="0" anchor="t">
            <a:spAutoFit/>
          </a:bodyPr>
          <a:lstStyle/>
          <a:p>
            <a:pPr algn="ctr"/>
            <a:r>
              <a:rPr sz="1100" b="0" i="0">
                <a:solidFill>
                  <a:srgbClr val="5B6075"/>
                </a:solidFill>
                <a:latin typeface="Calibri"/>
              </a:rPr>
              <a:t>Recency</a:t>
            </a:r>
          </a:p>
        </p:txBody>
      </p:sp>
      <p:sp>
        <p:nvSpPr>
          <p:cNvPr id="10" name="Rounded Rectangle 9"/>
          <p:cNvSpPr/>
          <p:nvPr/>
        </p:nvSpPr>
        <p:spPr>
          <a:xfrm>
            <a:off x="5422392" y="2039112"/>
            <a:ext cx="859536" cy="859536"/>
          </a:xfrm>
          <a:prstGeom prst="roundRect">
            <a:avLst>
              <a:gd name="adj" fmla="val 5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394960" y="2011680"/>
            <a:ext cx="914400" cy="914400"/>
          </a:xfrm>
          <a:prstGeom prst="rect">
            <a:avLst/>
          </a:prstGeom>
          <a:noFill/>
        </p:spPr>
        <p:txBody>
          <a:bodyPr wrap="square" lIns="0" tIns="0" rIns="0" bIns="0" anchor="ctr">
            <a:spAutoFit/>
          </a:bodyPr>
          <a:lstStyle/>
          <a:p>
            <a:pPr algn="ctr"/>
            <a:r>
              <a:rPr sz="1400" b="1" i="0">
                <a:solidFill>
                  <a:srgbClr val="FFFFFF"/>
                </a:solidFill>
                <a:latin typeface="Calibri"/>
              </a:rPr>
              <a:t>1.00</a:t>
            </a:r>
          </a:p>
        </p:txBody>
      </p:sp>
      <p:sp>
        <p:nvSpPr>
          <p:cNvPr id="12" name="Rounded Rectangle 11"/>
          <p:cNvSpPr/>
          <p:nvPr/>
        </p:nvSpPr>
        <p:spPr>
          <a:xfrm>
            <a:off x="6336792" y="2039112"/>
            <a:ext cx="859536" cy="859536"/>
          </a:xfrm>
          <a:prstGeom prst="roundRect">
            <a:avLst>
              <a:gd name="adj" fmla="val 5000"/>
            </a:avLst>
          </a:prstGeom>
          <a:solidFill>
            <a:srgbClr val="7FB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309360" y="2011680"/>
            <a:ext cx="914400" cy="914400"/>
          </a:xfrm>
          <a:prstGeom prst="rect">
            <a:avLst/>
          </a:prstGeom>
          <a:noFill/>
        </p:spPr>
        <p:txBody>
          <a:bodyPr wrap="square" lIns="0" tIns="0" rIns="0" bIns="0" anchor="ctr">
            <a:spAutoFit/>
          </a:bodyPr>
          <a:lstStyle/>
          <a:p>
            <a:pPr algn="ctr"/>
            <a:r>
              <a:rPr sz="1400" b="1" i="0">
                <a:solidFill>
                  <a:srgbClr val="1D1B58"/>
                </a:solidFill>
                <a:latin typeface="Calibri"/>
              </a:rPr>
              <a:t>-0.26</a:t>
            </a:r>
          </a:p>
        </p:txBody>
      </p:sp>
      <p:sp>
        <p:nvSpPr>
          <p:cNvPr id="14" name="Rounded Rectangle 13"/>
          <p:cNvSpPr/>
          <p:nvPr/>
        </p:nvSpPr>
        <p:spPr>
          <a:xfrm>
            <a:off x="7251192" y="2039112"/>
            <a:ext cx="859536" cy="859536"/>
          </a:xfrm>
          <a:prstGeom prst="roundRect">
            <a:avLst>
              <a:gd name="adj" fmla="val 5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223760" y="2011680"/>
            <a:ext cx="914400" cy="914400"/>
          </a:xfrm>
          <a:prstGeom prst="rect">
            <a:avLst/>
          </a:prstGeom>
          <a:noFill/>
        </p:spPr>
        <p:txBody>
          <a:bodyPr wrap="square" lIns="0" tIns="0" rIns="0" bIns="0" anchor="ctr">
            <a:spAutoFit/>
          </a:bodyPr>
          <a:lstStyle/>
          <a:p>
            <a:pPr algn="ctr"/>
            <a:r>
              <a:rPr sz="1400" b="1" i="0">
                <a:solidFill>
                  <a:srgbClr val="1D1B58"/>
                </a:solidFill>
                <a:latin typeface="Calibri"/>
              </a:rPr>
              <a:t>-0.12</a:t>
            </a:r>
          </a:p>
        </p:txBody>
      </p:sp>
      <p:sp>
        <p:nvSpPr>
          <p:cNvPr id="16" name="TextBox 15"/>
          <p:cNvSpPr txBox="1"/>
          <p:nvPr/>
        </p:nvSpPr>
        <p:spPr>
          <a:xfrm>
            <a:off x="4434840" y="2926080"/>
            <a:ext cx="914400" cy="914400"/>
          </a:xfrm>
          <a:prstGeom prst="rect">
            <a:avLst/>
          </a:prstGeom>
          <a:noFill/>
        </p:spPr>
        <p:txBody>
          <a:bodyPr wrap="square" lIns="0" tIns="0" rIns="0" bIns="0" anchor="ctr">
            <a:spAutoFit/>
          </a:bodyPr>
          <a:lstStyle/>
          <a:p>
            <a:pPr algn="r"/>
            <a:r>
              <a:rPr sz="1100" b="0" i="0">
                <a:solidFill>
                  <a:srgbClr val="5B6075"/>
                </a:solidFill>
                <a:latin typeface="Calibri"/>
              </a:rPr>
              <a:t>Frequency</a:t>
            </a:r>
          </a:p>
        </p:txBody>
      </p:sp>
      <p:sp>
        <p:nvSpPr>
          <p:cNvPr id="17" name="TextBox 16"/>
          <p:cNvSpPr txBox="1"/>
          <p:nvPr/>
        </p:nvSpPr>
        <p:spPr>
          <a:xfrm>
            <a:off x="6309360" y="4800600"/>
            <a:ext cx="914400" cy="274320"/>
          </a:xfrm>
          <a:prstGeom prst="rect">
            <a:avLst/>
          </a:prstGeom>
          <a:noFill/>
        </p:spPr>
        <p:txBody>
          <a:bodyPr wrap="square" lIns="0" tIns="0" rIns="0" bIns="0" anchor="t">
            <a:spAutoFit/>
          </a:bodyPr>
          <a:lstStyle/>
          <a:p>
            <a:pPr algn="ctr"/>
            <a:r>
              <a:rPr sz="1100" b="0" i="0">
                <a:solidFill>
                  <a:srgbClr val="5B6075"/>
                </a:solidFill>
                <a:latin typeface="Calibri"/>
              </a:rPr>
              <a:t>Frequency</a:t>
            </a:r>
          </a:p>
        </p:txBody>
      </p:sp>
      <p:sp>
        <p:nvSpPr>
          <p:cNvPr id="18" name="Rounded Rectangle 17"/>
          <p:cNvSpPr/>
          <p:nvPr/>
        </p:nvSpPr>
        <p:spPr>
          <a:xfrm>
            <a:off x="5422392" y="2953512"/>
            <a:ext cx="859536" cy="859536"/>
          </a:xfrm>
          <a:prstGeom prst="roundRect">
            <a:avLst>
              <a:gd name="adj" fmla="val 5000"/>
            </a:avLst>
          </a:prstGeom>
          <a:solidFill>
            <a:srgbClr val="7FB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394960" y="2926080"/>
            <a:ext cx="914400" cy="914400"/>
          </a:xfrm>
          <a:prstGeom prst="rect">
            <a:avLst/>
          </a:prstGeom>
          <a:noFill/>
        </p:spPr>
        <p:txBody>
          <a:bodyPr wrap="square" lIns="0" tIns="0" rIns="0" bIns="0" anchor="ctr">
            <a:spAutoFit/>
          </a:bodyPr>
          <a:lstStyle/>
          <a:p>
            <a:pPr algn="ctr"/>
            <a:r>
              <a:rPr sz="1400" b="1" i="0">
                <a:solidFill>
                  <a:srgbClr val="1D1B58"/>
                </a:solidFill>
                <a:latin typeface="Calibri"/>
              </a:rPr>
              <a:t>-0.26</a:t>
            </a:r>
          </a:p>
        </p:txBody>
      </p:sp>
      <p:sp>
        <p:nvSpPr>
          <p:cNvPr id="20" name="Rounded Rectangle 19"/>
          <p:cNvSpPr/>
          <p:nvPr/>
        </p:nvSpPr>
        <p:spPr>
          <a:xfrm>
            <a:off x="6336792" y="2953512"/>
            <a:ext cx="859536" cy="859536"/>
          </a:xfrm>
          <a:prstGeom prst="roundRect">
            <a:avLst>
              <a:gd name="adj" fmla="val 5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309360" y="2926080"/>
            <a:ext cx="914400" cy="914400"/>
          </a:xfrm>
          <a:prstGeom prst="rect">
            <a:avLst/>
          </a:prstGeom>
          <a:noFill/>
        </p:spPr>
        <p:txBody>
          <a:bodyPr wrap="square" lIns="0" tIns="0" rIns="0" bIns="0" anchor="ctr">
            <a:spAutoFit/>
          </a:bodyPr>
          <a:lstStyle/>
          <a:p>
            <a:pPr algn="ctr"/>
            <a:r>
              <a:rPr sz="1400" b="1" i="0">
                <a:solidFill>
                  <a:srgbClr val="FFFFFF"/>
                </a:solidFill>
                <a:latin typeface="Calibri"/>
              </a:rPr>
              <a:t>1.00</a:t>
            </a:r>
          </a:p>
        </p:txBody>
      </p:sp>
      <p:sp>
        <p:nvSpPr>
          <p:cNvPr id="22" name="Rounded Rectangle 21"/>
          <p:cNvSpPr/>
          <p:nvPr/>
        </p:nvSpPr>
        <p:spPr>
          <a:xfrm>
            <a:off x="7251192" y="2953512"/>
            <a:ext cx="859536" cy="859536"/>
          </a:xfrm>
          <a:prstGeom prst="roundRect">
            <a:avLst>
              <a:gd name="adj" fmla="val 5000"/>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223760" y="2926080"/>
            <a:ext cx="914400" cy="914400"/>
          </a:xfrm>
          <a:prstGeom prst="rect">
            <a:avLst/>
          </a:prstGeom>
          <a:noFill/>
        </p:spPr>
        <p:txBody>
          <a:bodyPr wrap="square" lIns="0" tIns="0" rIns="0" bIns="0" anchor="ctr">
            <a:spAutoFit/>
          </a:bodyPr>
          <a:lstStyle/>
          <a:p>
            <a:pPr algn="ctr"/>
            <a:r>
              <a:rPr sz="1400" b="1" i="0">
                <a:solidFill>
                  <a:srgbClr val="FFFFFF"/>
                </a:solidFill>
                <a:latin typeface="Calibri"/>
              </a:rPr>
              <a:t>0.53</a:t>
            </a:r>
          </a:p>
        </p:txBody>
      </p:sp>
      <p:sp>
        <p:nvSpPr>
          <p:cNvPr id="24" name="TextBox 23"/>
          <p:cNvSpPr txBox="1"/>
          <p:nvPr/>
        </p:nvSpPr>
        <p:spPr>
          <a:xfrm>
            <a:off x="4434840" y="3840480"/>
            <a:ext cx="914400" cy="914400"/>
          </a:xfrm>
          <a:prstGeom prst="rect">
            <a:avLst/>
          </a:prstGeom>
          <a:noFill/>
        </p:spPr>
        <p:txBody>
          <a:bodyPr wrap="square" lIns="0" tIns="0" rIns="0" bIns="0" anchor="ctr">
            <a:spAutoFit/>
          </a:bodyPr>
          <a:lstStyle/>
          <a:p>
            <a:pPr algn="r"/>
            <a:r>
              <a:rPr sz="1100" b="0" i="0">
                <a:solidFill>
                  <a:srgbClr val="5B6075"/>
                </a:solidFill>
                <a:latin typeface="Calibri"/>
              </a:rPr>
              <a:t>Monetary</a:t>
            </a:r>
          </a:p>
        </p:txBody>
      </p:sp>
      <p:sp>
        <p:nvSpPr>
          <p:cNvPr id="25" name="TextBox 24"/>
          <p:cNvSpPr txBox="1"/>
          <p:nvPr/>
        </p:nvSpPr>
        <p:spPr>
          <a:xfrm>
            <a:off x="7223760" y="4800600"/>
            <a:ext cx="914400" cy="274320"/>
          </a:xfrm>
          <a:prstGeom prst="rect">
            <a:avLst/>
          </a:prstGeom>
          <a:noFill/>
        </p:spPr>
        <p:txBody>
          <a:bodyPr wrap="square" lIns="0" tIns="0" rIns="0" bIns="0" anchor="t">
            <a:spAutoFit/>
          </a:bodyPr>
          <a:lstStyle/>
          <a:p>
            <a:pPr algn="ctr"/>
            <a:r>
              <a:rPr sz="1100" b="0" i="0">
                <a:solidFill>
                  <a:srgbClr val="5B6075"/>
                </a:solidFill>
                <a:latin typeface="Calibri"/>
              </a:rPr>
              <a:t>Monetary</a:t>
            </a:r>
          </a:p>
        </p:txBody>
      </p:sp>
      <p:sp>
        <p:nvSpPr>
          <p:cNvPr id="26" name="Rounded Rectangle 25"/>
          <p:cNvSpPr/>
          <p:nvPr/>
        </p:nvSpPr>
        <p:spPr>
          <a:xfrm>
            <a:off x="5422392" y="3867912"/>
            <a:ext cx="859536" cy="859536"/>
          </a:xfrm>
          <a:prstGeom prst="roundRect">
            <a:avLst>
              <a:gd name="adj" fmla="val 5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394960" y="3840480"/>
            <a:ext cx="914400" cy="914400"/>
          </a:xfrm>
          <a:prstGeom prst="rect">
            <a:avLst/>
          </a:prstGeom>
          <a:noFill/>
        </p:spPr>
        <p:txBody>
          <a:bodyPr wrap="square" lIns="0" tIns="0" rIns="0" bIns="0" anchor="ctr">
            <a:spAutoFit/>
          </a:bodyPr>
          <a:lstStyle/>
          <a:p>
            <a:pPr algn="ctr"/>
            <a:r>
              <a:rPr sz="1400" b="1" i="0">
                <a:solidFill>
                  <a:srgbClr val="1D1B58"/>
                </a:solidFill>
                <a:latin typeface="Calibri"/>
              </a:rPr>
              <a:t>-0.12</a:t>
            </a:r>
          </a:p>
        </p:txBody>
      </p:sp>
      <p:sp>
        <p:nvSpPr>
          <p:cNvPr id="28" name="Rounded Rectangle 27"/>
          <p:cNvSpPr/>
          <p:nvPr/>
        </p:nvSpPr>
        <p:spPr>
          <a:xfrm>
            <a:off x="6336792" y="3867912"/>
            <a:ext cx="859536" cy="859536"/>
          </a:xfrm>
          <a:prstGeom prst="roundRect">
            <a:avLst>
              <a:gd name="adj" fmla="val 5000"/>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309360" y="3840480"/>
            <a:ext cx="914400" cy="914400"/>
          </a:xfrm>
          <a:prstGeom prst="rect">
            <a:avLst/>
          </a:prstGeom>
          <a:noFill/>
        </p:spPr>
        <p:txBody>
          <a:bodyPr wrap="square" lIns="0" tIns="0" rIns="0" bIns="0" anchor="ctr">
            <a:spAutoFit/>
          </a:bodyPr>
          <a:lstStyle/>
          <a:p>
            <a:pPr algn="ctr"/>
            <a:r>
              <a:rPr sz="1400" b="1" i="0">
                <a:solidFill>
                  <a:srgbClr val="FFFFFF"/>
                </a:solidFill>
                <a:latin typeface="Calibri"/>
              </a:rPr>
              <a:t>0.53</a:t>
            </a:r>
          </a:p>
        </p:txBody>
      </p:sp>
      <p:sp>
        <p:nvSpPr>
          <p:cNvPr id="30" name="Rounded Rectangle 29"/>
          <p:cNvSpPr/>
          <p:nvPr/>
        </p:nvSpPr>
        <p:spPr>
          <a:xfrm>
            <a:off x="7251192" y="3867912"/>
            <a:ext cx="859536" cy="859536"/>
          </a:xfrm>
          <a:prstGeom prst="roundRect">
            <a:avLst>
              <a:gd name="adj" fmla="val 5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223760" y="3840480"/>
            <a:ext cx="914400" cy="914400"/>
          </a:xfrm>
          <a:prstGeom prst="rect">
            <a:avLst/>
          </a:prstGeom>
          <a:noFill/>
        </p:spPr>
        <p:txBody>
          <a:bodyPr wrap="square" lIns="0" tIns="0" rIns="0" bIns="0" anchor="ctr">
            <a:spAutoFit/>
          </a:bodyPr>
          <a:lstStyle/>
          <a:p>
            <a:pPr algn="ctr"/>
            <a:r>
              <a:rPr sz="1400" b="1" i="0">
                <a:solidFill>
                  <a:srgbClr val="FFFFFF"/>
                </a:solidFill>
                <a:latin typeface="Calibri"/>
              </a:rPr>
              <a:t>1.00</a:t>
            </a:r>
          </a:p>
        </p:txBody>
      </p:sp>
      <p:sp>
        <p:nvSpPr>
          <p:cNvPr id="32" name="TextBox 31"/>
          <p:cNvSpPr txBox="1"/>
          <p:nvPr/>
        </p:nvSpPr>
        <p:spPr>
          <a:xfrm>
            <a:off x="8549640" y="1691640"/>
            <a:ext cx="2971800" cy="3749039"/>
          </a:xfrm>
          <a:prstGeom prst="rect">
            <a:avLst/>
          </a:prstGeom>
          <a:noFill/>
        </p:spPr>
        <p:txBody>
          <a:bodyPr wrap="square" lIns="0" tIns="0" rIns="0" bIns="0">
            <a:spAutoFit/>
          </a:bodyPr>
          <a:lstStyle/>
          <a:p>
            <a:pPr marL="228600" indent="-228600">
              <a:spcAft>
                <a:spcPts val="800"/>
              </a:spcAft>
              <a:buClr>
                <a:srgbClr val="1B8FE0"/>
              </a:buClr>
              <a:buFont typeface="Arial"/>
              <a:buChar char="•"/>
            </a:pPr>
            <a:r>
              <a:rPr sz="1300" b="0">
                <a:solidFill>
                  <a:srgbClr val="222433"/>
                </a:solidFill>
                <a:latin typeface="Calibri"/>
              </a:rPr>
              <a:t>F and M overlap (0.53) but aren't redundant; R adds an independent signal</a:t>
            </a:r>
          </a:p>
          <a:p>
            <a:pPr marL="228600" indent="-228600">
              <a:spcAft>
                <a:spcPts val="800"/>
              </a:spcAft>
              <a:buClr>
                <a:srgbClr val="1B8FE0"/>
              </a:buClr>
              <a:buFont typeface="Arial"/>
              <a:buChar char="•"/>
            </a:pPr>
            <a:r>
              <a:rPr sz="1300" b="0">
                <a:solidFill>
                  <a:srgbClr val="222433"/>
                </a:solidFill>
                <a:latin typeface="Calibri"/>
              </a:rPr>
              <a:t>More features make distances less meaningful and segments harder to name</a:t>
            </a:r>
          </a:p>
          <a:p>
            <a:pPr marL="228600" indent="-228600">
              <a:spcAft>
                <a:spcPts val="800"/>
              </a:spcAft>
              <a:buClr>
                <a:srgbClr val="1B8FE0"/>
              </a:buClr>
              <a:buFont typeface="Arial"/>
              <a:buChar char="•"/>
            </a:pPr>
            <a:r>
              <a:rPr sz="1300" b="0">
                <a:solidFill>
                  <a:srgbClr val="222433"/>
                </a:solidFill>
                <a:latin typeface="Calibri"/>
              </a:rPr>
              <a:t>Country is ~89% UK: little variation to segment on</a:t>
            </a:r>
          </a:p>
          <a:p>
            <a:pPr marL="228600" indent="-228600">
              <a:spcAft>
                <a:spcPts val="800"/>
              </a:spcAft>
              <a:buClr>
                <a:srgbClr val="1B8FE0"/>
              </a:buClr>
              <a:buFont typeface="Arial"/>
              <a:buChar char="•"/>
            </a:pPr>
            <a:r>
              <a:rPr sz="1300" b="0">
                <a:solidFill>
                  <a:srgbClr val="222433"/>
                </a:solidFill>
                <a:latin typeface="Calibri"/>
              </a:rPr>
              <a:t>Next: category mix, basket size, tenure, return rate, possibly with PCA</a:t>
            </a:r>
          </a:p>
        </p:txBody>
      </p:sp>
    </p:spTree>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7409</TotalTime>
  <Words>5781</Words>
  <Application>Microsoft Office PowerPoint</Application>
  <PresentationFormat>Widescreen</PresentationFormat>
  <Paragraphs>609</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BIA Template</vt:lpstr>
      <vt:lpstr>PowerPoint Presentation</vt:lpstr>
      <vt:lpstr>Agenda</vt:lpstr>
      <vt:lpstr>The business problem</vt:lpstr>
      <vt:lpstr>Data: one year of UK online retail transactions</vt:lpstr>
      <vt:lpstr>What the transactions tell us</vt:lpstr>
      <vt:lpstr>RFM feature engineering</vt:lpstr>
      <vt:lpstr>Choosing k: the silhouette favours two segments</vt:lpstr>
      <vt:lpstr>Comparing algorithms: K-means separates best</vt:lpstr>
      <vt:lpstr>Two segments, very unequal value</vt:lpstr>
      <vt:lpstr>What drives the segments? Frequency first</vt:lpstr>
      <vt:lpstr>Scoring new customers into segments</vt:lpstr>
      <vt:lpstr>Recommendations: protect the 39% first</vt:lpstr>
      <vt:lpstr>Interactive dashboard deliverable</vt:lpstr>
      <vt:lpstr>Limitations and next steps</vt:lpstr>
      <vt:lpstr> Questions ?</vt:lpstr>
      <vt:lpstr>PowerPoint Presentation</vt:lpstr>
      <vt:lpstr>Appendix: anticipated questions</vt:lpstr>
      <vt:lpstr>FAQ index</vt:lpstr>
      <vt:lpstr>Why log-transform and then standardise RFM?</vt:lpstr>
      <vt:lpstr>Why only two segments?</vt:lpstr>
      <vt:lpstr>What would k = 4 look like?</vt:lpstr>
      <vt:lpstr>Why did DBSCAN and hierarchical do worse?</vt:lpstr>
      <vt:lpstr>What did cleaning remove, step by step?</vt:lpstr>
      <vt:lpstr>Isn't 99% accuracy a sign of leakage?</vt:lpstr>
      <vt:lpstr>How would you build a true future-purchase model?</vt:lpstr>
      <vt:lpstr>How stable are the clusters?</vt:lpstr>
      <vt:lpstr>Why only RFM, not product or country features?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Gopa Trivedi</cp:lastModifiedBy>
  <cp:revision>2255</cp:revision>
  <dcterms:created xsi:type="dcterms:W3CDTF">2020-12-23T13:36:00Z</dcterms:created>
  <dcterms:modified xsi:type="dcterms:W3CDTF">2026-09-29T11:25:51Z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